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3" r:id="rId1"/>
  </p:sldMasterIdLst>
  <p:notesMasterIdLst>
    <p:notesMasterId r:id="rId4"/>
  </p:notesMasterIdLst>
  <p:sldIdLst>
    <p:sldId id="262" r:id="rId2"/>
    <p:sldId id="299" r:id="rId3"/>
  </p:sldIdLst>
  <p:sldSz cx="9144000" cy="5143500" type="screen16x9"/>
  <p:notesSz cx="9945688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620" userDrawn="1">
          <p15:clr>
            <a:srgbClr val="A4A3A4"/>
          </p15:clr>
        </p15:guide>
        <p15:guide id="6" orient="horz" pos="574" userDrawn="1">
          <p15:clr>
            <a:srgbClr val="A4A3A4"/>
          </p15:clr>
        </p15:guide>
        <p15:guide id="7" orient="horz" pos="2977" userDrawn="1">
          <p15:clr>
            <a:srgbClr val="A4A3A4"/>
          </p15:clr>
        </p15:guide>
        <p15:guide id="8" pos="2881" userDrawn="1">
          <p15:clr>
            <a:srgbClr val="A4A3A4"/>
          </p15:clr>
        </p15:guide>
        <p15:guide id="9" pos="373" userDrawn="1">
          <p15:clr>
            <a:srgbClr val="A4A3A4"/>
          </p15:clr>
        </p15:guide>
        <p15:guide id="10" pos="53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E2CFF1"/>
    <a:srgbClr val="CC00FF"/>
    <a:srgbClr val="006E99"/>
    <a:srgbClr val="009BD6"/>
    <a:srgbClr val="1E5691"/>
    <a:srgbClr val="DDF6FF"/>
    <a:srgbClr val="F58400"/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9" autoAdjust="0"/>
    <p:restoredTop sz="97430" autoAdjust="0"/>
  </p:normalViewPr>
  <p:slideViewPr>
    <p:cSldViewPr snapToGrid="0">
      <p:cViewPr varScale="1">
        <p:scale>
          <a:sx n="139" d="100"/>
          <a:sy n="139" d="100"/>
        </p:scale>
        <p:origin x="1128" y="120"/>
      </p:cViewPr>
      <p:guideLst>
        <p:guide orient="horz" pos="1620"/>
        <p:guide orient="horz" pos="574"/>
        <p:guide orient="horz" pos="2977"/>
        <p:guide pos="2881"/>
        <p:guide pos="373"/>
        <p:guide pos="538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4309798" cy="343722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33596" y="1"/>
            <a:ext cx="4309798" cy="343722"/>
          </a:xfrm>
          <a:prstGeom prst="rect">
            <a:avLst/>
          </a:prstGeom>
        </p:spPr>
        <p:txBody>
          <a:bodyPr vert="horz" lIns="91405" tIns="45703" rIns="91405" bIns="45703" rtlCol="0"/>
          <a:lstStyle>
            <a:lvl1pPr algn="r">
              <a:defRPr sz="1300"/>
            </a:lvl1pPr>
          </a:lstStyle>
          <a:p>
            <a:fld id="{F929F65E-AEE7-45C5-814B-4468CAF1E537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55663"/>
            <a:ext cx="4116388" cy="2316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5" tIns="45703" rIns="91405" bIns="457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4569" y="3300378"/>
            <a:ext cx="7956550" cy="2700509"/>
          </a:xfrm>
          <a:prstGeom prst="rect">
            <a:avLst/>
          </a:prstGeom>
        </p:spPr>
        <p:txBody>
          <a:bodyPr vert="horz" lIns="91405" tIns="45703" rIns="91405" bIns="457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4" y="6514280"/>
            <a:ext cx="4309798" cy="343722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33596" y="6514280"/>
            <a:ext cx="4309798" cy="343722"/>
          </a:xfrm>
          <a:prstGeom prst="rect">
            <a:avLst/>
          </a:prstGeom>
        </p:spPr>
        <p:txBody>
          <a:bodyPr vert="horz" lIns="91405" tIns="45703" rIns="91405" bIns="45703" rtlCol="0" anchor="b"/>
          <a:lstStyle>
            <a:lvl1pPr algn="r">
              <a:defRPr sz="1300"/>
            </a:lvl1pPr>
          </a:lstStyle>
          <a:p>
            <a:fld id="{6A73BE5E-839E-45D1-B8A5-13B23A945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21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74529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1pPr>
    <a:lvl2pPr marL="237265" algn="l" defTabSz="474529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2pPr>
    <a:lvl3pPr marL="474529" algn="l" defTabSz="474529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3pPr>
    <a:lvl4pPr marL="711794" algn="l" defTabSz="474529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4pPr>
    <a:lvl5pPr marL="949055" algn="l" defTabSz="474529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5pPr>
    <a:lvl6pPr marL="1186320" algn="l" defTabSz="474529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6pPr>
    <a:lvl7pPr marL="1423581" algn="l" defTabSz="474529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7pPr>
    <a:lvl8pPr marL="1660846" algn="l" defTabSz="474529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8pPr>
    <a:lvl9pPr marL="1898111" algn="l" defTabSz="474529" rtl="0" eaLnBrk="1" latinLnBrk="1" hangingPunct="1">
      <a:defRPr sz="62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85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91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3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276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399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326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87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87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73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977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F34B4-7175-41BD-B98B-2E7021201D7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749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4" y="1"/>
            <a:ext cx="9163052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84409" y="93624"/>
            <a:ext cx="8980815" cy="4938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76114" y="233109"/>
            <a:ext cx="1024896" cy="5801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A0C91-E2D0-A166-2BE8-3501CE9BABF8}"/>
              </a:ext>
            </a:extLst>
          </p:cNvPr>
          <p:cNvSpPr txBox="1"/>
          <p:nvPr userDrawn="1"/>
        </p:nvSpPr>
        <p:spPr>
          <a:xfrm>
            <a:off x="5678642" y="4622870"/>
            <a:ext cx="32223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ko-KR" altLang="en-US" sz="16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ABBF7A-4383-D72B-A05E-B56FEE94992E}"/>
              </a:ext>
            </a:extLst>
          </p:cNvPr>
          <p:cNvSpPr txBox="1"/>
          <p:nvPr userDrawn="1"/>
        </p:nvSpPr>
        <p:spPr>
          <a:xfrm>
            <a:off x="242989" y="276948"/>
            <a:ext cx="3244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 b="1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순천향대학교 천안병원 </a:t>
            </a:r>
            <a:r>
              <a:rPr lang="en-US" altLang="ko-KR" sz="1400" b="1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| </a:t>
            </a:r>
            <a:r>
              <a:rPr lang="ko-KR" altLang="en-US" sz="1400" b="1" spc="-1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진료지원간호팀 </a:t>
            </a:r>
          </a:p>
        </p:txBody>
      </p:sp>
    </p:spTree>
    <p:extLst>
      <p:ext uri="{BB962C8B-B14F-4D97-AF65-F5344CB8AC3E}">
        <p14:creationId xmlns:p14="http://schemas.microsoft.com/office/powerpoint/2010/main" val="1845514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4" y="1"/>
            <a:ext cx="9163052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128344" y="49983"/>
            <a:ext cx="8901360" cy="5041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85258" y="83528"/>
            <a:ext cx="915752" cy="21602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56578-F800-6850-5D6B-02ED7EBACB52}"/>
              </a:ext>
            </a:extLst>
          </p:cNvPr>
          <p:cNvSpPr txBox="1"/>
          <p:nvPr userDrawn="1"/>
        </p:nvSpPr>
        <p:spPr>
          <a:xfrm>
            <a:off x="8637797" y="4819776"/>
            <a:ext cx="263213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진료지원간호팀</a:t>
            </a:r>
            <a:endParaRPr lang="en-US" altLang="ko-KR" sz="100" b="1" dirty="0">
              <a:solidFill>
                <a:srgbClr val="4472C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</a:t>
            </a:r>
          </a:p>
        </p:txBody>
      </p:sp>
    </p:spTree>
    <p:extLst>
      <p:ext uri="{BB962C8B-B14F-4D97-AF65-F5344CB8AC3E}">
        <p14:creationId xmlns:p14="http://schemas.microsoft.com/office/powerpoint/2010/main" val="2737303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E62ED5C-FF61-A53B-4625-47CAC86DF448}"/>
              </a:ext>
            </a:extLst>
          </p:cNvPr>
          <p:cNvSpPr/>
          <p:nvPr userDrawn="1"/>
        </p:nvSpPr>
        <p:spPr>
          <a:xfrm>
            <a:off x="4" y="1"/>
            <a:ext cx="9163052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0793EE-E7D0-EF83-74D1-BEF25BB9304F}"/>
              </a:ext>
            </a:extLst>
          </p:cNvPr>
          <p:cNvSpPr/>
          <p:nvPr userDrawn="1"/>
        </p:nvSpPr>
        <p:spPr>
          <a:xfrm>
            <a:off x="128344" y="49983"/>
            <a:ext cx="8901360" cy="50414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9" dirty="0"/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C76C7A1-71AE-1C7D-2C36-7DEA1D47FF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80811" y="83528"/>
            <a:ext cx="915752" cy="21602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82B35-E786-6435-BBDD-C02B0C93E120}"/>
              </a:ext>
            </a:extLst>
          </p:cNvPr>
          <p:cNvSpPr txBox="1"/>
          <p:nvPr userDrawn="1"/>
        </p:nvSpPr>
        <p:spPr>
          <a:xfrm>
            <a:off x="8610547" y="4877769"/>
            <a:ext cx="290464" cy="107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이비인후과 </a:t>
            </a:r>
            <a:r>
              <a:rPr lang="en-US" altLang="ko-KR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131</a:t>
            </a:r>
            <a:r>
              <a:rPr lang="ko-KR" altLang="en-US" sz="100" b="1" dirty="0">
                <a:solidFill>
                  <a:srgbClr val="4472C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병동</a:t>
            </a:r>
          </a:p>
        </p:txBody>
      </p:sp>
    </p:spTree>
    <p:extLst>
      <p:ext uri="{BB962C8B-B14F-4D97-AF65-F5344CB8AC3E}">
        <p14:creationId xmlns:p14="http://schemas.microsoft.com/office/powerpoint/2010/main" val="501363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1" userDrawn="1">
          <p15:clr>
            <a:srgbClr val="FBAE40"/>
          </p15:clr>
        </p15:guide>
        <p15:guide id="3" orient="horz" pos="1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F34B4-7175-41BD-B98B-2E7021201D7D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5FCEB-A2D1-4D59-AF46-A7E67E2EF8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40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790" r:id="rId13"/>
    <p:sldLayoutId id="2147483789" r:id="rId14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4891-DB0B-9038-5B25-629A4C22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D2AB74B-0885-7248-82A8-738CC227DF1C}"/>
              </a:ext>
            </a:extLst>
          </p:cNvPr>
          <p:cNvSpPr/>
          <p:nvPr/>
        </p:nvSpPr>
        <p:spPr>
          <a:xfrm>
            <a:off x="3310380" y="985598"/>
            <a:ext cx="5218655" cy="746949"/>
          </a:xfrm>
          <a:prstGeom prst="roundRect">
            <a:avLst>
              <a:gd name="adj" fmla="val 11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073FA0F-66B5-6BAF-0E1F-7AC6E77B5191}"/>
              </a:ext>
            </a:extLst>
          </p:cNvPr>
          <p:cNvSpPr/>
          <p:nvPr/>
        </p:nvSpPr>
        <p:spPr>
          <a:xfrm>
            <a:off x="3589719" y="3467078"/>
            <a:ext cx="2321877" cy="461666"/>
          </a:xfrm>
          <a:prstGeom prst="roundRect">
            <a:avLst>
              <a:gd name="adj" fmla="val 8451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93AC22E-D82C-01DF-84E7-90AC9AD4AD3F}"/>
              </a:ext>
            </a:extLst>
          </p:cNvPr>
          <p:cNvSpPr/>
          <p:nvPr/>
        </p:nvSpPr>
        <p:spPr>
          <a:xfrm>
            <a:off x="648958" y="985598"/>
            <a:ext cx="2627429" cy="746949"/>
          </a:xfrm>
          <a:prstGeom prst="roundRect">
            <a:avLst>
              <a:gd name="adj" fmla="val 1106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CA475-D856-01FB-19C8-E100A19DE5EF}"/>
              </a:ext>
            </a:extLst>
          </p:cNvPr>
          <p:cNvSpPr txBox="1"/>
          <p:nvPr/>
        </p:nvSpPr>
        <p:spPr>
          <a:xfrm>
            <a:off x="3352643" y="1161183"/>
            <a:ext cx="5218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Case ID :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병실</a:t>
            </a: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등록번호</a:t>
            </a: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성함</a:t>
            </a: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교수</a:t>
            </a: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월일</a:t>
            </a: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</a:t>
            </a:r>
            <a:endParaRPr lang="en-US" altLang="ko-KR" sz="2000" b="1" dirty="0">
              <a:solidFill>
                <a:schemeClr val="tx2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4DC618-B29F-845A-7DD8-6A834C8CEE4F}"/>
              </a:ext>
            </a:extLst>
          </p:cNvPr>
          <p:cNvSpPr/>
          <p:nvPr/>
        </p:nvSpPr>
        <p:spPr>
          <a:xfrm>
            <a:off x="2991122" y="3467080"/>
            <a:ext cx="543658" cy="461665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9C902-63CB-1B88-5847-68EBD7D4096A}"/>
              </a:ext>
            </a:extLst>
          </p:cNvPr>
          <p:cNvSpPr txBox="1"/>
          <p:nvPr/>
        </p:nvSpPr>
        <p:spPr>
          <a:xfrm>
            <a:off x="3578692" y="3460263"/>
            <a:ext cx="2321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[A]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보고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ID /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지금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근거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요청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10·4·12</a:t>
            </a:r>
          </a:p>
          <a:p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[D]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완료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ID /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조치결과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 F/U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</a:t>
            </a:r>
            <a:endParaRPr lang="en-US" altLang="ko-KR" sz="800" b="1" dirty="0">
              <a:solidFill>
                <a:schemeClr val="tx2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FFF511-7B20-E2F4-96D5-C91B888C0873}"/>
              </a:ext>
            </a:extLst>
          </p:cNvPr>
          <p:cNvSpPr txBox="1"/>
          <p:nvPr/>
        </p:nvSpPr>
        <p:spPr>
          <a:xfrm>
            <a:off x="650417" y="1155514"/>
            <a:ext cx="23407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실전 소통 </a:t>
            </a:r>
            <a:r>
              <a:rPr lang="en-US" altLang="ko-KR" sz="20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&amp; </a:t>
            </a:r>
            <a:r>
              <a:rPr lang="ko-KR" altLang="en-US" sz="2000" b="1" dirty="0">
                <a:solidFill>
                  <a:srgbClr val="0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트리아제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AC34A0-F9F3-3EDB-E7DE-AF18BCE089E6}"/>
              </a:ext>
            </a:extLst>
          </p:cNvPr>
          <p:cNvSpPr txBox="1"/>
          <p:nvPr/>
        </p:nvSpPr>
        <p:spPr>
          <a:xfrm>
            <a:off x="2914099" y="3654121"/>
            <a:ext cx="62388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7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700" b="1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ACD Loop</a:t>
            </a:r>
            <a:endParaRPr lang="ko-KR" altLang="en-US" b="1" dirty="0">
              <a:solidFill>
                <a:srgbClr val="0000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BAE782B-ECA3-D41D-AFE9-56CEB8AAA5ED}"/>
              </a:ext>
            </a:extLst>
          </p:cNvPr>
          <p:cNvSpPr/>
          <p:nvPr/>
        </p:nvSpPr>
        <p:spPr>
          <a:xfrm>
            <a:off x="3589719" y="2998649"/>
            <a:ext cx="2321877" cy="443456"/>
          </a:xfrm>
          <a:prstGeom prst="roundRect">
            <a:avLst>
              <a:gd name="adj" fmla="val 8451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56667A1-2B2A-9852-BB96-CBEA37B0A03A}"/>
              </a:ext>
            </a:extLst>
          </p:cNvPr>
          <p:cNvSpPr/>
          <p:nvPr/>
        </p:nvSpPr>
        <p:spPr>
          <a:xfrm>
            <a:off x="2991122" y="2998651"/>
            <a:ext cx="543658" cy="443455"/>
          </a:xfrm>
          <a:prstGeom prst="roundRect">
            <a:avLst>
              <a:gd name="adj" fmla="val 845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82A12-C982-D57F-10A7-3BC066AE7850}"/>
              </a:ext>
            </a:extLst>
          </p:cNvPr>
          <p:cNvSpPr txBox="1"/>
          <p:nvPr/>
        </p:nvSpPr>
        <p:spPr>
          <a:xfrm>
            <a:off x="3538050" y="3040280"/>
            <a:ext cx="26274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[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보호기록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][C] PA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지연 보호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상황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(C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코드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/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다음 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HHMM</a:t>
            </a:r>
          </a:p>
          <a:p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* [IN-OUT]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병동 인계</a:t>
            </a:r>
            <a:r>
              <a:rPr lang="en-US" altLang="ko-KR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800" b="1" dirty="0">
                <a:solidFill>
                  <a:schemeClr val="tx2">
                    <a:lumMod val="50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 → 이브닝 인계 완료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07A7B2-12FF-002C-2FF9-D32A3AF6BA04}"/>
              </a:ext>
            </a:extLst>
          </p:cNvPr>
          <p:cNvSpPr txBox="1"/>
          <p:nvPr/>
        </p:nvSpPr>
        <p:spPr>
          <a:xfrm>
            <a:off x="2954176" y="3105842"/>
            <a:ext cx="543739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7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보호기록</a:t>
            </a:r>
            <a:endParaRPr lang="ko-KR" altLang="en-US" b="1" dirty="0">
              <a:solidFill>
                <a:srgbClr val="0000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78CFEE-84EE-73A9-E961-9706966751D1}"/>
              </a:ext>
            </a:extLst>
          </p:cNvPr>
          <p:cNvSpPr txBox="1"/>
          <p:nvPr/>
        </p:nvSpPr>
        <p:spPr>
          <a:xfrm>
            <a:off x="3352643" y="3733926"/>
            <a:ext cx="270986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응급          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4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 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   12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 </a:t>
            </a:r>
            <a:r>
              <a:rPr lang="en-US" altLang="ko-KR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7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루틴</a:t>
            </a:r>
            <a:endParaRPr lang="en-US" altLang="ko-KR" sz="7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E797A6-BFC8-0CF0-2F70-9F6DF2FB93B3}"/>
              </a:ext>
            </a:extLst>
          </p:cNvPr>
          <p:cNvSpPr txBox="1"/>
          <p:nvPr/>
        </p:nvSpPr>
        <p:spPr>
          <a:xfrm>
            <a:off x="3585519" y="3733926"/>
            <a:ext cx="308098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4BC0E0-55AA-783A-5336-DDADE23FEADA}"/>
              </a:ext>
            </a:extLst>
          </p:cNvPr>
          <p:cNvSpPr txBox="1"/>
          <p:nvPr/>
        </p:nvSpPr>
        <p:spPr>
          <a:xfrm>
            <a:off x="4286895" y="3733926"/>
            <a:ext cx="308098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700" dirty="0"/>
              <a:t>🟢</a:t>
            </a:r>
            <a:endParaRPr lang="ko-KR" altLang="en-US" sz="7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A20B57-52B5-85F3-2534-7A9F4AB616AC}"/>
              </a:ext>
            </a:extLst>
          </p:cNvPr>
          <p:cNvSpPr txBox="1"/>
          <p:nvPr/>
        </p:nvSpPr>
        <p:spPr>
          <a:xfrm>
            <a:off x="4941824" y="3733926"/>
            <a:ext cx="308098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🟡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4611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AFB84-DA79-5809-AFE8-1B4CE2F2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792062D3-34ED-0605-07DE-9BE7C8152760}"/>
              </a:ext>
            </a:extLst>
          </p:cNvPr>
          <p:cNvGrpSpPr/>
          <p:nvPr/>
        </p:nvGrpSpPr>
        <p:grpSpPr>
          <a:xfrm>
            <a:off x="2043863" y="4142289"/>
            <a:ext cx="1426994" cy="400110"/>
            <a:chOff x="2552627" y="3647275"/>
            <a:chExt cx="1426994" cy="40011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6064DA-8FCA-328E-0819-2D8F36BE6837}"/>
                </a:ext>
              </a:extLst>
            </p:cNvPr>
            <p:cNvSpPr txBox="1"/>
            <p:nvPr/>
          </p:nvSpPr>
          <p:spPr>
            <a:xfrm>
              <a:off x="2552627" y="3647275"/>
              <a:ext cx="1426994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en-US" altLang="ko-KR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10</a:t>
              </a:r>
              <a:r>
                <a:rPr lang="ko-KR" altLang="en-US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분 </a:t>
              </a:r>
              <a:r>
                <a:rPr lang="en-US" altLang="ko-KR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: </a:t>
              </a:r>
              <a:r>
                <a:rPr lang="ko-KR" altLang="en-US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응급</a:t>
              </a:r>
              <a:endPara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284F2D-73E0-974D-F96E-001F0024705D}"/>
                </a:ext>
              </a:extLst>
            </p:cNvPr>
            <p:cNvSpPr txBox="1"/>
            <p:nvPr/>
          </p:nvSpPr>
          <p:spPr>
            <a:xfrm>
              <a:off x="2610029" y="3647275"/>
              <a:ext cx="53732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ko-KR" altLang="en-US" sz="2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🔴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0E68E4B-1143-CAC0-D4EE-E776139F4E5A}"/>
              </a:ext>
            </a:extLst>
          </p:cNvPr>
          <p:cNvGrpSpPr/>
          <p:nvPr/>
        </p:nvGrpSpPr>
        <p:grpSpPr>
          <a:xfrm>
            <a:off x="3631809" y="4142289"/>
            <a:ext cx="1434673" cy="400110"/>
            <a:chOff x="4140573" y="3647275"/>
            <a:chExt cx="1434673" cy="40011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67A0FC-D4A1-039D-C0A2-4E774882E4DE}"/>
                </a:ext>
              </a:extLst>
            </p:cNvPr>
            <p:cNvSpPr txBox="1"/>
            <p:nvPr/>
          </p:nvSpPr>
          <p:spPr>
            <a:xfrm>
              <a:off x="4140573" y="3647275"/>
              <a:ext cx="53732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ko-KR" altLang="en-US" sz="2000" dirty="0"/>
                <a:t>🟢</a:t>
              </a:r>
              <a:endParaRPr lang="ko-KR" altLang="en-US" sz="2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78AC205-C7E4-80C9-0CE3-4D9D7E7E36C3}"/>
                </a:ext>
              </a:extLst>
            </p:cNvPr>
            <p:cNvSpPr txBox="1"/>
            <p:nvPr/>
          </p:nvSpPr>
          <p:spPr>
            <a:xfrm>
              <a:off x="4143444" y="3647275"/>
              <a:ext cx="143180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4</a:t>
              </a:r>
              <a:r>
                <a:rPr lang="ko-KR" altLang="en-US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시간 </a:t>
              </a:r>
              <a:r>
                <a:rPr lang="en-US" altLang="ko-KR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: </a:t>
              </a:r>
              <a:r>
                <a:rPr lang="ko-KR" altLang="en-US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우선</a:t>
              </a:r>
              <a:endPara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5B92A47-B815-6731-3432-E8288190B7A1}"/>
              </a:ext>
            </a:extLst>
          </p:cNvPr>
          <p:cNvGrpSpPr/>
          <p:nvPr/>
        </p:nvGrpSpPr>
        <p:grpSpPr>
          <a:xfrm>
            <a:off x="5098415" y="4142289"/>
            <a:ext cx="1572866" cy="400110"/>
            <a:chOff x="5607179" y="3647275"/>
            <a:chExt cx="1572866" cy="4001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128DDCF-7EF6-B45F-0002-ED2F6883C45A}"/>
                </a:ext>
              </a:extLst>
            </p:cNvPr>
            <p:cNvSpPr txBox="1"/>
            <p:nvPr/>
          </p:nvSpPr>
          <p:spPr>
            <a:xfrm>
              <a:off x="5656866" y="3647275"/>
              <a:ext cx="537327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ko-KR" altLang="en-US" sz="2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🟡</a:t>
              </a:r>
              <a:endParaRPr lang="ko-KR" altLang="en-US" sz="20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8E43034-F08C-E82F-DF8F-9709F8EB6798}"/>
                </a:ext>
              </a:extLst>
            </p:cNvPr>
            <p:cNvSpPr txBox="1"/>
            <p:nvPr/>
          </p:nvSpPr>
          <p:spPr>
            <a:xfrm>
              <a:off x="5607179" y="3647275"/>
              <a:ext cx="1572866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12</a:t>
              </a:r>
              <a:r>
                <a:rPr lang="ko-KR" altLang="en-US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시간 </a:t>
              </a:r>
              <a:r>
                <a:rPr lang="en-US" altLang="ko-KR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: </a:t>
              </a:r>
              <a:r>
                <a:rPr lang="ko-KR" altLang="en-US" sz="2000" b="1" dirty="0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루틴</a:t>
              </a:r>
              <a:endParaRPr lang="en-US" altLang="ko-KR" sz="2000" b="1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FE41C69-A8BB-A5E8-521B-AAE89F5ADBBE}"/>
              </a:ext>
            </a:extLst>
          </p:cNvPr>
          <p:cNvSpPr txBox="1"/>
          <p:nvPr/>
        </p:nvSpPr>
        <p:spPr>
          <a:xfrm>
            <a:off x="2984048" y="1251284"/>
            <a:ext cx="48654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[A] </a:t>
            </a:r>
            <a:r>
              <a:rPr lang="ko-KR" altLang="en-US" dirty="0"/>
              <a:t>보고 </a:t>
            </a:r>
            <a:r>
              <a:rPr lang="en-US" altLang="ko-KR" dirty="0"/>
              <a:t>(</a:t>
            </a:r>
            <a:r>
              <a:rPr lang="ko-KR" altLang="en-US" dirty="0"/>
              <a:t>병동</a:t>
            </a:r>
            <a:r>
              <a:rPr lang="en-US" altLang="ko-KR" dirty="0"/>
              <a:t>) : ID / </a:t>
            </a:r>
            <a:r>
              <a:rPr lang="ko-KR" altLang="en-US" dirty="0"/>
              <a:t>지금 </a:t>
            </a:r>
            <a:r>
              <a:rPr lang="en-US" altLang="ko-KR" dirty="0"/>
              <a:t>/ </a:t>
            </a:r>
            <a:r>
              <a:rPr lang="ko-KR" altLang="en-US" dirty="0"/>
              <a:t>근거 </a:t>
            </a:r>
            <a:r>
              <a:rPr lang="en-US" altLang="ko-KR" dirty="0"/>
              <a:t>/ </a:t>
            </a:r>
            <a:r>
              <a:rPr lang="ko-KR" altLang="en-US" dirty="0"/>
              <a:t>요청 </a:t>
            </a:r>
            <a:r>
              <a:rPr lang="en-US" altLang="ko-KR" dirty="0"/>
              <a:t>/ 10·4·12</a:t>
            </a:r>
          </a:p>
          <a:p>
            <a:r>
              <a:rPr lang="en-US" altLang="ko-KR" dirty="0"/>
              <a:t>[C] </a:t>
            </a:r>
            <a:r>
              <a:rPr lang="ko-KR" altLang="en-US" dirty="0"/>
              <a:t>상황 </a:t>
            </a:r>
            <a:r>
              <a:rPr lang="en-US" altLang="ko-KR" dirty="0"/>
              <a:t>(</a:t>
            </a:r>
            <a:r>
              <a:rPr lang="ko-KR" altLang="en-US" dirty="0"/>
              <a:t>공통</a:t>
            </a:r>
            <a:r>
              <a:rPr lang="en-US" altLang="ko-KR" dirty="0"/>
              <a:t>) : ID / </a:t>
            </a:r>
            <a:r>
              <a:rPr lang="ko-KR" altLang="en-US" dirty="0"/>
              <a:t>사유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 / </a:t>
            </a:r>
            <a:r>
              <a:rPr lang="ko-KR" altLang="en-US" dirty="0"/>
              <a:t>다음 </a:t>
            </a:r>
            <a:r>
              <a:rPr lang="en-US" altLang="ko-KR" dirty="0"/>
              <a:t>HHMM</a:t>
            </a:r>
          </a:p>
          <a:p>
            <a:r>
              <a:rPr lang="en-US" altLang="ko-KR" dirty="0"/>
              <a:t>[D] </a:t>
            </a:r>
            <a:r>
              <a:rPr lang="ko-KR" altLang="en-US" dirty="0"/>
              <a:t>완료 </a:t>
            </a:r>
            <a:r>
              <a:rPr lang="en-US" altLang="ko-KR" dirty="0"/>
              <a:t>(PA) : ID / </a:t>
            </a:r>
            <a:r>
              <a:rPr lang="ko-KR" altLang="en-US" dirty="0"/>
              <a:t>조치결과 </a:t>
            </a:r>
            <a:r>
              <a:rPr lang="en-US" altLang="ko-KR" dirty="0"/>
              <a:t>/ F/U </a:t>
            </a:r>
            <a:r>
              <a:rPr lang="ko-KR" altLang="en-US" dirty="0"/>
              <a:t>기준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7DFBF0-D40D-250A-3C67-067DB2B5B4DC}"/>
              </a:ext>
            </a:extLst>
          </p:cNvPr>
          <p:cNvSpPr txBox="1"/>
          <p:nvPr/>
        </p:nvSpPr>
        <p:spPr>
          <a:xfrm>
            <a:off x="569501" y="1528283"/>
            <a:ext cx="1612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ACD Loop </a:t>
            </a:r>
            <a:r>
              <a:rPr lang="ko-KR" altLang="en-US" dirty="0"/>
              <a:t>공식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96BA8E-61C7-1E0F-8D39-4AF7DC307A9C}"/>
              </a:ext>
            </a:extLst>
          </p:cNvPr>
          <p:cNvSpPr txBox="1"/>
          <p:nvPr/>
        </p:nvSpPr>
        <p:spPr>
          <a:xfrm>
            <a:off x="2984048" y="2414889"/>
            <a:ext cx="4891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스티커 중앙에 </a:t>
            </a:r>
            <a:r>
              <a:rPr lang="en-US" altLang="ko-KR" dirty="0"/>
              <a:t>PA</a:t>
            </a:r>
            <a:r>
              <a:rPr lang="ko-KR" altLang="en-US" dirty="0"/>
              <a:t>와 병동의 사유를 나란히 배치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1F8C04-347F-C44A-25EA-EC15DEC7AD55}"/>
              </a:ext>
            </a:extLst>
          </p:cNvPr>
          <p:cNvSpPr txBox="1"/>
          <p:nvPr/>
        </p:nvSpPr>
        <p:spPr>
          <a:xfrm>
            <a:off x="569501" y="2322556"/>
            <a:ext cx="2276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[C] </a:t>
            </a:r>
            <a:r>
              <a:rPr lang="ko-KR" altLang="en-US" dirty="0"/>
              <a:t>사유 코드 가이드 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보호기록 섹션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1680FE-8841-C0B2-90FF-297BD34C52DF}"/>
              </a:ext>
            </a:extLst>
          </p:cNvPr>
          <p:cNvSpPr txBox="1"/>
          <p:nvPr/>
        </p:nvSpPr>
        <p:spPr>
          <a:xfrm>
            <a:off x="2984048" y="3232422"/>
            <a:ext cx="5768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PA </a:t>
            </a:r>
            <a:r>
              <a:rPr lang="ko-KR" altLang="en-US" dirty="0"/>
              <a:t>지연</a:t>
            </a:r>
            <a:r>
              <a:rPr lang="en-US" altLang="ko-KR" dirty="0"/>
              <a:t>(C</a:t>
            </a:r>
            <a:r>
              <a:rPr lang="ko-KR" altLang="en-US" dirty="0"/>
              <a:t>코드</a:t>
            </a:r>
            <a:r>
              <a:rPr lang="en-US" altLang="ko-KR" dirty="0"/>
              <a:t>): C1(</a:t>
            </a:r>
            <a:r>
              <a:rPr lang="ko-KR" altLang="en-US" dirty="0"/>
              <a:t>응급</a:t>
            </a:r>
            <a:r>
              <a:rPr lang="en-US" altLang="ko-KR" dirty="0"/>
              <a:t>) C2(</a:t>
            </a:r>
            <a:r>
              <a:rPr lang="ko-KR" altLang="en-US" dirty="0"/>
              <a:t>수술</a:t>
            </a:r>
            <a:r>
              <a:rPr lang="en-US" altLang="ko-KR" dirty="0"/>
              <a:t>) C3(</a:t>
            </a:r>
            <a:r>
              <a:rPr lang="ko-KR" altLang="en-US" dirty="0"/>
              <a:t>결과대기</a:t>
            </a:r>
            <a:r>
              <a:rPr lang="en-US" altLang="ko-KR" dirty="0"/>
              <a:t>) C4(</a:t>
            </a:r>
            <a:r>
              <a:rPr lang="ko-KR" altLang="en-US" dirty="0" err="1"/>
              <a:t>컨펌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835050-E6E0-E5E2-3ABE-A92BD67F31D0}"/>
              </a:ext>
            </a:extLst>
          </p:cNvPr>
          <p:cNvSpPr txBox="1"/>
          <p:nvPr/>
        </p:nvSpPr>
        <p:spPr>
          <a:xfrm>
            <a:off x="569501" y="3242372"/>
            <a:ext cx="2688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지연</a:t>
            </a:r>
            <a:r>
              <a:rPr lang="en-US" altLang="ko-KR" dirty="0"/>
              <a:t>/</a:t>
            </a:r>
            <a:r>
              <a:rPr lang="ko-KR" altLang="en-US" dirty="0"/>
              <a:t>인계 보호기록 사유</a:t>
            </a:r>
          </a:p>
        </p:txBody>
      </p:sp>
    </p:spTree>
    <p:extLst>
      <p:ext uri="{BB962C8B-B14F-4D97-AF65-F5344CB8AC3E}">
        <p14:creationId xmlns:p14="http://schemas.microsoft.com/office/powerpoint/2010/main" val="1581504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3474</TotalTime>
  <Words>208</Words>
  <Application>Microsoft Office PowerPoint</Application>
  <PresentationFormat>화면 슬라이드 쇼(16:9)</PresentationFormat>
  <Paragraphs>27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KoPub돋움체 Bold</vt:lpstr>
      <vt:lpstr>KoPub돋움체 Light</vt:lpstr>
      <vt:lpstr>KoPub돋움체 Medium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라희 임</dc:creator>
  <cp:lastModifiedBy>라희 임</cp:lastModifiedBy>
  <cp:revision>2306</cp:revision>
  <cp:lastPrinted>2026-03-02T14:34:17Z</cp:lastPrinted>
  <dcterms:created xsi:type="dcterms:W3CDTF">2025-05-04T13:56:03Z</dcterms:created>
  <dcterms:modified xsi:type="dcterms:W3CDTF">2026-03-07T16:18:56Z</dcterms:modified>
</cp:coreProperties>
</file>