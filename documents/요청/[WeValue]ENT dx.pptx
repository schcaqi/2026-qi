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95" r:id="rId3"/>
    <p:sldId id="296" r:id="rId4"/>
    <p:sldId id="29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서론" id="{F93E12DA-42D8-404A-84C2-3A0715DE0C7D}">
          <p14:sldIdLst>
            <p14:sldId id="256"/>
            <p14:sldId id="295"/>
            <p14:sldId id="296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  <p15:guide id="13" orient="horz" pos="1412" userDrawn="1">
          <p15:clr>
            <a:srgbClr val="A4A3A4"/>
          </p15:clr>
        </p15:guide>
        <p15:guide id="14" orient="horz" pos="3793" userDrawn="1">
          <p15:clr>
            <a:srgbClr val="A4A3A4"/>
          </p15:clr>
        </p15:guide>
        <p15:guide id="15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506" autoAdjust="0"/>
  </p:normalViewPr>
  <p:slideViewPr>
    <p:cSldViewPr snapToGrid="0">
      <p:cViewPr varScale="1">
        <p:scale>
          <a:sx n="128" d="100"/>
          <a:sy n="128" d="100"/>
        </p:scale>
        <p:origin x="1350" y="132"/>
      </p:cViewPr>
      <p:guideLst>
        <p:guide pos="234"/>
        <p:guide pos="7446"/>
        <p:guide pos="529"/>
        <p:guide pos="3840"/>
        <p:guide pos="7151"/>
        <p:guide orient="horz" pos="3952"/>
        <p:guide orient="horz" pos="867"/>
        <p:guide orient="horz" pos="1412"/>
        <p:guide orient="horz" pos="3793"/>
        <p:guide pos="302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A0A0659D-0D17-3ECD-5DAD-5C88B84A5B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2" y="408424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122363"/>
            <a:ext cx="1018032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[2026 QI] </a:t>
            </a:r>
            <a:r>
              <a:rPr lang="en-US" altLang="ko-KR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WeValue</a:t>
            </a:r>
            <a:r>
              <a:rPr lang="ko-KR" altLang="en-US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우리가치</a:t>
            </a:r>
            <a:endParaRPr lang="ko-KR" altLang="en-US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949" y="3602038"/>
            <a:ext cx="1164100" cy="425566"/>
          </a:xfr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ENT dx</a:t>
            </a:r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0BED0-0BE7-4C72-B4A1-4E4F31CA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드레싱 세트 </a:t>
            </a:r>
            <a:r>
              <a:rPr lang="en-US" altLang="ko-KR" dirty="0"/>
              <a:t>(D-set)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FFB93B9-1A8B-4C8F-A025-9EE50591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2256739"/>
            <a:ext cx="3435186" cy="374904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74EBF21-B92F-4321-A49D-8999C8B3B838}"/>
              </a:ext>
            </a:extLst>
          </p:cNvPr>
          <p:cNvSpPr/>
          <p:nvPr/>
        </p:nvSpPr>
        <p:spPr>
          <a:xfrm>
            <a:off x="839788" y="1376363"/>
            <a:ext cx="83042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가장 빈번하게 사용되는 기초적인 상처 소독 및 거즈 교체용 세트입니다</a:t>
            </a:r>
            <a:r>
              <a:rPr lang="en-US" altLang="ko-KR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2400" b="1" kern="0" spc="0" dirty="0">
              <a:solidFill>
                <a:srgbClr val="000000"/>
              </a:solidFill>
              <a:effectLst/>
              <a:latin typeface="KoPub돋움체 Light" panose="00000300000000000000" pitchFamily="2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030D2FE-E4E5-438E-B80D-28C248AD0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337694"/>
              </p:ext>
            </p:extLst>
          </p:nvPr>
        </p:nvGraphicFramePr>
        <p:xfrm>
          <a:off x="4800601" y="2256740"/>
          <a:ext cx="6551613" cy="374904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7438">
                  <a:extLst>
                    <a:ext uri="{9D8B030D-6E8A-4147-A177-3AD203B41FA5}">
                      <a16:colId xmlns:a16="http://schemas.microsoft.com/office/drawing/2014/main" val="3699709797"/>
                    </a:ext>
                  </a:extLst>
                </a:gridCol>
                <a:gridCol w="2178736">
                  <a:extLst>
                    <a:ext uri="{9D8B030D-6E8A-4147-A177-3AD203B41FA5}">
                      <a16:colId xmlns:a16="http://schemas.microsoft.com/office/drawing/2014/main" val="3250780689"/>
                    </a:ext>
                  </a:extLst>
                </a:gridCol>
                <a:gridCol w="3395439">
                  <a:extLst>
                    <a:ext uri="{9D8B030D-6E8A-4147-A177-3AD203B41FA5}">
                      <a16:colId xmlns:a16="http://schemas.microsoft.com/office/drawing/2014/main" val="4035741908"/>
                    </a:ext>
                  </a:extLst>
                </a:gridCol>
              </a:tblGrid>
              <a:tr h="100983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effectLst/>
                        </a:rPr>
                        <a:t>항목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effectLst/>
                        </a:rPr>
                        <a:t>주요 구성품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effectLst/>
                        </a:rPr>
                        <a:t>주요 용도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511815415"/>
                  </a:ext>
                </a:extLst>
              </a:tr>
              <a:tr h="2739208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effectLst/>
                        </a:rPr>
                        <a:t>구성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400" kern="0" spc="0" dirty="0">
                          <a:effectLst/>
                        </a:rPr>
                        <a:t>Scissors, Forceps 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400" kern="0" spc="0" dirty="0">
                          <a:effectLst/>
                        </a:rPr>
                        <a:t>Betadine ball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400" kern="0" spc="0" dirty="0">
                          <a:effectLst/>
                        </a:rPr>
                        <a:t>Gauze (</a:t>
                      </a:r>
                      <a:r>
                        <a:rPr lang="ko-KR" altLang="en-US" sz="1400" kern="0" spc="0" dirty="0">
                          <a:effectLst/>
                        </a:rPr>
                        <a:t>거즈</a:t>
                      </a:r>
                      <a:r>
                        <a:rPr lang="en-US" altLang="ko-KR" sz="1400" kern="0" spc="0" dirty="0">
                          <a:effectLst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0" dirty="0">
                          <a:effectLst/>
                        </a:rPr>
                        <a:t>단순 수술 부위 소독 물품</a:t>
                      </a:r>
                      <a:r>
                        <a:rPr lang="en-US" altLang="ko-KR" sz="1400" kern="0" spc="0" dirty="0">
                          <a:effectLst/>
                        </a:rPr>
                        <a:t>, </a:t>
                      </a:r>
                      <a:r>
                        <a:rPr lang="ko-KR" altLang="en-US" sz="1400" kern="0" spc="0" dirty="0">
                          <a:effectLst/>
                        </a:rPr>
                        <a:t>재료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0" dirty="0">
                          <a:effectLst/>
                        </a:rPr>
                        <a:t>실밥 제거 </a:t>
                      </a:r>
                      <a:r>
                        <a:rPr lang="en-US" altLang="ko-KR" sz="1400" kern="0" spc="0" dirty="0">
                          <a:effectLst/>
                        </a:rPr>
                        <a:t>(Suture removal)</a:t>
                      </a:r>
                      <a:endParaRPr lang="ko-KR" altLang="en-US" sz="1400" kern="0" spc="0" dirty="0">
                        <a:effectLst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0" dirty="0">
                          <a:effectLst/>
                        </a:rPr>
                        <a:t>단순 </a:t>
                      </a:r>
                      <a:r>
                        <a:rPr lang="ko-KR" altLang="en-US" sz="1400" kern="0" spc="0" dirty="0" err="1">
                          <a:effectLst/>
                        </a:rPr>
                        <a:t>삼출물</a:t>
                      </a:r>
                      <a:r>
                        <a:rPr lang="ko-KR" altLang="en-US" sz="1400" kern="0" spc="0" dirty="0">
                          <a:effectLst/>
                        </a:rPr>
                        <a:t> 제거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81880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96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0BED0-0BE7-4C72-B4A1-4E4F31CA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ENT I&amp;D </a:t>
            </a:r>
            <a:r>
              <a:rPr lang="ko-KR" altLang="en-US" dirty="0"/>
              <a:t>세트 </a:t>
            </a:r>
            <a:r>
              <a:rPr lang="en-US" altLang="ko-KR" dirty="0"/>
              <a:t>(Incision &amp; Drainage Set)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22E4A0-561A-48D0-A448-4825944612BF}"/>
              </a:ext>
            </a:extLst>
          </p:cNvPr>
          <p:cNvSpPr/>
          <p:nvPr/>
        </p:nvSpPr>
        <p:spPr>
          <a:xfrm>
            <a:off x="839787" y="1376363"/>
            <a:ext cx="10512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단순 드레싱을 넘어</a:t>
            </a:r>
            <a:r>
              <a:rPr lang="en-US" altLang="ko-KR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절개 및 배농이나 기관절개관</a:t>
            </a:r>
            <a:r>
              <a:rPr lang="en-US" altLang="ko-KR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(Tracheostomy) </a:t>
            </a:r>
            <a:r>
              <a:rPr lang="ko-KR" altLang="en-US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관련 응급 </a:t>
            </a:r>
            <a:r>
              <a:rPr lang="ko-KR" altLang="en-US" b="1" kern="0" dirty="0" err="1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상황시</a:t>
            </a:r>
            <a:r>
              <a:rPr lang="ko-KR" altLang="en-US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사용되는 심화 세트입니다</a:t>
            </a:r>
            <a:r>
              <a:rPr lang="en-US" altLang="ko-KR" b="1" kern="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2400" b="1" kern="0" spc="0" dirty="0">
              <a:solidFill>
                <a:srgbClr val="000000"/>
              </a:solidFill>
              <a:effectLst/>
              <a:latin typeface="KoPub돋움체 Light" panose="00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88BD6C-9378-407D-BDA9-EE5F706A5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2241550"/>
            <a:ext cx="3477977" cy="377983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DA00B33-FBD9-4EBA-BB60-7925C1172E7F}"/>
              </a:ext>
            </a:extLst>
          </p:cNvPr>
          <p:cNvSpPr/>
          <p:nvPr/>
        </p:nvSpPr>
        <p:spPr>
          <a:xfrm>
            <a:off x="4797311" y="2241549"/>
            <a:ext cx="6554902" cy="360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ko-KR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※ </a:t>
            </a:r>
            <a:r>
              <a:rPr lang="ko-KR" altLang="en-US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병동</a:t>
            </a:r>
            <a:r>
              <a:rPr lang="en-US" altLang="ko-KR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(131</a:t>
            </a:r>
            <a:r>
              <a:rPr lang="ko-KR" altLang="en-US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병동 등</a:t>
            </a:r>
            <a:r>
              <a:rPr lang="en-US" altLang="ko-KR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 </a:t>
            </a:r>
            <a:r>
              <a:rPr lang="ko-KR" altLang="en-US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라벨이 부착되어 관리되며</a:t>
            </a:r>
            <a:r>
              <a:rPr lang="en-US" altLang="ko-KR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일반 </a:t>
            </a:r>
            <a:r>
              <a:rPr lang="en-US" altLang="ko-KR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D-set</a:t>
            </a:r>
            <a:r>
              <a:rPr lang="ko-KR" altLang="en-US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보다 기구의 종류가 다양하고 정교합니다</a:t>
            </a:r>
            <a:r>
              <a:rPr lang="en-US" altLang="ko-KR" sz="1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1400" b="1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가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 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주요 응급 활용 사례</a:t>
            </a:r>
          </a:p>
          <a:p>
            <a:pPr marL="742950" lvl="1" indent="-285750" fontAlgn="base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Tracheostomy Tube 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막힘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내관 교체 및 분비물 제거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b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</a:b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필요 시 입구 주변 시야 확보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1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742950" lvl="1" indent="-285750" fontAlgn="base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출혈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수술 부위나 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T-tube 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주변 혈관 압박 및 지혈 처치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1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742950" lvl="1" indent="-285750" fontAlgn="base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농양 </a:t>
            </a:r>
            <a:r>
              <a:rPr lang="ko-KR" altLang="en-US" sz="1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배농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감염 부위 절개 및 </a:t>
            </a:r>
            <a:r>
              <a:rPr lang="ko-KR" altLang="en-US" sz="1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배농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1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나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 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세부 핵심 구성 기구</a:t>
            </a:r>
          </a:p>
          <a:p>
            <a:pPr marL="742950" lvl="1" indent="-285750" fontAlgn="base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Hemostat (Kelly/Mosquito):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혈관 </a:t>
            </a:r>
            <a:r>
              <a:rPr lang="ko-KR" altLang="en-US" sz="1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겸자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 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출혈 부위 지혈 및 조직 박리 시 사용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1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742950" lvl="1" indent="-285750" fontAlgn="base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Yankauer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en-US" altLang="ko-KR" sz="1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Suction:T-tube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en-US" altLang="ko-KR" sz="1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bleeding.pus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등 흡인 용도</a:t>
            </a:r>
          </a:p>
          <a:p>
            <a:pPr marL="742950" lvl="1" indent="-285750" fontAlgn="base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Retractor:T-tube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막힘</a:t>
            </a:r>
            <a:r>
              <a:rPr lang="en-US" altLang="ko-KR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</a:t>
            </a:r>
            <a:r>
              <a:rPr lang="ko-KR" altLang="en-US" sz="1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출혈시</a:t>
            </a:r>
            <a:r>
              <a:rPr lang="ko-KR" altLang="en-US" sz="1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시야 확보의 핵심</a:t>
            </a:r>
          </a:p>
        </p:txBody>
      </p:sp>
    </p:spTree>
    <p:extLst>
      <p:ext uri="{BB962C8B-B14F-4D97-AF65-F5344CB8AC3E}">
        <p14:creationId xmlns:p14="http://schemas.microsoft.com/office/powerpoint/2010/main" val="323493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</TotalTime>
  <Words>192</Words>
  <Application>Microsoft Office PowerPoint</Application>
  <PresentationFormat>와이드스크린</PresentationFormat>
  <Paragraphs>25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KoPub돋움체 Bold</vt:lpstr>
      <vt:lpstr>KoPub돋움체 Light</vt:lpstr>
      <vt:lpstr>맑은 고딕</vt:lpstr>
      <vt:lpstr>Arial</vt:lpstr>
      <vt:lpstr>Wingdings</vt:lpstr>
      <vt:lpstr>1_Office 테마</vt:lpstr>
      <vt:lpstr>[2026 QI] WeValue 우리가치</vt:lpstr>
      <vt:lpstr>기본 드레싱 세트 (D-set)</vt:lpstr>
      <vt:lpstr>ENT I&amp;D 세트 (Incision &amp; Drainage Set)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rahee</cp:lastModifiedBy>
  <cp:revision>883</cp:revision>
  <dcterms:created xsi:type="dcterms:W3CDTF">2026-03-04T12:11:45Z</dcterms:created>
  <dcterms:modified xsi:type="dcterms:W3CDTF">2026-04-24T16:11:14Z</dcterms:modified>
</cp:coreProperties>
</file>