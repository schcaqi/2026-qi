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95" r:id="rId3"/>
    <p:sldId id="297" r:id="rId4"/>
    <p:sldId id="29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5"/>
            <p14:sldId id="29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2506" autoAdjust="0"/>
  </p:normalViewPr>
  <p:slideViewPr>
    <p:cSldViewPr snapToGrid="0">
      <p:cViewPr varScale="1">
        <p:scale>
          <a:sx n="131" d="100"/>
          <a:sy n="131" d="100"/>
        </p:scale>
        <p:origin x="1230" y="114"/>
      </p:cViewPr>
      <p:guideLst>
        <p:guide pos="234"/>
        <p:guide pos="7446"/>
        <p:guide pos="529"/>
        <p:guide pos="3840"/>
        <p:guide pos="7151"/>
        <p:guide orient="horz" pos="3952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0091" y="3602038"/>
            <a:ext cx="2891817" cy="425566"/>
          </a:xfrm>
        </p:spPr>
        <p:txBody>
          <a:bodyPr wrap="none">
            <a:spAutoFit/>
          </a:bodyPr>
          <a:lstStyle/>
          <a:p>
            <a:r>
              <a:rPr lang="en-US" altLang="ko-KR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Mera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tube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vs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tracoe</a:t>
            </a:r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Mera</a:t>
            </a:r>
            <a:r>
              <a:rPr lang="en-US" altLang="ko-KR" dirty="0"/>
              <a:t> tube vs </a:t>
            </a:r>
            <a:r>
              <a:rPr lang="en-US" altLang="ko-KR" dirty="0" err="1"/>
              <a:t>Tracoe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A8FD52-68D3-4645-B540-510AFC556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266408"/>
              </p:ext>
            </p:extLst>
          </p:nvPr>
        </p:nvGraphicFramePr>
        <p:xfrm>
          <a:off x="371475" y="1376363"/>
          <a:ext cx="11449050" cy="4897437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34147">
                  <a:extLst>
                    <a:ext uri="{9D8B030D-6E8A-4147-A177-3AD203B41FA5}">
                      <a16:colId xmlns:a16="http://schemas.microsoft.com/office/drawing/2014/main" val="2563140619"/>
                    </a:ext>
                  </a:extLst>
                </a:gridCol>
                <a:gridCol w="4835046">
                  <a:extLst>
                    <a:ext uri="{9D8B030D-6E8A-4147-A177-3AD203B41FA5}">
                      <a16:colId xmlns:a16="http://schemas.microsoft.com/office/drawing/2014/main" val="3917478232"/>
                    </a:ext>
                  </a:extLst>
                </a:gridCol>
                <a:gridCol w="4279857">
                  <a:extLst>
                    <a:ext uri="{9D8B030D-6E8A-4147-A177-3AD203B41FA5}">
                      <a16:colId xmlns:a16="http://schemas.microsoft.com/office/drawing/2014/main" val="3785730540"/>
                    </a:ext>
                  </a:extLst>
                </a:gridCol>
              </a:tblGrid>
              <a:tr h="364285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구분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</a:rPr>
                        <a:t>MERA (SOFIT CF-S)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</a:rPr>
                        <a:t>TRACOE (302)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14505"/>
                  </a:ext>
                </a:extLst>
              </a:tr>
              <a:tr h="2862572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사진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effectLst/>
                      </a:endParaRPr>
                    </a:p>
                    <a:p>
                      <a:pPr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669645"/>
                  </a:ext>
                </a:extLst>
              </a:tr>
              <a:tr h="364285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</a:rPr>
                        <a:t>Suction Line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726747"/>
                  </a:ext>
                </a:extLst>
              </a:tr>
              <a:tr h="471005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</a:rPr>
                        <a:t>Neck Plate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상하 좌우로 움직이며 접을 수 있음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상하로 움직이나 고정된 타입</a:t>
                      </a:r>
                    </a:p>
                    <a:p>
                      <a:pPr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279300"/>
                  </a:ext>
                </a:extLst>
              </a:tr>
              <a:tr h="364285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err="1">
                          <a:effectLst/>
                        </a:rPr>
                        <a:t>발성창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10372"/>
                  </a:ext>
                </a:extLst>
              </a:tr>
              <a:tr h="471005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주요 특징 및 설명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fontAlgn="base" latinLnBrk="1"/>
                      <a:r>
                        <a:rPr lang="en-US" altLang="ko-KR" sz="1200" kern="1200" dirty="0">
                          <a:effectLst/>
                        </a:rPr>
                        <a:t>•</a:t>
                      </a:r>
                      <a:r>
                        <a:rPr lang="ko-KR" altLang="en-US" sz="1200" kern="1200" dirty="0">
                          <a:effectLst/>
                        </a:rPr>
                        <a:t>주기적인 </a:t>
                      </a:r>
                      <a:r>
                        <a:rPr lang="ko-KR" altLang="en-US" sz="1200" kern="1200" dirty="0" err="1">
                          <a:effectLst/>
                        </a:rPr>
                        <a:t>석션을</a:t>
                      </a:r>
                      <a:r>
                        <a:rPr lang="ko-KR" altLang="en-US" sz="1200" kern="1200" dirty="0">
                          <a:effectLst/>
                        </a:rPr>
                        <a:t> 통해 </a:t>
                      </a:r>
                      <a:r>
                        <a:rPr lang="en-US" altLang="ko-KR" sz="1200" kern="1200" dirty="0">
                          <a:effectLst/>
                        </a:rPr>
                        <a:t>2</a:t>
                      </a:r>
                      <a:r>
                        <a:rPr lang="ko-KR" altLang="en-US" sz="1200" kern="1200" dirty="0">
                          <a:effectLst/>
                        </a:rPr>
                        <a:t>차 감염 발생 최소화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effectLst/>
                        </a:rPr>
                        <a:t>• Ventilator </a:t>
                      </a:r>
                      <a:r>
                        <a:rPr lang="ko-KR" altLang="en-US" sz="1200" kern="1200" dirty="0">
                          <a:effectLst/>
                        </a:rPr>
                        <a:t>연결과 발성 연습이 모두 가능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06015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C9A1D8-C8CE-425C-8441-138F1868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630" y="1916113"/>
            <a:ext cx="3089754" cy="25070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2B357A-FE2E-41DF-B658-CABAF8224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48" y="1916112"/>
            <a:ext cx="2008922" cy="250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Mera</a:t>
            </a:r>
            <a:r>
              <a:rPr lang="en-US" altLang="ko-KR" dirty="0"/>
              <a:t> tube vs </a:t>
            </a:r>
            <a:r>
              <a:rPr lang="en-US" altLang="ko-KR" dirty="0" err="1"/>
              <a:t>Tracoe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A8FD52-68D3-4645-B540-510AFC556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49748"/>
              </p:ext>
            </p:extLst>
          </p:nvPr>
        </p:nvGraphicFramePr>
        <p:xfrm>
          <a:off x="371475" y="1376363"/>
          <a:ext cx="11449050" cy="492051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34147">
                  <a:extLst>
                    <a:ext uri="{9D8B030D-6E8A-4147-A177-3AD203B41FA5}">
                      <a16:colId xmlns:a16="http://schemas.microsoft.com/office/drawing/2014/main" val="2563140619"/>
                    </a:ext>
                  </a:extLst>
                </a:gridCol>
                <a:gridCol w="4835046">
                  <a:extLst>
                    <a:ext uri="{9D8B030D-6E8A-4147-A177-3AD203B41FA5}">
                      <a16:colId xmlns:a16="http://schemas.microsoft.com/office/drawing/2014/main" val="3917478232"/>
                    </a:ext>
                  </a:extLst>
                </a:gridCol>
                <a:gridCol w="4279857">
                  <a:extLst>
                    <a:ext uri="{9D8B030D-6E8A-4147-A177-3AD203B41FA5}">
                      <a16:colId xmlns:a16="http://schemas.microsoft.com/office/drawing/2014/main" val="3785730540"/>
                    </a:ext>
                  </a:extLst>
                </a:gridCol>
              </a:tblGrid>
              <a:tr h="371970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  <a:latin typeface="+mj-lt"/>
                        </a:rPr>
                        <a:t>구분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j-lt"/>
                        </a:rPr>
                        <a:t>MERA (SOFIT F)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j-lt"/>
                        </a:rPr>
                        <a:t>TRACOE (304)</a:t>
                      </a:r>
                      <a:endParaRPr lang="en-US" altLang="ko-KR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14505"/>
                  </a:ext>
                </a:extLst>
              </a:tr>
              <a:tr h="3167171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  <a:latin typeface="+mj-lt"/>
                        </a:rPr>
                        <a:t>사진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effectLst/>
                        <a:latin typeface="+mj-lt"/>
                      </a:endParaRPr>
                    </a:p>
                    <a:p>
                      <a:pPr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669645"/>
                  </a:ext>
                </a:extLst>
              </a:tr>
              <a:tr h="403048"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Neck 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상하 좌우로 움직이며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접을 수 있음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상하로 움직이나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고정된 타입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726747"/>
                  </a:ext>
                </a:extLst>
              </a:tr>
              <a:tr h="521123"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Inner Cannula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j-lt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j-lt"/>
                        </a:rPr>
                        <a:t>O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279300"/>
                  </a:ext>
                </a:extLst>
              </a:tr>
              <a:tr h="403048"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주요 특징 및 설명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튜브의 마개를 막고 발성 연습 가능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Speech Valve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장착이 가능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1037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534CB67-EBDC-414A-A770-48284851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53" y="2006572"/>
            <a:ext cx="2512886" cy="26772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B4BF0E-89AA-4965-AB93-65C9F148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032" y="2006572"/>
            <a:ext cx="1889123" cy="26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0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111</Words>
  <Application>Microsoft Office PowerPoint</Application>
  <PresentationFormat>와이드스크린</PresentationFormat>
  <Paragraphs>33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KoPub돋움체 Bold</vt:lpstr>
      <vt:lpstr>KoPub돋움체 Light</vt:lpstr>
      <vt:lpstr>맑은 고딕</vt:lpstr>
      <vt:lpstr>Arial</vt:lpstr>
      <vt:lpstr>1_Office 테마</vt:lpstr>
      <vt:lpstr>[2026 QI] WeValue 우리가치</vt:lpstr>
      <vt:lpstr>Mera tube vs Tracoe</vt:lpstr>
      <vt:lpstr>Mera tube vs Tracoe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863</cp:revision>
  <dcterms:created xsi:type="dcterms:W3CDTF">2026-03-04T12:11:45Z</dcterms:created>
  <dcterms:modified xsi:type="dcterms:W3CDTF">2026-04-23T15:43:21Z</dcterms:modified>
</cp:coreProperties>
</file>