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95" r:id="rId3"/>
    <p:sldId id="294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서론" id="{F93E12DA-42D8-404A-84C2-3A0715DE0C7D}">
          <p14:sldIdLst>
            <p14:sldId id="256"/>
            <p14:sldId id="295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9" pos="7151" userDrawn="1">
          <p15:clr>
            <a:srgbClr val="A4A3A4"/>
          </p15:clr>
        </p15:guide>
        <p15:guide id="11" orient="horz" pos="3952" userDrawn="1">
          <p15:clr>
            <a:srgbClr val="A4A3A4"/>
          </p15:clr>
        </p15:guide>
        <p15:guide id="12" orient="horz" pos="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2506" autoAdjust="0"/>
  </p:normalViewPr>
  <p:slideViewPr>
    <p:cSldViewPr snapToGrid="0">
      <p:cViewPr varScale="1">
        <p:scale>
          <a:sx n="131" d="100"/>
          <a:sy n="131" d="100"/>
        </p:scale>
        <p:origin x="1230" y="114"/>
      </p:cViewPr>
      <p:guideLst>
        <p:guide pos="234"/>
        <p:guide pos="7446"/>
        <p:guide pos="529"/>
        <p:guide pos="3840"/>
        <p:guide pos="7151"/>
        <p:guide orient="horz" pos="3952"/>
        <p:guide orient="horz" pos="86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2001C-857C-44DF-8FE3-7E7EA72EA642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A9A12-E110-4E26-8834-B65FA9FF0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8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63B2B-AF03-07AD-EE0A-B42A3C6B7980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A0A0659D-0D17-3ECD-5DAD-5C88B84A5B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72" y="408424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23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667" kern="1200" baseline="0" dirty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73A9FFC-5E32-F50E-16FF-71E12955C696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_x189390376" descr="EMB000038242a1a">
            <a:extLst>
              <a:ext uri="{FF2B5EF4-FFF2-40B4-BE49-F238E27FC236}">
                <a16:creationId xmlns:a16="http://schemas.microsoft.com/office/drawing/2014/main" id="{3B75B0BB-08A8-4824-8F99-4276338C56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C1B334-1EF5-DB6E-79C6-F0904302352B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68252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67" baseline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18D108-BBB9-0418-457E-A2BC08201BD7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162BFC0-2B93-4ACD-6516-DF91A308E5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6B1A33-C984-3543-525C-D33AE1A27553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412037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5239836" y="2955379"/>
            <a:ext cx="2004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Q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4400" b="0" dirty="0">
                <a:solidFill>
                  <a:srgbClr val="24549C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&amp;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A77E5-BC2C-5174-FE30-64288EF652B5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57695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388D911-2050-41D3-35D1-D680581078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204" y="2856850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6165299" y="2955379"/>
            <a:ext cx="28087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감사합니다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2F4C66-AEE7-4773-FBFC-D3B3A41A27E7}"/>
              </a:ext>
            </a:extLst>
          </p:cNvPr>
          <p:cNvSpPr txBox="1"/>
          <p:nvPr userDrawn="1"/>
        </p:nvSpPr>
        <p:spPr>
          <a:xfrm flipH="1">
            <a:off x="6568807" y="37248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9EEB4C2-158E-04B1-36F8-7F9B0E2539F0}"/>
              </a:ext>
            </a:extLst>
          </p:cNvPr>
          <p:cNvCxnSpPr>
            <a:cxnSpLocks/>
          </p:cNvCxnSpPr>
          <p:nvPr userDrawn="1"/>
        </p:nvCxnSpPr>
        <p:spPr>
          <a:xfrm>
            <a:off x="6210300" y="3724820"/>
            <a:ext cx="261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5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78000" y="365126"/>
            <a:ext cx="9575800" cy="782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55E2E-83CD-4389-B2E3-FB6950584B2A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1AF2F3-873C-4833-A021-6053E3D69AA7}"/>
              </a:ext>
            </a:extLst>
          </p:cNvPr>
          <p:cNvSpPr/>
          <p:nvPr userDrawn="1"/>
        </p:nvSpPr>
        <p:spPr>
          <a:xfrm>
            <a:off x="0" y="-25400"/>
            <a:ext cx="12192000" cy="211667"/>
          </a:xfrm>
          <a:prstGeom prst="rect">
            <a:avLst/>
          </a:prstGeom>
          <a:solidFill>
            <a:srgbClr val="245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6029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8" r:id="rId4"/>
    <p:sldLayoutId id="2147483667" r:id="rId5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D07D6-7EED-E5FD-9A0C-A37F9EB36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0" y="1122363"/>
            <a:ext cx="10180320" cy="2387600"/>
          </a:xfrm>
        </p:spPr>
        <p:txBody>
          <a:bodyPr/>
          <a:lstStyle/>
          <a:p>
            <a:r>
              <a:rPr lang="en-US" altLang="ko-KR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[2026 QI] </a:t>
            </a:r>
            <a:r>
              <a:rPr lang="en-US" altLang="ko-KR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WeValue</a:t>
            </a:r>
            <a:r>
              <a:rPr lang="ko-KR" altLang="en-US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우리가치</a:t>
            </a:r>
            <a:endParaRPr lang="ko-KR" altLang="en-US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DA704A-5687-F92C-E2BA-36DBE2787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1088" y="3602038"/>
            <a:ext cx="4509824" cy="425566"/>
          </a:xfrm>
        </p:spPr>
        <p:txBody>
          <a:bodyPr wrap="none">
            <a:spAutoFit/>
          </a:bodyPr>
          <a:lstStyle/>
          <a:p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[CS] Thoracostomy 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시술준비 물품</a:t>
            </a:r>
            <a:endParaRPr lang="en-US" altLang="ko-KR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0BED0-0BE7-4C72-B4A1-4E4F31CA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[CS] Thoracostomy </a:t>
            </a:r>
            <a:r>
              <a:rPr lang="ko-KR" altLang="en-US" dirty="0"/>
              <a:t>시술준비 물품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E99B470-00A7-47C9-BCD7-9BBDBEEDD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150620"/>
              </p:ext>
            </p:extLst>
          </p:nvPr>
        </p:nvGraphicFramePr>
        <p:xfrm>
          <a:off x="2016557" y="4103827"/>
          <a:ext cx="8158886" cy="2169976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073197">
                  <a:extLst>
                    <a:ext uri="{9D8B030D-6E8A-4147-A177-3AD203B41FA5}">
                      <a16:colId xmlns:a16="http://schemas.microsoft.com/office/drawing/2014/main" val="3516299657"/>
                    </a:ext>
                  </a:extLst>
                </a:gridCol>
                <a:gridCol w="2081744">
                  <a:extLst>
                    <a:ext uri="{9D8B030D-6E8A-4147-A177-3AD203B41FA5}">
                      <a16:colId xmlns:a16="http://schemas.microsoft.com/office/drawing/2014/main" val="2761923077"/>
                    </a:ext>
                  </a:extLst>
                </a:gridCol>
                <a:gridCol w="5003945">
                  <a:extLst>
                    <a:ext uri="{9D8B030D-6E8A-4147-A177-3AD203B41FA5}">
                      <a16:colId xmlns:a16="http://schemas.microsoft.com/office/drawing/2014/main" val="2959162197"/>
                    </a:ext>
                  </a:extLst>
                </a:gridCol>
              </a:tblGrid>
              <a:tr h="2455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effectLst/>
                          <a:latin typeface="+mj-lt"/>
                        </a:rPr>
                        <a:t>구분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effectLst/>
                          <a:latin typeface="+mj-lt"/>
                        </a:rPr>
                        <a:t>품목 명칭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effectLst/>
                          <a:latin typeface="+mj-lt"/>
                        </a:rPr>
                        <a:t>비고 및 세부사항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053668400"/>
                  </a:ext>
                </a:extLst>
              </a:tr>
              <a:tr h="45093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effectLst/>
                          <a:latin typeface="+mj-lt"/>
                        </a:rPr>
                        <a:t>Main Set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effectLst/>
                          <a:latin typeface="+mj-lt"/>
                        </a:rPr>
                        <a:t>Thoracostomy Set</a:t>
                      </a: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 dirty="0">
                          <a:effectLst/>
                          <a:latin typeface="+mj-lt"/>
                        </a:rPr>
                        <a:t>Suture set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027645969"/>
                  </a:ext>
                </a:extLst>
              </a:tr>
              <a:tr h="2455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effectLst/>
                          <a:latin typeface="+mj-lt"/>
                        </a:rPr>
                        <a:t>소모품 </a:t>
                      </a:r>
                      <a:r>
                        <a:rPr lang="en-US" altLang="ko-KR" sz="1200" kern="0" spc="0">
                          <a:effectLst/>
                          <a:latin typeface="+mj-lt"/>
                        </a:rPr>
                        <a:t>(</a:t>
                      </a:r>
                      <a:r>
                        <a:rPr lang="ko-KR" altLang="en-US" sz="1200" kern="0" spc="0">
                          <a:effectLst/>
                          <a:latin typeface="+mj-lt"/>
                        </a:rPr>
                        <a:t>거즈</a:t>
                      </a:r>
                      <a:r>
                        <a:rPr lang="en-US" altLang="ko-KR" sz="1200" kern="0" spc="0">
                          <a:effectLst/>
                          <a:latin typeface="+mj-lt"/>
                        </a:rPr>
                        <a:t>)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0">
                          <a:effectLst/>
                          <a:latin typeface="+mj-lt"/>
                        </a:rPr>
                        <a:t>4*4 </a:t>
                      </a:r>
                      <a:r>
                        <a:rPr lang="ko-KR" altLang="en-US" sz="1200" kern="0" spc="0">
                          <a:effectLst/>
                          <a:latin typeface="+mj-lt"/>
                        </a:rPr>
                        <a:t>거즈</a:t>
                      </a:r>
                      <a:r>
                        <a:rPr lang="en-US" altLang="ko-KR" sz="1200" kern="0" spc="0">
                          <a:effectLst/>
                          <a:latin typeface="+mj-lt"/>
                        </a:rPr>
                        <a:t>, 2X2 Y-</a:t>
                      </a:r>
                      <a:r>
                        <a:rPr lang="ko-KR" altLang="en-US" sz="1200" kern="0" spc="0">
                          <a:effectLst/>
                          <a:latin typeface="+mj-lt"/>
                        </a:rPr>
                        <a:t>거즈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effectLst/>
                          <a:latin typeface="+mj-lt"/>
                        </a:rPr>
                        <a:t>삽입 부위 소독 및 흉관 삽입 부위 고정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754265920"/>
                  </a:ext>
                </a:extLst>
              </a:tr>
              <a:tr h="2455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effectLst/>
                          <a:latin typeface="+mj-lt"/>
                        </a:rPr>
                        <a:t>소독액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effectLst/>
                          <a:latin typeface="+mj-lt"/>
                        </a:rPr>
                        <a:t>Betadine,H2O2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effectLst/>
                          <a:latin typeface="+mj-lt"/>
                        </a:rPr>
                        <a:t>시술 부위 광범위 소독 </a:t>
                      </a:r>
                      <a:r>
                        <a:rPr lang="en-US" altLang="ko-KR" sz="1200" kern="0" spc="0" dirty="0">
                          <a:effectLst/>
                          <a:latin typeface="+mj-lt"/>
                        </a:rPr>
                        <a:t>(Bowl</a:t>
                      </a:r>
                      <a:r>
                        <a:rPr lang="ko-KR" altLang="en-US" sz="1200" kern="0" spc="0" dirty="0">
                          <a:effectLst/>
                          <a:latin typeface="+mj-lt"/>
                        </a:rPr>
                        <a:t>에 준비</a:t>
                      </a:r>
                      <a:r>
                        <a:rPr lang="en-US" altLang="ko-KR" sz="1200" kern="0" spc="0" dirty="0">
                          <a:effectLst/>
                          <a:latin typeface="+mj-lt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290566027"/>
                  </a:ext>
                </a:extLst>
              </a:tr>
              <a:tr h="2455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effectLst/>
                          <a:latin typeface="+mj-lt"/>
                        </a:rPr>
                        <a:t>봉합사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effectLst/>
                          <a:latin typeface="+mj-lt"/>
                        </a:rPr>
                        <a:t>Monosof 2-0 (Suture)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effectLst/>
                          <a:latin typeface="+mj-lt"/>
                        </a:rPr>
                        <a:t>흉관 고정용 봉합사 </a:t>
                      </a:r>
                      <a:r>
                        <a:rPr lang="en-US" altLang="ko-KR" sz="1200" kern="0" spc="0" dirty="0">
                          <a:effectLst/>
                          <a:latin typeface="+mj-lt"/>
                        </a:rPr>
                        <a:t>(Monofilament </a:t>
                      </a:r>
                      <a:r>
                        <a:rPr lang="ko-KR" altLang="en-US" sz="1200" kern="0" spc="0" dirty="0">
                          <a:effectLst/>
                          <a:latin typeface="+mj-lt"/>
                        </a:rPr>
                        <a:t>추천</a:t>
                      </a:r>
                      <a:r>
                        <a:rPr lang="en-US" altLang="ko-KR" sz="1200" kern="0" spc="0" dirty="0">
                          <a:effectLst/>
                          <a:latin typeface="+mj-lt"/>
                        </a:rPr>
                        <a:t>)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391817945"/>
                  </a:ext>
                </a:extLst>
              </a:tr>
              <a:tr h="2455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effectLst/>
                          <a:latin typeface="+mj-lt"/>
                        </a:rPr>
                        <a:t>흉관 </a:t>
                      </a:r>
                      <a:r>
                        <a:rPr lang="en-US" altLang="ko-KR" sz="1200" kern="0" spc="0">
                          <a:effectLst/>
                          <a:latin typeface="+mj-lt"/>
                        </a:rPr>
                        <a:t>(</a:t>
                      </a:r>
                      <a:r>
                        <a:rPr lang="en-US" sz="1200" kern="0" spc="0">
                          <a:effectLst/>
                          <a:latin typeface="+mj-lt"/>
                        </a:rPr>
                        <a:t>Tube)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effectLst/>
                          <a:latin typeface="+mj-lt"/>
                        </a:rPr>
                        <a:t>Chest Tube (28Fr / 12Fr)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effectLst/>
                          <a:latin typeface="+mj-lt"/>
                        </a:rPr>
                        <a:t>환자 상태 및 적응증에 따라 사이즈 선택 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422802498"/>
                  </a:ext>
                </a:extLst>
              </a:tr>
              <a:tr h="2455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effectLst/>
                          <a:latin typeface="+mj-lt"/>
                        </a:rPr>
                        <a:t>배액 장치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effectLst/>
                          <a:latin typeface="+mj-lt"/>
                        </a:rPr>
                        <a:t>Sinapi LEVO 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effectLst/>
                          <a:latin typeface="+mj-lt"/>
                        </a:rPr>
                        <a:t>품목코드</a:t>
                      </a:r>
                      <a:r>
                        <a:rPr lang="en-US" altLang="ko-KR" sz="1200" kern="0" spc="0" dirty="0">
                          <a:effectLst/>
                          <a:latin typeface="+mj-lt"/>
                        </a:rPr>
                        <a:t>:</a:t>
                      </a:r>
                      <a:r>
                        <a:rPr lang="en-US" sz="1200" kern="0" spc="0" dirty="0">
                          <a:effectLst/>
                          <a:latin typeface="+mj-lt"/>
                        </a:rPr>
                        <a:t>MTK3017016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015451897"/>
                  </a:ext>
                </a:extLst>
              </a:tr>
              <a:tr h="24557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>
                          <a:effectLst/>
                          <a:latin typeface="+mj-lt"/>
                        </a:rPr>
                        <a:t>기타</a:t>
                      </a:r>
                      <a:endParaRPr lang="ko-KR" alt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0">
                          <a:effectLst/>
                          <a:latin typeface="+mj-lt"/>
                        </a:rPr>
                        <a:t>Lidocaine</a:t>
                      </a:r>
                      <a:endParaRPr lang="en-US" sz="1200" kern="0" spc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0" dirty="0">
                          <a:effectLst/>
                          <a:latin typeface="+mj-lt"/>
                        </a:rPr>
                        <a:t>시술 부위 마취용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471989388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AF8A3864-BFA7-4785-BE9B-72D83E76D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7177" y="1622690"/>
            <a:ext cx="2197248" cy="210806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229FCF3-406B-4A74-8723-6DDAE61D0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630" y="1622690"/>
            <a:ext cx="3037554" cy="210806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8396C14-DF0A-42B5-911C-77E3F507CD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498" y="1622690"/>
            <a:ext cx="3487807" cy="210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6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8889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897</TotalTime>
  <Words>104</Words>
  <Application>Microsoft Office PowerPoint</Application>
  <PresentationFormat>와이드스크린</PresentationFormat>
  <Paragraphs>27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KoPub돋움체 Bold</vt:lpstr>
      <vt:lpstr>KoPub돋움체 Light</vt:lpstr>
      <vt:lpstr>맑은 고딕</vt:lpstr>
      <vt:lpstr>Arial</vt:lpstr>
      <vt:lpstr>1_Office 테마</vt:lpstr>
      <vt:lpstr>[2026 QI] WeValue 우리가치</vt:lpstr>
      <vt:lpstr>[CS] Thoracostomy 시술준비 물품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[2026 QI] WeValue 우리가치</dc:title>
  <dc:creator>성민 임</dc:creator>
  <cp:lastModifiedBy>rahee</cp:lastModifiedBy>
  <cp:revision>871</cp:revision>
  <dcterms:created xsi:type="dcterms:W3CDTF">2026-03-04T12:11:45Z</dcterms:created>
  <dcterms:modified xsi:type="dcterms:W3CDTF">2026-04-24T15:50:24Z</dcterms:modified>
</cp:coreProperties>
</file>