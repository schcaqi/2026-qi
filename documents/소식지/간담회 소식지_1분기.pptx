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58" r:id="rId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33CC"/>
    <a:srgbClr val="FFFF66"/>
    <a:srgbClr val="FFCC00"/>
    <a:srgbClr val="CCCC00"/>
    <a:srgbClr val="7CB953"/>
    <a:srgbClr val="FF99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46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21B7C7-040C-433E-8DE6-B1622BF9D35D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F7175B-0A31-44A6-B787-A2D9B36E4E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011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790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5E340FC6-E6A7-455E-9AAA-6F936E8A105E}"/>
              </a:ext>
            </a:extLst>
          </p:cNvPr>
          <p:cNvGrpSpPr/>
          <p:nvPr userDrawn="1"/>
        </p:nvGrpSpPr>
        <p:grpSpPr>
          <a:xfrm>
            <a:off x="733926" y="427121"/>
            <a:ext cx="10724148" cy="6151936"/>
            <a:chOff x="1313447" y="2498453"/>
            <a:chExt cx="9565105" cy="3693694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E4E6D6D-9129-4B79-ADBC-381BD77AD1C4}"/>
                </a:ext>
              </a:extLst>
            </p:cNvPr>
            <p:cNvSpPr/>
            <p:nvPr/>
          </p:nvSpPr>
          <p:spPr>
            <a:xfrm>
              <a:off x="1313447" y="2498453"/>
              <a:ext cx="9565105" cy="3693694"/>
            </a:xfrm>
            <a:prstGeom prst="roundRect">
              <a:avLst>
                <a:gd name="adj" fmla="val 47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0A5FAE2-5280-49F7-A6E8-CA0897BC2E16}"/>
                </a:ext>
              </a:extLst>
            </p:cNvPr>
            <p:cNvSpPr/>
            <p:nvPr/>
          </p:nvSpPr>
          <p:spPr>
            <a:xfrm>
              <a:off x="1341521" y="2516513"/>
              <a:ext cx="9486900" cy="3644660"/>
            </a:xfrm>
            <a:prstGeom prst="roundRect">
              <a:avLst>
                <a:gd name="adj" fmla="val 4580"/>
              </a:avLst>
            </a:prstGeom>
            <a:noFill/>
            <a:ln w="28575">
              <a:solidFill>
                <a:srgbClr val="FF33C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17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B7963D1-7E24-46B1-BF38-979F5FF2924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9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9" r:id="rId2"/>
    <p:sldLayoutId id="214748368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C0B81C4-DDA1-480F-9A1B-138B75EACC76}"/>
              </a:ext>
            </a:extLst>
          </p:cNvPr>
          <p:cNvSpPr txBox="1"/>
          <p:nvPr/>
        </p:nvSpPr>
        <p:spPr>
          <a:xfrm>
            <a:off x="847694" y="1446498"/>
            <a:ext cx="10239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dirty="0">
                <a:solidFill>
                  <a:schemeClr val="accent6">
                    <a:lumMod val="50000"/>
                  </a:schemeClr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1</a:t>
            </a:r>
            <a:r>
              <a:rPr lang="ko-KR" altLang="en-US" sz="6600" b="1" dirty="0">
                <a:solidFill>
                  <a:schemeClr val="accent6">
                    <a:lumMod val="50000"/>
                  </a:schemeClr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분기 간담회 </a:t>
            </a:r>
            <a:r>
              <a:rPr lang="ko-KR" altLang="en-US" sz="6600" dirty="0">
                <a:solidFill>
                  <a:schemeClr val="accent6">
                    <a:lumMod val="50000"/>
                  </a:schemeClr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소식을 전해드립니다</a:t>
            </a:r>
            <a:r>
              <a:rPr lang="en-US" altLang="ko-KR" sz="6600" dirty="0">
                <a:solidFill>
                  <a:schemeClr val="accent6">
                    <a:lumMod val="50000"/>
                  </a:schemeClr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. </a:t>
            </a:r>
            <a:endParaRPr lang="ko-KR" altLang="en-US" sz="6600" dirty="0">
              <a:solidFill>
                <a:schemeClr val="accent6">
                  <a:lumMod val="50000"/>
                </a:schemeClr>
              </a:solidFill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E71A6-1347-4152-B703-DE570C5FA351}"/>
              </a:ext>
            </a:extLst>
          </p:cNvPr>
          <p:cNvSpPr txBox="1"/>
          <p:nvPr/>
        </p:nvSpPr>
        <p:spPr>
          <a:xfrm>
            <a:off x="1280831" y="431562"/>
            <a:ext cx="39950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b="1" dirty="0">
                <a:solidFill>
                  <a:srgbClr val="FFFF66"/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설레는 봄</a:t>
            </a:r>
            <a:endParaRPr lang="ko-KR" altLang="en-US" sz="6600" dirty="0">
              <a:solidFill>
                <a:srgbClr val="FFFF66"/>
              </a:solidFill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8CE5FE-DAAE-441F-8E94-287A4EF961B3}"/>
              </a:ext>
            </a:extLst>
          </p:cNvPr>
          <p:cNvGrpSpPr/>
          <p:nvPr/>
        </p:nvGrpSpPr>
        <p:grpSpPr>
          <a:xfrm>
            <a:off x="2349165" y="2600721"/>
            <a:ext cx="7493669" cy="3693694"/>
            <a:chOff x="1313447" y="2498453"/>
            <a:chExt cx="9565105" cy="369369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48DBF427-9ADD-4D26-B09B-201A9E6C3CEC}"/>
                </a:ext>
              </a:extLst>
            </p:cNvPr>
            <p:cNvSpPr/>
            <p:nvPr/>
          </p:nvSpPr>
          <p:spPr>
            <a:xfrm>
              <a:off x="1313447" y="2498453"/>
              <a:ext cx="9565105" cy="3693694"/>
            </a:xfrm>
            <a:prstGeom prst="roundRect">
              <a:avLst>
                <a:gd name="adj" fmla="val 65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F659C58B-847E-46AB-9203-84948312E128}"/>
                </a:ext>
              </a:extLst>
            </p:cNvPr>
            <p:cNvSpPr/>
            <p:nvPr/>
          </p:nvSpPr>
          <p:spPr>
            <a:xfrm>
              <a:off x="1341521" y="2529427"/>
              <a:ext cx="9486900" cy="3631746"/>
            </a:xfrm>
            <a:prstGeom prst="roundRect">
              <a:avLst>
                <a:gd name="adj" fmla="val 6569"/>
              </a:avLst>
            </a:prstGeom>
            <a:noFill/>
            <a:ln w="28575">
              <a:solidFill>
                <a:srgbClr val="FF33C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22CF227-7F37-404E-AFE4-9682C924ECEB}"/>
              </a:ext>
            </a:extLst>
          </p:cNvPr>
          <p:cNvSpPr txBox="1"/>
          <p:nvPr/>
        </p:nvSpPr>
        <p:spPr>
          <a:xfrm>
            <a:off x="2813503" y="3082854"/>
            <a:ext cx="6564993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1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차간담회</a:t>
            </a:r>
            <a:endParaRPr lang="en-US" altLang="ko-KR" dirty="0">
              <a:solidFill>
                <a:schemeClr val="accent6">
                  <a:lumMod val="50000"/>
                </a:schemeClr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342900" indent="-3429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일정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:2026.3.26 </a:t>
            </a:r>
          </a:p>
          <a:p>
            <a:pPr marL="342900" indent="-3429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장소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 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신경과 외래 다학제실</a:t>
            </a:r>
          </a:p>
          <a:p>
            <a:pPr marL="342900" indent="-342900">
              <a:lnSpc>
                <a:spcPct val="150000"/>
              </a:lnSpc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v"/>
            </a:pP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참석자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	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협업병동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(92.131.141.142 )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대표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1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인</a:t>
            </a:r>
            <a:endParaRPr lang="en-US" altLang="ko-KR" dirty="0">
              <a:solidFill>
                <a:schemeClr val="accent6">
                  <a:lumMod val="50000"/>
                </a:schemeClr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	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협업과 대표 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PA</a:t>
            </a:r>
            <a:endParaRPr lang="ko-KR" altLang="en-US" dirty="0">
              <a:solidFill>
                <a:schemeClr val="accent6">
                  <a:lumMod val="50000"/>
                </a:schemeClr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917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A90E214-CD60-4B1E-A24F-066E3B5A1721}"/>
              </a:ext>
            </a:extLst>
          </p:cNvPr>
          <p:cNvSpPr/>
          <p:nvPr/>
        </p:nvSpPr>
        <p:spPr>
          <a:xfrm>
            <a:off x="3917358" y="553401"/>
            <a:ext cx="4357283" cy="6207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160000"/>
              </a:lnSpc>
            </a:pPr>
            <a:r>
              <a:rPr lang="en-US" altLang="ko-KR" sz="2400" b="1" kern="0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2026 QI </a:t>
            </a:r>
            <a:r>
              <a:rPr lang="ko-KR" altLang="en-US" sz="2400" b="1" kern="0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활동 </a:t>
            </a:r>
            <a:r>
              <a:rPr lang="en-US" altLang="ko-KR" sz="2400" b="1" kern="0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1</a:t>
            </a:r>
            <a:r>
              <a:rPr lang="ko-KR" altLang="en-US" sz="2400" b="1" kern="0" dirty="0">
                <a:solidFill>
                  <a:schemeClr val="accent6">
                    <a:lumMod val="50000"/>
                  </a:schemeClr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차 간담회 보고서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013D3A-23E2-46A0-B726-C7058C5566DC}"/>
              </a:ext>
            </a:extLst>
          </p:cNvPr>
          <p:cNvSpPr/>
          <p:nvPr/>
        </p:nvSpPr>
        <p:spPr>
          <a:xfrm>
            <a:off x="976390" y="1334008"/>
            <a:ext cx="4798767" cy="1023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fontAlgn="base" latinLnBrk="1">
              <a:spcBef>
                <a:spcPts val="100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1.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부서별 책임자</a:t>
            </a:r>
          </a:p>
          <a:p>
            <a:pPr marL="190500" marR="0" indent="0" algn="just" fontAlgn="base" latinLnBrk="1">
              <a:spcBef>
                <a:spcPts val="50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92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병동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정수미 계장 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| 131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병동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 err="1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김미령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계장</a:t>
            </a:r>
          </a:p>
          <a:p>
            <a:pPr marL="190500" marR="0" indent="0" algn="just" fontAlgn="base" latinLnBrk="1">
              <a:spcBef>
                <a:spcPts val="50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141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병동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박지현 계장 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| 142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병동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김은경 계장</a:t>
            </a:r>
          </a:p>
          <a:p>
            <a:pPr marL="190500" marR="0" indent="0" algn="just" fontAlgn="base" latinLnBrk="1">
              <a:spcBef>
                <a:spcPts val="50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PA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팀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이미자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2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외 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10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17FAC7-D442-451C-9A96-2297CA6ECCF4}"/>
              </a:ext>
            </a:extLst>
          </p:cNvPr>
          <p:cNvSpPr/>
          <p:nvPr/>
        </p:nvSpPr>
        <p:spPr>
          <a:xfrm>
            <a:off x="976390" y="2610628"/>
            <a:ext cx="4798767" cy="2949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fontAlgn="base" latinLnBrk="1">
              <a:spcBef>
                <a:spcPts val="100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2.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회의 내용</a:t>
            </a:r>
          </a:p>
          <a:p>
            <a:pPr marL="355600" marR="0" indent="-228600" fontAlgn="base" latinLnBrk="1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병동간호사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-PA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간 의사소통에 대한 문제점 제시</a:t>
            </a:r>
            <a:b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</a:br>
            <a:r>
              <a:rPr lang="ko-KR" altLang="en-US" sz="12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사내 메신저 운영</a:t>
            </a:r>
            <a:r>
              <a:rPr lang="en-US" altLang="ko-KR" sz="12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'</a:t>
            </a:r>
            <a:r>
              <a:rPr lang="ko-KR" altLang="en-US" sz="12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기다림 없는 소통</a:t>
            </a:r>
            <a:r>
              <a:rPr lang="en-US" altLang="ko-KR" sz="12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'</a:t>
            </a:r>
            <a:r>
              <a:rPr lang="ko-KR" altLang="en-US" sz="12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을 위해 </a:t>
            </a:r>
            <a:r>
              <a:rPr lang="en-US" altLang="ko-KR" sz="12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ACD </a:t>
            </a:r>
            <a:r>
              <a:rPr lang="ko-KR" altLang="en-US" sz="12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루프 및 표준 약속 문구 도입설명 및 공동 보완 작업 합의</a:t>
            </a:r>
          </a:p>
          <a:p>
            <a:pPr marL="355600" marR="0" indent="-228600" fontAlgn="base" latinLnBrk="1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QR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칭찬 게시판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'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보이지 않는 헌신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'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을 공유하여 서로를 최고의 파트너로 인정하는 문화 조성 설명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.</a:t>
            </a:r>
            <a:endParaRPr lang="ko-KR" altLang="en-US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55600" marR="0" indent="-228600" fontAlgn="base" latinLnBrk="1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200" b="1" kern="0" dirty="0" err="1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온디맨드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(On-demand)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교육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현장 요청 주제 중심의 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3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분 핵심 영상 및 카드뉴스 제공 설명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.</a:t>
            </a:r>
            <a:endParaRPr lang="ko-KR" altLang="en-US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55600" marR="0" indent="-228600" fontAlgn="base" latinLnBrk="1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정기 간담회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분기별 현장 점검을 통해 불편한 규칙은 폐기하고 실효성 있는 제도로 수정 설명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.</a:t>
            </a:r>
            <a:endParaRPr lang="ko-KR" altLang="en-US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55600" marR="0" indent="-228600" fontAlgn="base" latinLnBrk="1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회진 후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(Post-Rounding)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환자치료 변경에 대한 공유 필요성 제시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14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층 중심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7CF98A-900D-4B09-BE14-3884999D195A}"/>
              </a:ext>
            </a:extLst>
          </p:cNvPr>
          <p:cNvSpPr/>
          <p:nvPr/>
        </p:nvSpPr>
        <p:spPr>
          <a:xfrm>
            <a:off x="6096000" y="1334008"/>
            <a:ext cx="4798767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 fontAlgn="base" latinLnBrk="1">
              <a:spcBef>
                <a:spcPts val="100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3.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합의 사항 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(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소통 표준 프로토콜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) 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표준 체계 시범 도입 논의</a:t>
            </a:r>
            <a:endParaRPr lang="en-US" altLang="ko-KR" sz="1200" b="1" kern="0" dirty="0">
              <a:solidFill>
                <a:srgbClr val="000000"/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409575" indent="-228600" algn="just" fontAlgn="base" latinLnBrk="1">
              <a:spcBef>
                <a:spcPts val="1000"/>
              </a:spcBef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전 병동 공통 표준 태그 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(10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종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)</a:t>
            </a:r>
          </a:p>
          <a:p>
            <a:pPr marL="409575" indent="-228600" algn="just" fontAlgn="base" latinLnBrk="1">
              <a:spcBef>
                <a:spcPts val="1000"/>
              </a:spcBef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업무 우선순위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10/4/12 </a:t>
            </a:r>
            <a:r>
              <a:rPr lang="ko-KR" altLang="en-US" sz="1200" b="1" kern="0" dirty="0" err="1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골든타임</a:t>
            </a:r>
            <a:endParaRPr lang="en-US" altLang="ko-KR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409575" indent="-228600" algn="just" fontAlgn="base" latinLnBrk="1">
              <a:spcBef>
                <a:spcPts val="1000"/>
              </a:spcBef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회진 후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(Post-Rounding)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우선순위 공유</a:t>
            </a:r>
            <a:endParaRPr lang="en-US" altLang="ko-KR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409575" indent="-228600" algn="just" fontAlgn="base" latinLnBrk="1">
              <a:spcBef>
                <a:spcPts val="1000"/>
              </a:spcBef>
              <a:buFont typeface="+mj-lt"/>
              <a:buAutoNum type="arabicParenR"/>
            </a:pPr>
            <a:endParaRPr lang="en-US" altLang="ko-KR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algn="just" fontAlgn="base" latinLnBrk="1">
              <a:spcBef>
                <a:spcPts val="1000"/>
              </a:spcBef>
            </a:pPr>
            <a:r>
              <a:rPr lang="en-US" altLang="ko-KR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4.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현장 관리 및 안전 수칙</a:t>
            </a:r>
            <a:endParaRPr lang="en-US" altLang="ko-KR" sz="1200" b="1" kern="0" dirty="0">
              <a:solidFill>
                <a:srgbClr val="000000"/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180975" algn="just" fontAlgn="base" latinLnBrk="1">
              <a:spcBef>
                <a:spcPts val="1000"/>
              </a:spcBef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메신저 관리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메신저 밀림방지</a:t>
            </a:r>
          </a:p>
          <a:p>
            <a:pPr marL="180975" algn="just" fontAlgn="base" latinLnBrk="1">
              <a:spcBef>
                <a:spcPts val="1000"/>
              </a:spcBef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인계 강화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교대 근무 시 미해결 업무 리스트 </a:t>
            </a:r>
          </a:p>
          <a:p>
            <a:pPr marL="180975" algn="just" fontAlgn="base" latinLnBrk="1">
              <a:spcBef>
                <a:spcPts val="1000"/>
              </a:spcBef>
              <a:buFont typeface="+mj-lt"/>
              <a:buAutoNum type="arabicParenR"/>
            </a:pPr>
            <a:r>
              <a:rPr lang="ko-KR" altLang="en-US" sz="1200" b="1" kern="0" dirty="0" err="1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오송신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대응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다른 과 방에 </a:t>
            </a:r>
            <a:r>
              <a:rPr lang="ko-KR" altLang="en-US" sz="1200" b="1" kern="0" dirty="0" err="1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오발송</a:t>
            </a:r>
            <a:endParaRPr lang="ko-KR" altLang="en-US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180975" algn="just" fontAlgn="base" latinLnBrk="1">
              <a:spcBef>
                <a:spcPts val="1000"/>
              </a:spcBef>
              <a:buFont typeface="+mj-lt"/>
              <a:buAutoNum type="arabicParenR"/>
            </a:pP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정보 보완</a:t>
            </a:r>
            <a:r>
              <a:rPr lang="en-US" altLang="ko-KR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개인정보 노출 금지</a:t>
            </a:r>
            <a:endParaRPr lang="en-US" altLang="ko-KR" sz="1200" b="1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297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F947E999-2B0A-4C72-BDB2-945A5C4F0D10}"/>
              </a:ext>
            </a:extLst>
          </p:cNvPr>
          <p:cNvGrpSpPr/>
          <p:nvPr/>
        </p:nvGrpSpPr>
        <p:grpSpPr>
          <a:xfrm>
            <a:off x="980575" y="1810752"/>
            <a:ext cx="10230850" cy="4211052"/>
            <a:chOff x="1313447" y="2498453"/>
            <a:chExt cx="9565105" cy="3693694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016CFDB-00B5-4CCE-B232-4A8AB27AC82A}"/>
                </a:ext>
              </a:extLst>
            </p:cNvPr>
            <p:cNvSpPr/>
            <p:nvPr/>
          </p:nvSpPr>
          <p:spPr>
            <a:xfrm>
              <a:off x="1313447" y="2498453"/>
              <a:ext cx="9565105" cy="3693694"/>
            </a:xfrm>
            <a:prstGeom prst="roundRect">
              <a:avLst>
                <a:gd name="adj" fmla="val 65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A8198F0-A13E-49F2-843E-99CD35D8DF46}"/>
                </a:ext>
              </a:extLst>
            </p:cNvPr>
            <p:cNvSpPr/>
            <p:nvPr/>
          </p:nvSpPr>
          <p:spPr>
            <a:xfrm>
              <a:off x="1341521" y="2512905"/>
              <a:ext cx="9486900" cy="3652810"/>
            </a:xfrm>
            <a:prstGeom prst="roundRect">
              <a:avLst>
                <a:gd name="adj" fmla="val 6569"/>
              </a:avLst>
            </a:prstGeom>
            <a:noFill/>
            <a:ln w="28575">
              <a:solidFill>
                <a:srgbClr val="FF33C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DE91DA0-6204-4DE9-A238-CB344B5EC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484" y="2175820"/>
            <a:ext cx="7251032" cy="3503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DA0EBC-42DF-49A1-88BF-5AA9CA4A5E3A}"/>
              </a:ext>
            </a:extLst>
          </p:cNvPr>
          <p:cNvSpPr txBox="1"/>
          <p:nvPr/>
        </p:nvSpPr>
        <p:spPr>
          <a:xfrm>
            <a:off x="847694" y="755058"/>
            <a:ext cx="10239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solidFill>
                  <a:schemeClr val="accent6">
                    <a:lumMod val="50000"/>
                  </a:schemeClr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간담회 현장</a:t>
            </a:r>
            <a:r>
              <a:rPr lang="en-US" altLang="ko-KR" sz="6600" dirty="0">
                <a:solidFill>
                  <a:schemeClr val="accent6">
                    <a:lumMod val="50000"/>
                  </a:schemeClr>
                </a:solidFill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...</a:t>
            </a:r>
            <a:endParaRPr lang="ko-KR" altLang="en-US" sz="6600" dirty="0">
              <a:solidFill>
                <a:schemeClr val="accent6">
                  <a:lumMod val="50000"/>
                </a:schemeClr>
              </a:solidFill>
              <a:latin typeface="나눔손글씨 펜" panose="03040600000000000000" pitchFamily="66" charset="-127"/>
              <a:ea typeface="나눔손글씨 펜" panose="03040600000000000000" pitchFamily="66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6091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251</Words>
  <Application>Microsoft Office PowerPoint</Application>
  <PresentationFormat>와이드스크린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나눔스퀘어라운드OTF ExtraBold</vt:lpstr>
      <vt:lpstr>나눔스퀘어라운드OTF Bold</vt:lpstr>
      <vt:lpstr>Wingdings</vt:lpstr>
      <vt:lpstr>Calibri Light</vt:lpstr>
      <vt:lpstr>나눔손글씨 펜</vt:lpstr>
      <vt:lpstr>Calibri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rahee</dc:creator>
  <cp:lastModifiedBy>rahee</cp:lastModifiedBy>
  <cp:revision>43</cp:revision>
  <dcterms:created xsi:type="dcterms:W3CDTF">2026-04-12T10:09:22Z</dcterms:created>
  <dcterms:modified xsi:type="dcterms:W3CDTF">2026-04-12T12:02:14Z</dcterms:modified>
</cp:coreProperties>
</file>