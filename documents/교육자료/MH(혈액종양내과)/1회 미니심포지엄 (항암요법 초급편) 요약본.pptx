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77" r:id="rId2"/>
    <p:sldId id="436" r:id="rId3"/>
    <p:sldId id="381" r:id="rId4"/>
    <p:sldId id="452" r:id="rId5"/>
    <p:sldId id="454" r:id="rId6"/>
    <p:sldId id="457" r:id="rId7"/>
    <p:sldId id="4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4997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orient="horz" pos="1752" userDrawn="1">
          <p15:clr>
            <a:srgbClr val="A4A3A4"/>
          </p15:clr>
        </p15:guide>
        <p15:guide id="6" pos="483" userDrawn="1">
          <p15:clr>
            <a:srgbClr val="A4A3A4"/>
          </p15:clr>
        </p15:guide>
        <p15:guide id="7" orient="horz" pos="867" userDrawn="1">
          <p15:clr>
            <a:srgbClr val="A4A3A4"/>
          </p15:clr>
        </p15:guide>
        <p15:guide id="8" orient="horz" pos="2364" userDrawn="1">
          <p15:clr>
            <a:srgbClr val="A4A3A4"/>
          </p15:clr>
        </p15:guide>
        <p15:guide id="9" pos="1663" userDrawn="1">
          <p15:clr>
            <a:srgbClr val="A4A3A4"/>
          </p15:clr>
        </p15:guide>
        <p15:guide id="10" pos="1391" userDrawn="1">
          <p15:clr>
            <a:srgbClr val="A4A3A4"/>
          </p15:clr>
        </p15:guide>
        <p15:guide id="11" orient="horz" pos="3748" userDrawn="1">
          <p15:clr>
            <a:srgbClr val="A4A3A4"/>
          </p15:clr>
        </p15:guide>
        <p15:guide id="12" pos="7446" userDrawn="1">
          <p15:clr>
            <a:srgbClr val="A4A3A4"/>
          </p15:clr>
        </p15:guide>
        <p15:guide id="13" orient="horz" pos="4042" userDrawn="1">
          <p15:clr>
            <a:srgbClr val="A4A3A4"/>
          </p15:clr>
        </p15:guide>
        <p15:guide id="14" pos="3545" userDrawn="1">
          <p15:clr>
            <a:srgbClr val="A4A3A4"/>
          </p15:clr>
        </p15:guide>
        <p15:guide id="15" pos="34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FF66FF"/>
    <a:srgbClr val="FF0000"/>
    <a:srgbClr val="599FD5"/>
    <a:srgbClr val="CCE2F2"/>
    <a:srgbClr val="385723"/>
    <a:srgbClr val="D9D9D9"/>
    <a:srgbClr val="0070C0"/>
    <a:srgbClr val="FFC000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10" autoAdjust="0"/>
    <p:restoredTop sz="74559" autoAdjust="0"/>
  </p:normalViewPr>
  <p:slideViewPr>
    <p:cSldViewPr snapToGrid="0">
      <p:cViewPr varScale="1">
        <p:scale>
          <a:sx n="75" d="100"/>
          <a:sy n="75" d="100"/>
        </p:scale>
        <p:origin x="2322" y="66"/>
      </p:cViewPr>
      <p:guideLst>
        <p:guide orient="horz" pos="640"/>
        <p:guide pos="3863"/>
        <p:guide pos="4997"/>
        <p:guide orient="horz" pos="1162"/>
        <p:guide orient="horz" pos="1752"/>
        <p:guide pos="483"/>
        <p:guide orient="horz" pos="867"/>
        <p:guide orient="horz" pos="2364"/>
        <p:guide pos="1663"/>
        <p:guide pos="1391"/>
        <p:guide orient="horz" pos="3748"/>
        <p:guide pos="7446"/>
        <p:guide orient="horz" pos="4042"/>
        <p:guide pos="3545"/>
        <p:guide pos="34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0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08F7E-5CF5-4F6A-A814-12DC043B6B99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E574D-A435-4A79-A5B9-53A850E15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97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말씀드린 것처럼 항암치료는 전신적으로 작용하는 치료 방법입니다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모든 환자에게 동일한 방식으로 적용되는 것은 아니며</a:t>
            </a:r>
            <a:r>
              <a:rPr lang="en-US" altLang="ko-KR" dirty="0"/>
              <a:t>, </a:t>
            </a:r>
            <a:r>
              <a:rPr lang="ko-KR" altLang="en-US" dirty="0"/>
              <a:t>암의 종류와 치료 목적</a:t>
            </a:r>
            <a:r>
              <a:rPr lang="en-US" altLang="ko-KR" dirty="0"/>
              <a:t>, </a:t>
            </a:r>
            <a:r>
              <a:rPr lang="ko-KR" altLang="en-US" dirty="0"/>
              <a:t>그리고 치료 시점에 따라 다양한 형태로 시행됩니다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고형암의 항암치료는 치료 목적과 시점에 따라 </a:t>
            </a:r>
            <a:r>
              <a:rPr lang="ko-KR" altLang="en-US" dirty="0" err="1"/>
              <a:t>근치적</a:t>
            </a:r>
            <a:r>
              <a:rPr lang="ko-KR" altLang="en-US" dirty="0"/>
              <a:t> 항암요법</a:t>
            </a:r>
            <a:r>
              <a:rPr lang="en-US" altLang="ko-KR" dirty="0"/>
              <a:t>, </a:t>
            </a:r>
            <a:r>
              <a:rPr lang="ko-KR" altLang="en-US" dirty="0"/>
              <a:t>선행항암요법</a:t>
            </a:r>
            <a:r>
              <a:rPr lang="en-US" altLang="ko-KR" dirty="0"/>
              <a:t>, </a:t>
            </a:r>
            <a:r>
              <a:rPr lang="ko-KR" altLang="en-US" dirty="0"/>
              <a:t>보조항암요법</a:t>
            </a:r>
            <a:r>
              <a:rPr lang="en-US" altLang="ko-KR" dirty="0"/>
              <a:t>, </a:t>
            </a:r>
            <a:r>
              <a:rPr lang="ko-KR" altLang="en-US" dirty="0"/>
              <a:t>완화항암요법의 네 가지로 구분할 수 있습니다★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E574D-A435-4A79-A5B9-53A850E15F7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208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반면 혈액암의 경우에는 치료 단계에 따라 관해유도요법</a:t>
            </a:r>
            <a:r>
              <a:rPr lang="en-US" altLang="ko-KR" dirty="0"/>
              <a:t>, </a:t>
            </a:r>
            <a:r>
              <a:rPr lang="ko-KR" altLang="en-US" dirty="0"/>
              <a:t>관해공고요법</a:t>
            </a:r>
            <a:r>
              <a:rPr lang="en-US" altLang="ko-KR" dirty="0"/>
              <a:t>, </a:t>
            </a:r>
            <a:r>
              <a:rPr lang="ko-KR" altLang="en-US" dirty="0"/>
              <a:t>관해유지요법으로 나누어 시행하게 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이처럼 항암치료는 환자의 질환 특성과 치료 목표에 따라 다양한 전략으로 적용됩니다★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E574D-A435-4A79-A5B9-53A850E15F7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120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/>
              <a:t>지금까지 항암치료가 어떤 목적과 시점에 따라 사용되는지 살펴보았다면</a:t>
            </a:r>
            <a:r>
              <a:rPr lang="en-US" altLang="ko-KR" dirty="0"/>
              <a:t>, </a:t>
            </a:r>
            <a:r>
              <a:rPr lang="ko-KR" altLang="en-US" dirty="0"/>
              <a:t>이번에는 항암치료 자체가 어떻게 발전해 왔는지 알아보겠습니다</a:t>
            </a:r>
            <a:r>
              <a:rPr lang="en-US" altLang="ko-KR" dirty="0"/>
              <a:t>.</a:t>
            </a:r>
            <a:endParaRPr lang="en-US" altLang="ko-KR" b="0" i="0" dirty="0">
              <a:solidFill>
                <a:srgbClr val="333333"/>
              </a:solidFill>
              <a:effectLst/>
              <a:latin typeface="nanum gothic"/>
            </a:endParaRPr>
          </a:p>
          <a:p>
            <a:pPr algn="l" fontAlgn="base"/>
            <a:endParaRPr lang="en-US" altLang="ko-KR" b="0" i="0" dirty="0">
              <a:solidFill>
                <a:srgbClr val="333333"/>
              </a:solidFill>
              <a:effectLst/>
              <a:latin typeface="nanum gothic"/>
            </a:endParaRP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항암치료는 크게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anum gothic"/>
              </a:rPr>
              <a:t>3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세대에 걸쳐 발전해 왔습니다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anum gothic"/>
              </a:rPr>
              <a:t>.</a:t>
            </a:r>
          </a:p>
          <a:p>
            <a:pPr algn="l" fontAlgn="base"/>
            <a:endParaRPr lang="en-US" altLang="ko-KR" b="0" i="0" dirty="0">
              <a:solidFill>
                <a:srgbClr val="333333"/>
              </a:solidFill>
              <a:effectLst/>
              <a:latin typeface="nanum gothic"/>
            </a:endParaRP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초기에는 암세포와 정상세포를 구분하지 않고 공격하는 방식이었다면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anum gothic"/>
              </a:rPr>
              <a:t>,</a:t>
            </a:r>
          </a:p>
          <a:p>
            <a:pPr algn="l" fontAlgn="base"/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이후에는 암세포만 선택적으로 공격하는 방식으로 발전하였고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anum gothic"/>
              </a:rPr>
              <a:t>,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최근에는 우리 몸의 면역체계를 활용하는 치료까지 발전하게 되었습니다</a:t>
            </a:r>
            <a:r>
              <a:rPr lang="ko-KR" altLang="en-US" dirty="0"/>
              <a:t>★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E574D-A435-4A79-A5B9-53A850E15F7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061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암은 단순히 발생 부위만 다른 질환이 아니라</a:t>
            </a:r>
            <a:r>
              <a:rPr lang="en-US" altLang="ko-KR" b="0" dirty="0"/>
              <a:t>, </a:t>
            </a:r>
            <a:r>
              <a:rPr lang="ko-KR" altLang="en-US" b="0" dirty="0"/>
              <a:t>각 암세포가 다양한 유전자 변이를 가지며 이러한 변이는 치료 반응에 중요한 영향을 미칩니다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r>
              <a:rPr lang="ko-KR" altLang="en-US" b="0" dirty="0"/>
              <a:t>따라서 동일한 암종이라 하더라도 환자에 따라 치료 반응에는 차이가 나타날 수 있습니다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r>
              <a:rPr lang="ko-KR" altLang="en-US" b="0" dirty="0"/>
              <a:t>이러한 차이를 설명하는 것이 바로 </a:t>
            </a:r>
            <a:r>
              <a:rPr lang="en-US" altLang="ko-KR" b="0" dirty="0"/>
              <a:t>Mutation </a:t>
            </a:r>
            <a:r>
              <a:rPr lang="ko-KR" altLang="en-US" b="0" dirty="0"/>
              <a:t>검사입니다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r>
              <a:rPr lang="en-US" altLang="ko-KR" b="0" dirty="0"/>
              <a:t>Mutation </a:t>
            </a:r>
            <a:r>
              <a:rPr lang="ko-KR" altLang="en-US" b="0" dirty="0"/>
              <a:t>검사는 암세포의 유전자 변이를 분석하여 암의 생물학적 특성을 보다 정확히 파악하고</a:t>
            </a:r>
            <a:r>
              <a:rPr lang="en-US" altLang="ko-KR" b="0" dirty="0"/>
              <a:t>, </a:t>
            </a:r>
            <a:r>
              <a:rPr lang="ko-KR" altLang="en-US" b="0" dirty="0"/>
              <a:t>이에 따라 표적치료제 선택에 도움을 줍니다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/>
              <a:t>이를 통해 치료 효과가 기대되는 환자를 선별하고</a:t>
            </a:r>
            <a:r>
              <a:rPr lang="en-US" altLang="ko-KR" b="0" dirty="0"/>
              <a:t>, </a:t>
            </a:r>
            <a:r>
              <a:rPr lang="ko-KR" altLang="en-US" b="0" dirty="0"/>
              <a:t>효과가 낮을 가능성이 있는 치료를 피함으로써 보다 합리적인 치료 전략을 수립할 수 있습니다</a:t>
            </a:r>
            <a:r>
              <a:rPr lang="en-US" altLang="ko-KR" b="0" dirty="0"/>
              <a:t>.</a:t>
            </a:r>
            <a:r>
              <a:rPr lang="ko-KR" altLang="en-US" dirty="0"/>
              <a:t>★</a:t>
            </a:r>
            <a:endParaRPr lang="en-US" altLang="ko-KR" dirty="0"/>
          </a:p>
          <a:p>
            <a:endParaRPr lang="ko-KR" altLang="en-US" b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E574D-A435-4A79-A5B9-53A850E15F7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863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암세포는 면역세포의 공격을 피하기 위해 </a:t>
            </a:r>
            <a:r>
              <a:rPr lang="en-US" altLang="ko-KR" dirty="0"/>
              <a:t>'</a:t>
            </a:r>
            <a:r>
              <a:rPr lang="ko-KR" altLang="en-US" dirty="0"/>
              <a:t>면역 브레이크</a:t>
            </a:r>
            <a:r>
              <a:rPr lang="en-US" altLang="ko-KR" dirty="0"/>
              <a:t>' </a:t>
            </a:r>
            <a:r>
              <a:rPr lang="ko-KR" altLang="en-US" dirty="0"/>
              <a:t>역할을 하는 단백질을 이용합니다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대표적으로 암세포의 </a:t>
            </a:r>
            <a:r>
              <a:rPr lang="en-US" altLang="ko-KR" dirty="0"/>
              <a:t>PD-L1</a:t>
            </a:r>
            <a:r>
              <a:rPr lang="ko-KR" altLang="en-US" dirty="0"/>
              <a:t>과 </a:t>
            </a:r>
            <a:r>
              <a:rPr lang="en-US" altLang="ko-KR" dirty="0"/>
              <a:t>T</a:t>
            </a:r>
            <a:r>
              <a:rPr lang="ko-KR" altLang="en-US" dirty="0"/>
              <a:t>세포의 </a:t>
            </a:r>
            <a:r>
              <a:rPr lang="en-US" altLang="ko-KR" dirty="0"/>
              <a:t>PD-1</a:t>
            </a:r>
            <a:r>
              <a:rPr lang="ko-KR" altLang="en-US" dirty="0"/>
              <a:t>이 결합하면 </a:t>
            </a:r>
            <a:r>
              <a:rPr lang="en-US" altLang="ko-KR" dirty="0"/>
              <a:t>T</a:t>
            </a:r>
            <a:r>
              <a:rPr lang="ko-KR" altLang="en-US" dirty="0"/>
              <a:t>세포의 공격 기능이 억제되어 암세포가 면역을 회피하게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V</a:t>
            </a:r>
            <a:r>
              <a:rPr lang="en-US" altLang="ko-KR" dirty="0"/>
              <a:t> </a:t>
            </a:r>
            <a:r>
              <a:rPr lang="ko-KR" altLang="en-US" dirty="0" err="1"/>
              <a:t>면역관문억제제는</a:t>
            </a:r>
            <a:r>
              <a:rPr lang="ko-KR" altLang="en-US" dirty="0"/>
              <a:t> 이러한 결합을 차단하여 </a:t>
            </a:r>
            <a:r>
              <a:rPr lang="en-US" altLang="ko-KR" dirty="0"/>
              <a:t>T</a:t>
            </a:r>
            <a:r>
              <a:rPr lang="ko-KR" altLang="en-US" dirty="0"/>
              <a:t>세포의 항암 기능을 회복시키고 암세포를 공격하도록 돕는 치료입니다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다만 모든 환자에서 효과가 나타나는 것은 아니므로</a:t>
            </a:r>
            <a:r>
              <a:rPr lang="en-US" altLang="ko-KR" dirty="0"/>
              <a:t>, </a:t>
            </a:r>
            <a:r>
              <a:rPr lang="ko-KR" altLang="en-US" dirty="0"/>
              <a:t>치료 효과가 기대되는 환자를 선별하기 위한 검사가 필요합니다</a:t>
            </a:r>
            <a:r>
              <a:rPr lang="en-US" altLang="ko-KR" dirty="0"/>
              <a:t>.</a:t>
            </a:r>
            <a:r>
              <a:rPr lang="ko-KR" altLang="en-US" dirty="0"/>
              <a:t>★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E574D-A435-4A79-A5B9-53A850E15F7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9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흐름 속에서 </a:t>
            </a:r>
            <a:r>
              <a:rPr lang="en-US" altLang="ko-KR" dirty="0"/>
              <a:t>NGS</a:t>
            </a:r>
            <a:r>
              <a:rPr lang="ko-KR" altLang="en-US" dirty="0"/>
              <a:t>는</a:t>
            </a:r>
            <a:br>
              <a:rPr lang="ko-KR" altLang="en-US" dirty="0"/>
            </a:br>
            <a:r>
              <a:rPr lang="ko-KR" altLang="en-US" dirty="0"/>
              <a:t>짧은 시간 안에 여러 유전자를 동시에 분석할 수 있기 때문에</a:t>
            </a:r>
            <a:br>
              <a:rPr lang="ko-KR" altLang="en-US" dirty="0"/>
            </a:br>
            <a:r>
              <a:rPr lang="ko-KR" altLang="en-US" dirty="0"/>
              <a:t>임상에서 활용도가 빠르게 증가하고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NGS </a:t>
            </a:r>
            <a:r>
              <a:rPr lang="ko-KR" altLang="en-US" dirty="0"/>
              <a:t>검사는 쉽게 말해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유전자 변이를 분석하여 질환을 보다 정밀하게 진단하고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치료 반응과 예후를 예측하며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환자에게 적합한 치료제 선택을 돕는 검사라고 보시면 됩니다</a:t>
            </a:r>
            <a:r>
              <a:rPr lang="en-US" altLang="ko-KR" dirty="0"/>
              <a:t>. </a:t>
            </a:r>
            <a:r>
              <a:rPr lang="ko-KR" altLang="en-US" dirty="0"/>
              <a:t>★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E574D-A435-4A79-A5B9-53A850E15F7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411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고형암의 반응평가 기준 입니다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아까 </a:t>
            </a:r>
            <a:r>
              <a:rPr lang="ko-KR" altLang="en-US" dirty="0" err="1"/>
              <a:t>말씀드린것과</a:t>
            </a:r>
            <a:r>
              <a:rPr lang="ko-KR" altLang="en-US" dirty="0"/>
              <a:t> 같이 치료 중 종양 크기가 </a:t>
            </a:r>
            <a:r>
              <a:rPr lang="en-US" altLang="ko-KR" dirty="0"/>
              <a:t>20% </a:t>
            </a:r>
            <a:r>
              <a:rPr lang="ko-KR" altLang="en-US" dirty="0"/>
              <a:t>이상 증가하거나 새로운 병변이 발생한 경우 </a:t>
            </a:r>
            <a:r>
              <a:rPr lang="en-US" altLang="ko-KR" dirty="0"/>
              <a:t>PD</a:t>
            </a:r>
            <a:r>
              <a:rPr lang="ko-KR" altLang="en-US" dirty="0"/>
              <a:t>로 판정하며</a:t>
            </a:r>
            <a:r>
              <a:rPr lang="en-US" altLang="ko-KR" dirty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현재 치료에 충분히 반응하지 않아 질병이 진행하고 있음을 의미하므로 치료 변경을 고려하게 됩니다</a:t>
            </a:r>
            <a:r>
              <a:rPr lang="en-US" altLang="ko-KR" dirty="0"/>
              <a:t>. </a:t>
            </a:r>
            <a:r>
              <a:rPr lang="ko-KR" altLang="en-US" dirty="0"/>
              <a:t>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E574D-A435-4A79-A5B9-53A850E15F7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1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0AF25-E6E5-4233-8BDF-A096A1443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F68CFD-F4E0-477D-A1EB-F79474901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26F9AF-9586-4D31-A11E-7D32F31D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FA7A34-A909-4975-A0C7-A7D8318F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1FE8E6-E45C-41D9-A431-0F997F62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2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35D9A-8716-4E42-A182-3AD98CCE4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0BADB-5A87-4E8A-8CBA-DC9918534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69F534-E99A-4E31-AC8F-B95F48C9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DC19B-8371-4D58-A34E-6E7947C4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0BF49C-9412-4F51-9F67-C7A7E3A8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45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C1C17-89AB-4F60-9263-DC6A483DD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CEFD4F-214E-4AE5-99DC-D31DAF6BD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FB10EB-EAAD-49CD-A3A3-5547D573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641590-52F4-4D22-BD26-2B3E11F3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BD145-42DD-41CC-99DA-7F49285E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21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A6EDD-4B0F-432B-BCCE-115703D3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22798-E8DC-470C-9A50-39CA0F94D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C222F6-CB0B-446F-A077-3FD6B893A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8639A1-DCC1-4513-8709-6549A998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8C0466-C26E-4919-A972-61C30015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28E93A-C55D-4BE0-A541-0C789192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468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5EA6A-B630-4EC4-9692-8E815C11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0BCE6A-618F-4DB1-9DDB-0F30D958C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264C59-8C88-4C88-AE37-EA0ADC32B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6B8F8B-F401-46C9-BBA8-E7F70EDB46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2C7204-63F8-4C89-B74E-53AB8FA1A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7D930C-85FF-45B4-A67E-59DA4173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6D0A21-F299-40D5-9344-B345DC91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6DD20F-D130-4440-8909-81FBFFE2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49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90BBE-2549-4A8A-B46A-345B0A07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C15FE0-7A1F-41F3-B5C9-A022D5CB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EF378B-BD21-4554-94BD-FD525A81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A2D18C-69A0-4AD6-99AB-83733E47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21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2515A3-AF07-46DF-B1C5-83A35384F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02A896-D477-4175-AF52-329D1E9E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9A966E-A695-408C-B383-CEFE6B45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77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343D1-AE45-4E89-BB70-AF5071E35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0A3D6-3938-48E9-8F6F-E09DDF33D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585685-B9EA-48F8-9C16-163305E48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FBDF92-42FB-4176-AA52-477F7BDB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35F0C7-8F4C-42BE-AFCB-7F99BE2F6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1E6D95-2DD3-41D5-92A8-12721919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52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84AD0-91CA-44DA-A026-3AACAB4A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5D856C-E5DF-4FCB-8653-C5AEDD27F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604AF2-4C12-4416-9D04-56C5985EE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DCA1BD-9EEE-4C64-B531-FF10A27D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62D43B-7FB7-42F6-82E6-7BAAF6E6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DB8F4A-ADD7-47AD-ACCF-28768299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64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BCD97-8C36-4A0C-89B4-330DAC033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A97506-633D-45C1-A410-C4025BE67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3EB5E-B7A8-4D4F-8D4D-D2D8F0BC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887AB3-E285-42E8-BD59-9F6654BC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2C584-C1E7-4499-8C16-B77D9956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04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AE2978-B9D9-4AFB-8BF4-87F3510E8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49607C-6ABD-457C-9B86-2EED37B70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BEF19D-D582-4AF8-B9BA-08A2A8C3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8264FD-1923-49A8-AB6D-EED98936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5878F7-750F-41DB-B550-7E9DBBD8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41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181F36-AFF1-4DD8-B903-5FC10971B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561CB4-5A64-4480-BCA2-0219221ED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AA2A1E-A7B1-4F3F-B83A-3CA4F6147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D944F-622C-4696-88BF-989FDB567A1E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4B771C-9562-47BD-9D21-CD5FE3D95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2A395D-4B3F-4602-91A7-F7A0A0BBC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512DC-2C66-44D7-B19C-1A4F26F13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14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A3DD66-20FC-4A42-B364-AB57A68E40A5}"/>
              </a:ext>
            </a:extLst>
          </p:cNvPr>
          <p:cNvSpPr/>
          <p:nvPr/>
        </p:nvSpPr>
        <p:spPr>
          <a:xfrm>
            <a:off x="0" y="-2965"/>
            <a:ext cx="12192000" cy="1041489"/>
          </a:xfrm>
          <a:prstGeom prst="rect">
            <a:avLst/>
          </a:prstGeom>
          <a:solidFill>
            <a:srgbClr val="0070C0"/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143142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C13F06-0647-4B90-B3CD-3B1BC0029E54}"/>
              </a:ext>
            </a:extLst>
          </p:cNvPr>
          <p:cNvCxnSpPr>
            <a:cxnSpLocks/>
          </p:cNvCxnSpPr>
          <p:nvPr/>
        </p:nvCxnSpPr>
        <p:spPr>
          <a:xfrm>
            <a:off x="7200691" y="505036"/>
            <a:ext cx="4991309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59E9B5B8-A106-4E80-BBFA-2D78EBEA8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299" y="6448705"/>
            <a:ext cx="668931" cy="333202"/>
          </a:xfrm>
          <a:prstGeom prst="rect">
            <a:avLst/>
          </a:prstGeom>
        </p:spPr>
      </p:pic>
      <p:sp>
        <p:nvSpPr>
          <p:cNvPr id="41" name="矩形 30">
            <a:extLst>
              <a:ext uri="{FF2B5EF4-FFF2-40B4-BE49-F238E27FC236}">
                <a16:creationId xmlns:a16="http://schemas.microsoft.com/office/drawing/2014/main" id="{6DCECBF7-EDEF-45DB-929E-3D6B10DAB2F7}"/>
              </a:ext>
            </a:extLst>
          </p:cNvPr>
          <p:cNvSpPr/>
          <p:nvPr/>
        </p:nvSpPr>
        <p:spPr>
          <a:xfrm>
            <a:off x="879630" y="2450609"/>
            <a:ext cx="2647073" cy="1343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spc="-150" dirty="0">
                <a:latin typeface="+mj-ea"/>
                <a:ea typeface="+mj-ea"/>
              </a:rPr>
              <a:t>수술적 절제 없이 완치의 목적</a:t>
            </a:r>
            <a:endParaRPr lang="en-US" altLang="ko-KR" sz="1400" b="1" spc="-150" dirty="0">
              <a:latin typeface="+mj-ea"/>
              <a:ea typeface="+mj-ea"/>
            </a:endParaRPr>
          </a:p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en-US" altLang="ko-KR" sz="1400" spc="-150" dirty="0">
                <a:latin typeface="+mj-ea"/>
                <a:ea typeface="+mj-ea"/>
              </a:rPr>
              <a:t>  </a:t>
            </a:r>
            <a:r>
              <a:rPr lang="ko-KR" altLang="en-US" sz="1400" spc="-150" dirty="0">
                <a:latin typeface="+mj-ea"/>
                <a:ea typeface="+mj-ea"/>
              </a:rPr>
              <a:t>으로 시행되는 요법</a:t>
            </a:r>
          </a:p>
          <a:p>
            <a:pPr fontAlgn="base">
              <a:lnSpc>
                <a:spcPct val="150000"/>
              </a:lnSpc>
              <a:buClr>
                <a:srgbClr val="1F5188"/>
              </a:buClr>
            </a:pPr>
            <a:endParaRPr lang="ko-KR" altLang="en-US" sz="1400" spc="-150" dirty="0">
              <a:latin typeface="+mj-ea"/>
              <a:ea typeface="+mj-ea"/>
            </a:endParaRPr>
          </a:p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ko-KR" altLang="en-US" sz="1400" spc="-150" dirty="0">
                <a:latin typeface="+mj-ea"/>
                <a:ea typeface="+mj-ea"/>
              </a:rPr>
              <a:t> 주로</a:t>
            </a:r>
            <a:r>
              <a:rPr lang="en-US" altLang="ko-KR" sz="1400" spc="-150" dirty="0">
                <a:latin typeface="+mj-ea"/>
                <a:ea typeface="+mj-ea"/>
              </a:rPr>
              <a:t>, </a:t>
            </a:r>
            <a:r>
              <a:rPr lang="ko-KR" altLang="en-US" sz="1400" spc="-150" dirty="0">
                <a:latin typeface="+mj-ea"/>
                <a:ea typeface="+mj-ea"/>
              </a:rPr>
              <a:t>식도암</a:t>
            </a:r>
            <a:r>
              <a:rPr lang="en-US" altLang="ko-KR" sz="1400" spc="-150" dirty="0">
                <a:latin typeface="+mj-ea"/>
                <a:ea typeface="+mj-ea"/>
              </a:rPr>
              <a:t>, </a:t>
            </a:r>
            <a:r>
              <a:rPr lang="ko-KR" altLang="en-US" sz="1400" spc="-150" dirty="0">
                <a:latin typeface="+mj-ea"/>
                <a:ea typeface="+mj-ea"/>
              </a:rPr>
              <a:t>두경부암</a:t>
            </a:r>
            <a:r>
              <a:rPr lang="en-US" altLang="ko-KR" sz="1400" spc="-150" dirty="0">
                <a:latin typeface="+mj-ea"/>
                <a:ea typeface="+mj-ea"/>
              </a:rPr>
              <a:t>, </a:t>
            </a:r>
            <a:r>
              <a:rPr lang="ko-KR" altLang="en-US" sz="1400" spc="-150" dirty="0" err="1">
                <a:latin typeface="+mj-ea"/>
                <a:ea typeface="+mj-ea"/>
              </a:rPr>
              <a:t>항문암</a:t>
            </a:r>
            <a:endParaRPr lang="ko-KR" altLang="en-US" sz="1400" spc="-150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D74031-D592-4BBC-9D0F-A25CFEA7EED5}"/>
              </a:ext>
            </a:extLst>
          </p:cNvPr>
          <p:cNvSpPr txBox="1"/>
          <p:nvPr/>
        </p:nvSpPr>
        <p:spPr>
          <a:xfrm>
            <a:off x="342900" y="241300"/>
            <a:ext cx="7321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고형암의 목적과 시점에 따른 구분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971EC1A-8A98-47C8-A2BB-FE1D955567A3}"/>
              </a:ext>
            </a:extLst>
          </p:cNvPr>
          <p:cNvSpPr/>
          <p:nvPr/>
        </p:nvSpPr>
        <p:spPr>
          <a:xfrm>
            <a:off x="879630" y="2257668"/>
            <a:ext cx="2429436" cy="3573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A14174A-39E2-4A28-9BC0-049D020B3855}"/>
              </a:ext>
            </a:extLst>
          </p:cNvPr>
          <p:cNvGrpSpPr/>
          <p:nvPr/>
        </p:nvGrpSpPr>
        <p:grpSpPr>
          <a:xfrm>
            <a:off x="1719093" y="5411667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FECDBDC-64D0-4C08-8B47-346E497C5759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C9B220B4-6345-4972-A156-4CABB3DF5040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7DD3CF6-8DAE-4E74-8E2B-483990F36171}"/>
              </a:ext>
            </a:extLst>
          </p:cNvPr>
          <p:cNvSpPr/>
          <p:nvPr/>
        </p:nvSpPr>
        <p:spPr>
          <a:xfrm>
            <a:off x="3533142" y="2257668"/>
            <a:ext cx="2429436" cy="3573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29F719F-8935-44FB-A4DE-BAC91C8ADB42}"/>
              </a:ext>
            </a:extLst>
          </p:cNvPr>
          <p:cNvGrpSpPr/>
          <p:nvPr/>
        </p:nvGrpSpPr>
        <p:grpSpPr>
          <a:xfrm>
            <a:off x="4372605" y="5411667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AD95A4D-211A-462B-A581-DA14C806F086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7B7986C-DC00-4D96-A727-FCD943827F2E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7A86C24-DF9A-4A3E-A6A1-82DAB129E005}"/>
              </a:ext>
            </a:extLst>
          </p:cNvPr>
          <p:cNvSpPr/>
          <p:nvPr/>
        </p:nvSpPr>
        <p:spPr>
          <a:xfrm>
            <a:off x="6180215" y="2257668"/>
            <a:ext cx="2429436" cy="3573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64D9EA0-BB99-4C05-A09D-7F6ED25C68B6}"/>
              </a:ext>
            </a:extLst>
          </p:cNvPr>
          <p:cNvGrpSpPr/>
          <p:nvPr/>
        </p:nvGrpSpPr>
        <p:grpSpPr>
          <a:xfrm>
            <a:off x="7019678" y="5411667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3DCD81A-2AED-4A84-AA0A-836A1DA413F8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5F9F01C3-2D49-4F4B-A01C-5C5B4E4277A6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C812793-E897-405D-8C37-EECAE8363C37}"/>
              </a:ext>
            </a:extLst>
          </p:cNvPr>
          <p:cNvSpPr/>
          <p:nvPr/>
        </p:nvSpPr>
        <p:spPr>
          <a:xfrm>
            <a:off x="8827288" y="2257668"/>
            <a:ext cx="2429436" cy="3573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E7E4424-8D5A-4D5B-89F1-565049B09E87}"/>
              </a:ext>
            </a:extLst>
          </p:cNvPr>
          <p:cNvGrpSpPr/>
          <p:nvPr/>
        </p:nvGrpSpPr>
        <p:grpSpPr>
          <a:xfrm>
            <a:off x="9666751" y="5411667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79AAB7D-F84C-4925-B64E-075BB0FC649D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191C74E-8BA5-4B43-9C1C-77CCF8D29EDE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7F69F56-4C85-40E6-AA65-B6414B8EC81A}"/>
              </a:ext>
            </a:extLst>
          </p:cNvPr>
          <p:cNvSpPr txBox="1"/>
          <p:nvPr/>
        </p:nvSpPr>
        <p:spPr>
          <a:xfrm>
            <a:off x="1085806" y="1311749"/>
            <a:ext cx="2049273" cy="88580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1500" b="1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근치적</a:t>
            </a:r>
            <a:r>
              <a:rPr lang="ko-KR" altLang="en-US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항암요법 </a:t>
            </a:r>
            <a:endParaRPr lang="en-US" altLang="ko-KR" sz="15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ts val="3000"/>
              </a:lnSpc>
            </a:pPr>
            <a:r>
              <a:rPr lang="en-US" altLang="ko-KR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(Curative, Definitive) 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AA12D6-144E-4ACA-B981-98D3EF9CE87A}"/>
              </a:ext>
            </a:extLst>
          </p:cNvPr>
          <p:cNvSpPr txBox="1"/>
          <p:nvPr/>
        </p:nvSpPr>
        <p:spPr>
          <a:xfrm>
            <a:off x="3726441" y="1301666"/>
            <a:ext cx="2049273" cy="88580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선행 항암요법 </a:t>
            </a:r>
            <a:r>
              <a:rPr lang="en-US" altLang="ko-KR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(Neoadjuvant)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F6D996-0D44-4182-96C4-198140439532}"/>
              </a:ext>
            </a:extLst>
          </p:cNvPr>
          <p:cNvSpPr txBox="1"/>
          <p:nvPr/>
        </p:nvSpPr>
        <p:spPr>
          <a:xfrm>
            <a:off x="6367076" y="1304898"/>
            <a:ext cx="2049273" cy="88580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보조 항암요법 </a:t>
            </a:r>
            <a:r>
              <a:rPr lang="en-US" altLang="ko-KR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(Adjuvant)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14BCFD-97A7-4AFE-8E65-2E60C3CE44B5}"/>
              </a:ext>
            </a:extLst>
          </p:cNvPr>
          <p:cNvSpPr txBox="1"/>
          <p:nvPr/>
        </p:nvSpPr>
        <p:spPr>
          <a:xfrm>
            <a:off x="9007711" y="1281280"/>
            <a:ext cx="2049273" cy="88580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완화 항암요법 </a:t>
            </a:r>
            <a:r>
              <a:rPr lang="en-US" altLang="ko-KR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(Palliative)</a:t>
            </a:r>
          </a:p>
        </p:txBody>
      </p:sp>
      <p:sp>
        <p:nvSpPr>
          <p:cNvPr id="71" name="矩形 30">
            <a:extLst>
              <a:ext uri="{FF2B5EF4-FFF2-40B4-BE49-F238E27FC236}">
                <a16:creationId xmlns:a16="http://schemas.microsoft.com/office/drawing/2014/main" id="{858E541A-88A5-46F5-ABE9-767F2F45F52D}"/>
              </a:ext>
            </a:extLst>
          </p:cNvPr>
          <p:cNvSpPr/>
          <p:nvPr/>
        </p:nvSpPr>
        <p:spPr>
          <a:xfrm>
            <a:off x="3553546" y="2450610"/>
            <a:ext cx="2457355" cy="1343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종양의 크기를 줄여 수술부위를 확보하고</a:t>
            </a: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정상기관의 구조적 손상을 최소화하기 위해 </a:t>
            </a: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수술 전 항암을 진행</a:t>
            </a:r>
            <a:endParaRPr lang="ko-KR" altLang="en-US" sz="1400" b="1" spc="-150" dirty="0">
              <a:latin typeface="+mj-ea"/>
              <a:ea typeface="+mj-ea"/>
            </a:endParaRPr>
          </a:p>
        </p:txBody>
      </p:sp>
      <p:sp>
        <p:nvSpPr>
          <p:cNvPr id="73" name="矩形 30">
            <a:extLst>
              <a:ext uri="{FF2B5EF4-FFF2-40B4-BE49-F238E27FC236}">
                <a16:creationId xmlns:a16="http://schemas.microsoft.com/office/drawing/2014/main" id="{CC2A590E-5048-46E3-9C75-AE7A535AFF45}"/>
              </a:ext>
            </a:extLst>
          </p:cNvPr>
          <p:cNvSpPr/>
          <p:nvPr/>
        </p:nvSpPr>
        <p:spPr>
          <a:xfrm>
            <a:off x="6186654" y="2450609"/>
            <a:ext cx="2513651" cy="166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외과적 절제 후 잔류 악성질환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임상적</a:t>
            </a: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방사선학적 </a:t>
            </a: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or 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병리학적 근거가 없는 환자에게 시행</a:t>
            </a: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국소</a:t>
            </a: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․ </a:t>
            </a: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전신 재발을 줄여 생존기간 연장 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목적으로 시행</a:t>
            </a:r>
            <a:endParaRPr lang="ko-KR" altLang="en-US" sz="1400" spc="-150" dirty="0">
              <a:latin typeface="+mj-ea"/>
              <a:ea typeface="+mj-ea"/>
            </a:endParaRPr>
          </a:p>
        </p:txBody>
      </p:sp>
      <p:sp>
        <p:nvSpPr>
          <p:cNvPr id="74" name="矩形 30">
            <a:extLst>
              <a:ext uri="{FF2B5EF4-FFF2-40B4-BE49-F238E27FC236}">
                <a16:creationId xmlns:a16="http://schemas.microsoft.com/office/drawing/2014/main" id="{FF6D9CC2-B643-40DC-BB3A-E96F32268164}"/>
              </a:ext>
            </a:extLst>
          </p:cNvPr>
          <p:cNvSpPr/>
          <p:nvPr/>
        </p:nvSpPr>
        <p:spPr>
          <a:xfrm>
            <a:off x="8827288" y="2450608"/>
            <a:ext cx="2463011" cy="1343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진행성 또는 </a:t>
            </a:r>
            <a:r>
              <a:rPr lang="ko-KR" altLang="en-US" sz="1400" spc="-15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전이성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암 환자에서 </a:t>
            </a: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완치가 어려운 경우</a:t>
            </a:r>
            <a:r>
              <a:rPr lang="en-US" altLang="ko-KR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증상 조절과 생존기간 연장</a:t>
            </a:r>
            <a:r>
              <a:rPr lang="en-US" altLang="ko-KR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삶의 질 향상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목적으로 시행하는 치료입니다</a:t>
            </a: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endParaRPr lang="ko-KR" altLang="en-US" sz="1400" spc="-150" dirty="0">
              <a:latin typeface="+mj-ea"/>
              <a:ea typeface="+mj-ea"/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F0A5AB7F-C5B3-47BF-A0DD-FB92DAC9B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099" y="4156073"/>
            <a:ext cx="2601802" cy="989184"/>
          </a:xfrm>
          <a:prstGeom prst="rect">
            <a:avLst/>
          </a:prstGeom>
          <a:ln w="28575" cmpd="thickThin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981325"/>
                      <a:gd name="connsiteY0" fmla="*/ 0 h 1133475"/>
                      <a:gd name="connsiteX1" fmla="*/ 2981325 w 2981325"/>
                      <a:gd name="connsiteY1" fmla="*/ 0 h 1133475"/>
                      <a:gd name="connsiteX2" fmla="*/ 2981325 w 2981325"/>
                      <a:gd name="connsiteY2" fmla="*/ 1133475 h 1133475"/>
                      <a:gd name="connsiteX3" fmla="*/ 0 w 2981325"/>
                      <a:gd name="connsiteY3" fmla="*/ 1133475 h 1133475"/>
                      <a:gd name="connsiteX4" fmla="*/ 0 w 2981325"/>
                      <a:gd name="connsiteY4" fmla="*/ 0 h 11334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81325" h="1133475" fill="none" extrusionOk="0">
                        <a:moveTo>
                          <a:pt x="0" y="0"/>
                        </a:moveTo>
                        <a:cubicBezTo>
                          <a:pt x="711244" y="-49533"/>
                          <a:pt x="1864695" y="-14809"/>
                          <a:pt x="2981325" y="0"/>
                        </a:cubicBezTo>
                        <a:cubicBezTo>
                          <a:pt x="2995596" y="421140"/>
                          <a:pt x="2937822" y="844972"/>
                          <a:pt x="2981325" y="1133475"/>
                        </a:cubicBezTo>
                        <a:cubicBezTo>
                          <a:pt x="1761280" y="1085244"/>
                          <a:pt x="1325456" y="1217930"/>
                          <a:pt x="0" y="1133475"/>
                        </a:cubicBezTo>
                        <a:cubicBezTo>
                          <a:pt x="-44705" y="606580"/>
                          <a:pt x="-89094" y="243886"/>
                          <a:pt x="0" y="0"/>
                        </a:cubicBezTo>
                        <a:close/>
                      </a:path>
                      <a:path w="2981325" h="1133475" stroke="0" extrusionOk="0">
                        <a:moveTo>
                          <a:pt x="0" y="0"/>
                        </a:moveTo>
                        <a:cubicBezTo>
                          <a:pt x="553128" y="118645"/>
                          <a:pt x="1621410" y="116012"/>
                          <a:pt x="2981325" y="0"/>
                        </a:cubicBezTo>
                        <a:cubicBezTo>
                          <a:pt x="2967184" y="140993"/>
                          <a:pt x="2953485" y="943212"/>
                          <a:pt x="2981325" y="1133475"/>
                        </a:cubicBezTo>
                        <a:cubicBezTo>
                          <a:pt x="1600438" y="1268075"/>
                          <a:pt x="473468" y="976279"/>
                          <a:pt x="0" y="1133475"/>
                        </a:cubicBezTo>
                        <a:cubicBezTo>
                          <a:pt x="-21526" y="773033"/>
                          <a:pt x="-76146" y="368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6E08D768-E446-4BEE-B25F-232147A4F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973" y="4168526"/>
            <a:ext cx="2682940" cy="1103340"/>
          </a:xfrm>
          <a:prstGeom prst="rect">
            <a:avLst/>
          </a:prstGeom>
          <a:ln w="31750" cmpd="thickThin">
            <a:solidFill>
              <a:schemeClr val="accent1"/>
            </a:solidFill>
          </a:ln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311E1482-F94E-4D58-AECF-C81A62AFE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711" y="4168526"/>
            <a:ext cx="2162175" cy="1114425"/>
          </a:xfrm>
          <a:prstGeom prst="rect">
            <a:avLst/>
          </a:prstGeom>
          <a:ln w="28575" cmpd="thickThin">
            <a:solidFill>
              <a:schemeClr val="accent1"/>
            </a:solidFill>
          </a:ln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59117D22-5E4B-41D9-9A25-DCCA962DC41A}"/>
              </a:ext>
            </a:extLst>
          </p:cNvPr>
          <p:cNvSpPr txBox="1"/>
          <p:nvPr/>
        </p:nvSpPr>
        <p:spPr>
          <a:xfrm>
            <a:off x="1801728" y="5559766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01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5B557F7-0642-460A-B7B5-F6478B72213C}"/>
              </a:ext>
            </a:extLst>
          </p:cNvPr>
          <p:cNvSpPr txBox="1"/>
          <p:nvPr/>
        </p:nvSpPr>
        <p:spPr>
          <a:xfrm>
            <a:off x="4455239" y="5563341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02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A04B54-D5B7-4FC5-AD8C-EB11D8E2BE24}"/>
              </a:ext>
            </a:extLst>
          </p:cNvPr>
          <p:cNvSpPr txBox="1"/>
          <p:nvPr/>
        </p:nvSpPr>
        <p:spPr>
          <a:xfrm>
            <a:off x="7102313" y="5517651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03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51F37B-AD7B-40A7-B7CD-03A2E7D8CD7E}"/>
              </a:ext>
            </a:extLst>
          </p:cNvPr>
          <p:cNvSpPr txBox="1"/>
          <p:nvPr/>
        </p:nvSpPr>
        <p:spPr>
          <a:xfrm>
            <a:off x="9736509" y="5503718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04</a:t>
            </a:r>
            <a:endParaRPr lang="ko-KR" altLang="en-US" dirty="0">
              <a:solidFill>
                <a:srgbClr val="153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7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A3DD66-20FC-4A42-B364-AB57A68E40A5}"/>
              </a:ext>
            </a:extLst>
          </p:cNvPr>
          <p:cNvSpPr/>
          <p:nvPr/>
        </p:nvSpPr>
        <p:spPr>
          <a:xfrm>
            <a:off x="0" y="-2965"/>
            <a:ext cx="12192000" cy="1041489"/>
          </a:xfrm>
          <a:prstGeom prst="rect">
            <a:avLst/>
          </a:prstGeom>
          <a:solidFill>
            <a:srgbClr val="0070C0"/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143142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C13F06-0647-4B90-B3CD-3B1BC0029E54}"/>
              </a:ext>
            </a:extLst>
          </p:cNvPr>
          <p:cNvCxnSpPr>
            <a:cxnSpLocks/>
          </p:cNvCxnSpPr>
          <p:nvPr/>
        </p:nvCxnSpPr>
        <p:spPr>
          <a:xfrm>
            <a:off x="7200691" y="505036"/>
            <a:ext cx="4991309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59E9B5B8-A106-4E80-BBFA-2D78EBEA8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299" y="6448705"/>
            <a:ext cx="668931" cy="333202"/>
          </a:xfrm>
          <a:prstGeom prst="rect">
            <a:avLst/>
          </a:prstGeom>
        </p:spPr>
      </p:pic>
      <p:sp>
        <p:nvSpPr>
          <p:cNvPr id="41" name="矩形 30">
            <a:extLst>
              <a:ext uri="{FF2B5EF4-FFF2-40B4-BE49-F238E27FC236}">
                <a16:creationId xmlns:a16="http://schemas.microsoft.com/office/drawing/2014/main" id="{6DCECBF7-EDEF-45DB-929E-3D6B10DAB2F7}"/>
              </a:ext>
            </a:extLst>
          </p:cNvPr>
          <p:cNvSpPr/>
          <p:nvPr/>
        </p:nvSpPr>
        <p:spPr>
          <a:xfrm>
            <a:off x="942306" y="2450608"/>
            <a:ext cx="264707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spc="-150" dirty="0">
                <a:latin typeface="+mj-ea"/>
                <a:ea typeface="+mj-ea"/>
              </a:rPr>
              <a:t>관해상태로 만드는 </a:t>
            </a:r>
            <a:r>
              <a:rPr lang="ko-KR" altLang="en-US" sz="1400" spc="-150" dirty="0">
                <a:latin typeface="+mj-ea"/>
                <a:ea typeface="+mj-ea"/>
              </a:rPr>
              <a:t>초기치료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D74031-D592-4BBC-9D0F-A25CFEA7EED5}"/>
              </a:ext>
            </a:extLst>
          </p:cNvPr>
          <p:cNvSpPr txBox="1"/>
          <p:nvPr/>
        </p:nvSpPr>
        <p:spPr>
          <a:xfrm>
            <a:off x="342900" y="241300"/>
            <a:ext cx="7321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혈액암의 목적에 따른 구분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971EC1A-8A98-47C8-A2BB-FE1D955567A3}"/>
              </a:ext>
            </a:extLst>
          </p:cNvPr>
          <p:cNvSpPr/>
          <p:nvPr/>
        </p:nvSpPr>
        <p:spPr>
          <a:xfrm>
            <a:off x="879630" y="2257668"/>
            <a:ext cx="2429436" cy="3573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A14174A-39E2-4A28-9BC0-049D020B3855}"/>
              </a:ext>
            </a:extLst>
          </p:cNvPr>
          <p:cNvGrpSpPr/>
          <p:nvPr/>
        </p:nvGrpSpPr>
        <p:grpSpPr>
          <a:xfrm>
            <a:off x="1719093" y="5411667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FECDBDC-64D0-4C08-8B47-346E497C5759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C9B220B4-6345-4972-A156-4CABB3DF5040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7DD3CF6-8DAE-4E74-8E2B-483990F36171}"/>
              </a:ext>
            </a:extLst>
          </p:cNvPr>
          <p:cNvSpPr/>
          <p:nvPr/>
        </p:nvSpPr>
        <p:spPr>
          <a:xfrm>
            <a:off x="3533142" y="2257668"/>
            <a:ext cx="2429436" cy="3573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29F719F-8935-44FB-A4DE-BAC91C8ADB42}"/>
              </a:ext>
            </a:extLst>
          </p:cNvPr>
          <p:cNvGrpSpPr/>
          <p:nvPr/>
        </p:nvGrpSpPr>
        <p:grpSpPr>
          <a:xfrm>
            <a:off x="4372605" y="5411667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AD95A4D-211A-462B-A581-DA14C806F086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7B7986C-DC00-4D96-A727-FCD943827F2E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7A86C24-DF9A-4A3E-A6A1-82DAB129E005}"/>
              </a:ext>
            </a:extLst>
          </p:cNvPr>
          <p:cNvSpPr/>
          <p:nvPr/>
        </p:nvSpPr>
        <p:spPr>
          <a:xfrm>
            <a:off x="6180215" y="2257668"/>
            <a:ext cx="2429436" cy="3573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64D9EA0-BB99-4C05-A09D-7F6ED25C68B6}"/>
              </a:ext>
            </a:extLst>
          </p:cNvPr>
          <p:cNvGrpSpPr/>
          <p:nvPr/>
        </p:nvGrpSpPr>
        <p:grpSpPr>
          <a:xfrm>
            <a:off x="7019678" y="5411667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3DCD81A-2AED-4A84-AA0A-836A1DA413F8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5F9F01C3-2D49-4F4B-A01C-5C5B4E4277A6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C812793-E897-405D-8C37-EECAE8363C37}"/>
              </a:ext>
            </a:extLst>
          </p:cNvPr>
          <p:cNvSpPr/>
          <p:nvPr/>
        </p:nvSpPr>
        <p:spPr>
          <a:xfrm>
            <a:off x="8827288" y="2257668"/>
            <a:ext cx="2429436" cy="35738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E7E4424-8D5A-4D5B-89F1-565049B09E87}"/>
              </a:ext>
            </a:extLst>
          </p:cNvPr>
          <p:cNvGrpSpPr/>
          <p:nvPr/>
        </p:nvGrpSpPr>
        <p:grpSpPr>
          <a:xfrm>
            <a:off x="9666751" y="5411667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79AAB7D-F84C-4925-B64E-075BB0FC649D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191C74E-8BA5-4B43-9C1C-77CCF8D29EDE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7F69F56-4C85-40E6-AA65-B6414B8EC81A}"/>
              </a:ext>
            </a:extLst>
          </p:cNvPr>
          <p:cNvSpPr txBox="1"/>
          <p:nvPr/>
        </p:nvSpPr>
        <p:spPr>
          <a:xfrm>
            <a:off x="1085806" y="1311749"/>
            <a:ext cx="2049273" cy="88580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관해유도요법</a:t>
            </a:r>
            <a:r>
              <a:rPr lang="en-US" altLang="ko-KR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(Induction)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AA12D6-144E-4ACA-B981-98D3EF9CE87A}"/>
              </a:ext>
            </a:extLst>
          </p:cNvPr>
          <p:cNvSpPr txBox="1"/>
          <p:nvPr/>
        </p:nvSpPr>
        <p:spPr>
          <a:xfrm>
            <a:off x="3726441" y="1301666"/>
            <a:ext cx="2049273" cy="88580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관해공고요법</a:t>
            </a:r>
            <a:r>
              <a:rPr lang="en-US" altLang="ko-KR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(Consolidation)</a:t>
            </a:r>
            <a:endParaRPr lang="ko-KR" altLang="en-US" sz="1500" b="1" dirty="0">
              <a:latin typeface="+mj-ea"/>
              <a:ea typeface="+mj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F6D996-0D44-4182-96C4-198140439532}"/>
              </a:ext>
            </a:extLst>
          </p:cNvPr>
          <p:cNvSpPr txBox="1"/>
          <p:nvPr/>
        </p:nvSpPr>
        <p:spPr>
          <a:xfrm>
            <a:off x="6367076" y="1304898"/>
            <a:ext cx="2049273" cy="88580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관해유지요법</a:t>
            </a:r>
            <a:r>
              <a:rPr lang="en-US" altLang="ko-KR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(Maintenance)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14BCFD-97A7-4AFE-8E65-2E60C3CE44B5}"/>
              </a:ext>
            </a:extLst>
          </p:cNvPr>
          <p:cNvSpPr txBox="1"/>
          <p:nvPr/>
        </p:nvSpPr>
        <p:spPr>
          <a:xfrm>
            <a:off x="9007711" y="1281280"/>
            <a:ext cx="2049273" cy="86060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관해 </a:t>
            </a:r>
            <a:endParaRPr lang="en-US" altLang="ko-KR" sz="15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ts val="3000"/>
              </a:lnSpc>
            </a:pPr>
            <a:r>
              <a:rPr lang="en-US" altLang="ko-KR" sz="15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(Remission)</a:t>
            </a:r>
          </a:p>
        </p:txBody>
      </p:sp>
      <p:sp>
        <p:nvSpPr>
          <p:cNvPr id="71" name="矩形 30">
            <a:extLst>
              <a:ext uri="{FF2B5EF4-FFF2-40B4-BE49-F238E27FC236}">
                <a16:creationId xmlns:a16="http://schemas.microsoft.com/office/drawing/2014/main" id="{858E541A-88A5-46F5-ABE9-767F2F45F52D}"/>
              </a:ext>
            </a:extLst>
          </p:cNvPr>
          <p:cNvSpPr/>
          <p:nvPr/>
        </p:nvSpPr>
        <p:spPr>
          <a:xfrm>
            <a:off x="3553546" y="2450610"/>
            <a:ext cx="2457355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관해상태에 추가 치료를 시행하여</a:t>
            </a:r>
            <a:r>
              <a:rPr lang="en-US" altLang="ko-KR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완치에 가깝게 만드는 치료</a:t>
            </a:r>
            <a:endParaRPr lang="ko-KR" altLang="en-US" sz="1400" b="1" spc="-150" dirty="0">
              <a:latin typeface="+mj-ea"/>
              <a:ea typeface="+mj-ea"/>
            </a:endParaRPr>
          </a:p>
        </p:txBody>
      </p:sp>
      <p:sp>
        <p:nvSpPr>
          <p:cNvPr id="73" name="矩形 30">
            <a:extLst>
              <a:ext uri="{FF2B5EF4-FFF2-40B4-BE49-F238E27FC236}">
                <a16:creationId xmlns:a16="http://schemas.microsoft.com/office/drawing/2014/main" id="{CC2A590E-5048-46E3-9C75-AE7A535AFF45}"/>
              </a:ext>
            </a:extLst>
          </p:cNvPr>
          <p:cNvSpPr/>
          <p:nvPr/>
        </p:nvSpPr>
        <p:spPr>
          <a:xfrm>
            <a:off x="6186654" y="2450609"/>
            <a:ext cx="2513651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관해상태를 유지하기 위해 </a:t>
            </a: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시행하는 치료 </a:t>
            </a:r>
          </a:p>
        </p:txBody>
      </p:sp>
      <p:sp>
        <p:nvSpPr>
          <p:cNvPr id="74" name="矩形 30">
            <a:extLst>
              <a:ext uri="{FF2B5EF4-FFF2-40B4-BE49-F238E27FC236}">
                <a16:creationId xmlns:a16="http://schemas.microsoft.com/office/drawing/2014/main" id="{FF6D9CC2-B643-40DC-BB3A-E96F32268164}"/>
              </a:ext>
            </a:extLst>
          </p:cNvPr>
          <p:cNvSpPr/>
          <p:nvPr/>
        </p:nvSpPr>
        <p:spPr>
          <a:xfrm>
            <a:off x="8827288" y="2450608"/>
            <a:ext cx="2463011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Clr>
                <a:srgbClr val="1F5188"/>
              </a:buClr>
            </a:pPr>
            <a:r>
              <a:rPr lang="ko-KR" altLang="en-US" sz="1400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현재 검사방법에서 </a:t>
            </a:r>
            <a:r>
              <a:rPr lang="ko-KR" altLang="en-US" sz="1400" b="1" spc="-1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더 이상 백혈병 세포를 찾을 수 없는 상태</a:t>
            </a:r>
            <a:endParaRPr lang="ko-KR" altLang="en-US" sz="1400" b="1" spc="-150" dirty="0">
              <a:latin typeface="+mj-ea"/>
              <a:ea typeface="+mj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117D22-5E4B-41D9-9A25-DCCA962DC41A}"/>
              </a:ext>
            </a:extLst>
          </p:cNvPr>
          <p:cNvSpPr txBox="1"/>
          <p:nvPr/>
        </p:nvSpPr>
        <p:spPr>
          <a:xfrm>
            <a:off x="1801728" y="5559766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01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5B557F7-0642-460A-B7B5-F6478B72213C}"/>
              </a:ext>
            </a:extLst>
          </p:cNvPr>
          <p:cNvSpPr txBox="1"/>
          <p:nvPr/>
        </p:nvSpPr>
        <p:spPr>
          <a:xfrm>
            <a:off x="4455239" y="5563341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02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A04B54-D5B7-4FC5-AD8C-EB11D8E2BE24}"/>
              </a:ext>
            </a:extLst>
          </p:cNvPr>
          <p:cNvSpPr txBox="1"/>
          <p:nvPr/>
        </p:nvSpPr>
        <p:spPr>
          <a:xfrm>
            <a:off x="7102313" y="5517651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03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51F37B-AD7B-40A7-B7CD-03A2E7D8CD7E}"/>
              </a:ext>
            </a:extLst>
          </p:cNvPr>
          <p:cNvSpPr txBox="1"/>
          <p:nvPr/>
        </p:nvSpPr>
        <p:spPr>
          <a:xfrm>
            <a:off x="9736509" y="5503718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04</a:t>
            </a:r>
            <a:endParaRPr lang="ko-KR" altLang="en-US" dirty="0">
              <a:solidFill>
                <a:srgbClr val="153325"/>
              </a:solidFill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8FBA893C-762C-4DF7-A2D0-E550C2749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06" y="3926997"/>
            <a:ext cx="4943475" cy="809625"/>
          </a:xfrm>
          <a:prstGeom prst="rect">
            <a:avLst/>
          </a:prstGeom>
          <a:ln w="28575" cmpd="thickThin">
            <a:solidFill>
              <a:schemeClr val="accent1"/>
            </a:solidFill>
          </a:ln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B89C2DC-ECBB-46FB-A8B6-AE69DF6A6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674" y="3936521"/>
            <a:ext cx="2124075" cy="790575"/>
          </a:xfrm>
          <a:prstGeom prst="rect">
            <a:avLst/>
          </a:prstGeom>
          <a:ln w="28575" cmpd="thickThin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5967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A3DD66-20FC-4A42-B364-AB57A68E40A5}"/>
              </a:ext>
            </a:extLst>
          </p:cNvPr>
          <p:cNvSpPr/>
          <p:nvPr/>
        </p:nvSpPr>
        <p:spPr>
          <a:xfrm>
            <a:off x="-161" y="-10160"/>
            <a:ext cx="12192000" cy="1041489"/>
          </a:xfrm>
          <a:prstGeom prst="rect">
            <a:avLst/>
          </a:prstGeom>
          <a:solidFill>
            <a:srgbClr val="0070C0"/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143142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C13F06-0647-4B90-B3CD-3B1BC0029E54}"/>
              </a:ext>
            </a:extLst>
          </p:cNvPr>
          <p:cNvCxnSpPr>
            <a:cxnSpLocks/>
          </p:cNvCxnSpPr>
          <p:nvPr/>
        </p:nvCxnSpPr>
        <p:spPr>
          <a:xfrm>
            <a:off x="6688899" y="497840"/>
            <a:ext cx="550294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9DE23C-6BC4-4E9D-80D1-CA59E94021B4}"/>
              </a:ext>
            </a:extLst>
          </p:cNvPr>
          <p:cNvSpPr txBox="1"/>
          <p:nvPr/>
        </p:nvSpPr>
        <p:spPr>
          <a:xfrm>
            <a:off x="342739" y="231140"/>
            <a:ext cx="5607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전신항암치료의 종류와 특징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E9B5B8-A106-4E80-BBFA-2D78EBEA8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300" y="6433874"/>
            <a:ext cx="668931" cy="333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0D418-9AE4-4E6E-8E40-4E5C8E048605}"/>
              </a:ext>
            </a:extLst>
          </p:cNvPr>
          <p:cNvSpPr txBox="1"/>
          <p:nvPr/>
        </p:nvSpPr>
        <p:spPr>
          <a:xfrm>
            <a:off x="765676" y="4828995"/>
            <a:ext cx="2641403" cy="1068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ko-KR" altLang="en-US" sz="2000" b="1" dirty="0">
                <a:latin typeface="+mj-ea"/>
                <a:ea typeface="+mj-ea"/>
              </a:rPr>
              <a:t>암세포와 정상세포를 </a:t>
            </a:r>
          </a:p>
          <a:p>
            <a:pPr>
              <a:lnSpc>
                <a:spcPts val="4000"/>
              </a:lnSpc>
            </a:pPr>
            <a:r>
              <a:rPr lang="ko-KR" altLang="en-US" sz="2000" b="1" dirty="0">
                <a:latin typeface="+mj-ea"/>
                <a:ea typeface="+mj-ea"/>
              </a:rPr>
              <a:t>구분하지 않고 공격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A26D15B1-7C01-835F-CBED-280ADF880434}"/>
              </a:ext>
            </a:extLst>
          </p:cNvPr>
          <p:cNvSpPr txBox="1">
            <a:spLocks/>
          </p:cNvSpPr>
          <p:nvPr/>
        </p:nvSpPr>
        <p:spPr>
          <a:xfrm>
            <a:off x="6185436" y="2727454"/>
            <a:ext cx="792641" cy="3410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42</a:t>
            </a:r>
            <a:r>
              <a:rPr lang="en-US" altLang="ko-KR" sz="1600" b="1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%</a:t>
            </a:r>
            <a:endParaRPr lang="ko-KR" altLang="en-US" sz="16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18C399E-0E9D-B240-5300-7447BAB1C434}"/>
              </a:ext>
            </a:extLst>
          </p:cNvPr>
          <p:cNvSpPr txBox="1">
            <a:spLocks/>
          </p:cNvSpPr>
          <p:nvPr/>
        </p:nvSpPr>
        <p:spPr>
          <a:xfrm>
            <a:off x="6132513" y="4109627"/>
            <a:ext cx="792641" cy="3410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36</a:t>
            </a:r>
            <a:r>
              <a:rPr lang="en-US" altLang="ko-KR" sz="1600" b="1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%</a:t>
            </a:r>
            <a:endParaRPr lang="ko-KR" altLang="en-US" sz="16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EE42F6F-60A2-422F-9F00-B548DA8FDE18}"/>
              </a:ext>
            </a:extLst>
          </p:cNvPr>
          <p:cNvSpPr/>
          <p:nvPr/>
        </p:nvSpPr>
        <p:spPr>
          <a:xfrm>
            <a:off x="677421" y="2194560"/>
            <a:ext cx="2468880" cy="2468880"/>
          </a:xfrm>
          <a:prstGeom prst="ellipse">
            <a:avLst/>
          </a:prstGeom>
          <a:solidFill>
            <a:srgbClr val="FEB6B0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 dirty="0">
                <a:solidFill>
                  <a:schemeClr val="tx1"/>
                </a:solidFill>
              </a:rPr>
              <a:t>세대 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750" b="1" dirty="0">
                <a:solidFill>
                  <a:schemeClr val="tx1"/>
                </a:solidFill>
              </a:rPr>
              <a:t>세포독성항암제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A4505F1-EA25-4988-A916-3FDC9D9BD589}"/>
              </a:ext>
            </a:extLst>
          </p:cNvPr>
          <p:cNvSpPr/>
          <p:nvPr/>
        </p:nvSpPr>
        <p:spPr>
          <a:xfrm>
            <a:off x="4847197" y="2194560"/>
            <a:ext cx="2468880" cy="2468880"/>
          </a:xfrm>
          <a:prstGeom prst="ellipse">
            <a:avLst/>
          </a:prstGeom>
          <a:solidFill>
            <a:srgbClr val="EEC358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세대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표적항암제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6BE445A-CA3A-4BCA-AAE9-714C135EFEA4}"/>
              </a:ext>
            </a:extLst>
          </p:cNvPr>
          <p:cNvSpPr/>
          <p:nvPr/>
        </p:nvSpPr>
        <p:spPr>
          <a:xfrm>
            <a:off x="8914544" y="2194560"/>
            <a:ext cx="2468880" cy="24688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3</a:t>
            </a:r>
            <a:r>
              <a:rPr lang="ko-KR" altLang="en-US" sz="2000" b="1" dirty="0">
                <a:solidFill>
                  <a:schemeClr val="tx1"/>
                </a:solidFill>
              </a:rPr>
              <a:t>세대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면역항암제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27ED377-D373-4752-8DE1-6812A351C4F3}"/>
              </a:ext>
            </a:extLst>
          </p:cNvPr>
          <p:cNvCxnSpPr/>
          <p:nvPr/>
        </p:nvCxnSpPr>
        <p:spPr>
          <a:xfrm>
            <a:off x="3524920" y="3429000"/>
            <a:ext cx="92926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6D0DD21-9988-461A-A398-E3A7BAD823F9}"/>
              </a:ext>
            </a:extLst>
          </p:cNvPr>
          <p:cNvCxnSpPr/>
          <p:nvPr/>
        </p:nvCxnSpPr>
        <p:spPr>
          <a:xfrm>
            <a:off x="7590868" y="3429000"/>
            <a:ext cx="92926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416E1E-4856-45A5-BEBA-E577D7B1D25F}"/>
              </a:ext>
            </a:extLst>
          </p:cNvPr>
          <p:cNvSpPr txBox="1"/>
          <p:nvPr/>
        </p:nvSpPr>
        <p:spPr>
          <a:xfrm>
            <a:off x="4572412" y="4804470"/>
            <a:ext cx="3312340" cy="532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ko-KR" altLang="en-US" sz="2000" b="1" dirty="0">
                <a:latin typeface="+mj-ea"/>
                <a:ea typeface="+mj-ea"/>
              </a:rPr>
              <a:t>암세포만 선택적으로 공격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F526F4-A1AA-4EC5-94CC-E4499ECF324D}"/>
              </a:ext>
            </a:extLst>
          </p:cNvPr>
          <p:cNvSpPr txBox="1"/>
          <p:nvPr/>
        </p:nvSpPr>
        <p:spPr>
          <a:xfrm>
            <a:off x="8983362" y="4828995"/>
            <a:ext cx="2641403" cy="532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ko-KR" altLang="en-US" sz="2000" b="1" dirty="0">
                <a:latin typeface="+mj-ea"/>
                <a:ea typeface="+mj-ea"/>
              </a:rPr>
              <a:t>몸의 면역체계 활용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6A3BBC6-9F54-4D90-B25A-201A9C17E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331" y="1316917"/>
            <a:ext cx="714210" cy="71421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1389CF8-BFB2-4881-9C6D-A7E47FD91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704" y="1321596"/>
            <a:ext cx="704008" cy="70400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8955084-4640-4844-968F-EB7934113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558" y="1318195"/>
            <a:ext cx="700606" cy="71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1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A3DD66-20FC-4A42-B364-AB57A68E40A5}"/>
              </a:ext>
            </a:extLst>
          </p:cNvPr>
          <p:cNvSpPr/>
          <p:nvPr/>
        </p:nvSpPr>
        <p:spPr>
          <a:xfrm>
            <a:off x="-161" y="-10160"/>
            <a:ext cx="12192000" cy="1041489"/>
          </a:xfrm>
          <a:prstGeom prst="rect">
            <a:avLst/>
          </a:prstGeom>
          <a:solidFill>
            <a:srgbClr val="0070C0"/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143142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C13F06-0647-4B90-B3CD-3B1BC0029E54}"/>
              </a:ext>
            </a:extLst>
          </p:cNvPr>
          <p:cNvCxnSpPr>
            <a:cxnSpLocks/>
          </p:cNvCxnSpPr>
          <p:nvPr/>
        </p:nvCxnSpPr>
        <p:spPr>
          <a:xfrm>
            <a:off x="6688899" y="497840"/>
            <a:ext cx="5502940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9DE23C-6BC4-4E9D-80D1-CA59E94021B4}"/>
              </a:ext>
            </a:extLst>
          </p:cNvPr>
          <p:cNvSpPr txBox="1"/>
          <p:nvPr/>
        </p:nvSpPr>
        <p:spPr>
          <a:xfrm>
            <a:off x="342739" y="231140"/>
            <a:ext cx="5607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Mutation(</a:t>
            </a: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돌연변이</a:t>
            </a:r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) </a:t>
            </a:r>
            <a:r>
              <a:rPr lang="ko-KR" altLang="en-US" sz="2800" b="1" dirty="0" err="1">
                <a:solidFill>
                  <a:schemeClr val="bg1"/>
                </a:solidFill>
                <a:latin typeface="+mj-ea"/>
                <a:ea typeface="+mj-ea"/>
              </a:rPr>
              <a:t>검사란</a:t>
            </a:r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E9B5B8-A106-4E80-BBFA-2D78EBEA8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300" y="6433874"/>
            <a:ext cx="668931" cy="333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0D418-9AE4-4E6E-8E40-4E5C8E048605}"/>
              </a:ext>
            </a:extLst>
          </p:cNvPr>
          <p:cNvSpPr txBox="1"/>
          <p:nvPr/>
        </p:nvSpPr>
        <p:spPr>
          <a:xfrm>
            <a:off x="342739" y="995660"/>
            <a:ext cx="11600680" cy="521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ko-KR" altLang="en-US" sz="1600" b="1" dirty="0">
                <a:latin typeface="+mj-ea"/>
                <a:ea typeface="+mj-ea"/>
              </a:rPr>
              <a:t>암의 유전자 변이를 분석해서</a:t>
            </a:r>
            <a:r>
              <a:rPr lang="en-US" altLang="ko-KR" sz="1600" b="1" dirty="0">
                <a:latin typeface="+mj-ea"/>
                <a:ea typeface="+mj-ea"/>
              </a:rPr>
              <a:t>, </a:t>
            </a:r>
            <a:r>
              <a:rPr lang="ko-KR" altLang="en-US" sz="1600" b="1" dirty="0">
                <a:latin typeface="+mj-ea"/>
                <a:ea typeface="+mj-ea"/>
              </a:rPr>
              <a:t>가장 효과적인 표적치료를 선택하고 예후와 치료 전략을 결정하기 위해 시행하는 검사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18C399E-0E9D-B240-5300-7447BAB1C434}"/>
              </a:ext>
            </a:extLst>
          </p:cNvPr>
          <p:cNvSpPr txBox="1">
            <a:spLocks/>
          </p:cNvSpPr>
          <p:nvPr/>
        </p:nvSpPr>
        <p:spPr>
          <a:xfrm>
            <a:off x="6132513" y="4109627"/>
            <a:ext cx="792641" cy="3410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36</a:t>
            </a:r>
            <a:endParaRPr lang="ko-KR" altLang="en-US" sz="16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DCB6490-F93A-402E-9051-BD467B60C6EA}"/>
              </a:ext>
            </a:extLst>
          </p:cNvPr>
          <p:cNvSpPr/>
          <p:nvPr/>
        </p:nvSpPr>
        <p:spPr>
          <a:xfrm>
            <a:off x="1403295" y="2348597"/>
            <a:ext cx="2468880" cy="24688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mutation</a:t>
            </a:r>
            <a:endParaRPr lang="ko-KR" altLang="en-US" sz="20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3A27D76-F41C-4EB4-BDD0-B1B66545A214}"/>
              </a:ext>
            </a:extLst>
          </p:cNvPr>
          <p:cNvSpPr/>
          <p:nvPr/>
        </p:nvSpPr>
        <p:spPr>
          <a:xfrm>
            <a:off x="7920962" y="2348597"/>
            <a:ext cx="2468880" cy="24688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   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BE4957-BD14-42F2-8BF6-32204D1E7ED5}"/>
              </a:ext>
            </a:extLst>
          </p:cNvPr>
          <p:cNvSpPr txBox="1"/>
          <p:nvPr/>
        </p:nvSpPr>
        <p:spPr>
          <a:xfrm>
            <a:off x="8440018" y="3365212"/>
            <a:ext cx="1155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반응</a:t>
            </a:r>
            <a:endParaRPr lang="ko-KR" altLang="en-US" sz="24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" name="화살표: 위쪽 26">
            <a:extLst>
              <a:ext uri="{FF2B5EF4-FFF2-40B4-BE49-F238E27FC236}">
                <a16:creationId xmlns:a16="http://schemas.microsoft.com/office/drawing/2014/main" id="{29C831AB-AE52-4383-B289-D44938A9234B}"/>
              </a:ext>
            </a:extLst>
          </p:cNvPr>
          <p:cNvSpPr/>
          <p:nvPr/>
        </p:nvSpPr>
        <p:spPr>
          <a:xfrm>
            <a:off x="9544599" y="3278237"/>
            <a:ext cx="411480" cy="54864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22B12D-5081-4A59-9C69-0ED6E1750AFC}"/>
              </a:ext>
            </a:extLst>
          </p:cNvPr>
          <p:cNvCxnSpPr>
            <a:cxnSpLocks/>
          </p:cNvCxnSpPr>
          <p:nvPr/>
        </p:nvCxnSpPr>
        <p:spPr>
          <a:xfrm>
            <a:off x="4305938" y="3615033"/>
            <a:ext cx="328785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1AF48AE-F9A9-41FD-95F5-DE2D6AD9EDE9}"/>
              </a:ext>
            </a:extLst>
          </p:cNvPr>
          <p:cNvSpPr txBox="1"/>
          <p:nvPr/>
        </p:nvSpPr>
        <p:spPr>
          <a:xfrm>
            <a:off x="4570899" y="3858873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targeted therapy</a:t>
            </a:r>
            <a:endParaRPr lang="ko-KR" altLang="en-US" sz="1600" dirty="0">
              <a:solidFill>
                <a:srgbClr val="FF0000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EBFA8F0-A235-4F6A-96C4-A50F02FDF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89" y="1664011"/>
            <a:ext cx="10687100" cy="461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5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A3DD66-20FC-4A42-B364-AB57A68E40A5}"/>
              </a:ext>
            </a:extLst>
          </p:cNvPr>
          <p:cNvSpPr/>
          <p:nvPr/>
        </p:nvSpPr>
        <p:spPr>
          <a:xfrm>
            <a:off x="-161" y="-10160"/>
            <a:ext cx="12192000" cy="1041489"/>
          </a:xfrm>
          <a:prstGeom prst="rect">
            <a:avLst/>
          </a:prstGeom>
          <a:solidFill>
            <a:srgbClr val="0070C0"/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143142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C13F06-0647-4B90-B3CD-3B1BC0029E54}"/>
              </a:ext>
            </a:extLst>
          </p:cNvPr>
          <p:cNvCxnSpPr>
            <a:cxnSpLocks/>
          </p:cNvCxnSpPr>
          <p:nvPr/>
        </p:nvCxnSpPr>
        <p:spPr>
          <a:xfrm>
            <a:off x="7691370" y="509872"/>
            <a:ext cx="4500469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9DE23C-6BC4-4E9D-80D1-CA59E94021B4}"/>
              </a:ext>
            </a:extLst>
          </p:cNvPr>
          <p:cNvSpPr txBox="1"/>
          <p:nvPr/>
        </p:nvSpPr>
        <p:spPr>
          <a:xfrm>
            <a:off x="342738" y="231140"/>
            <a:ext cx="7578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Immune checkpoint inhibitor </a:t>
            </a:r>
            <a:r>
              <a:rPr lang="ko-KR" altLang="en-US" sz="2800" b="1" dirty="0" err="1">
                <a:solidFill>
                  <a:schemeClr val="bg1"/>
                </a:solidFill>
                <a:latin typeface="+mj-ea"/>
                <a:ea typeface="+mj-ea"/>
              </a:rPr>
              <a:t>검사란</a:t>
            </a:r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E9B5B8-A106-4E80-BBFA-2D78EBEA8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300" y="6433874"/>
            <a:ext cx="668931" cy="333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0D418-9AE4-4E6E-8E40-4E5C8E048605}"/>
              </a:ext>
            </a:extLst>
          </p:cNvPr>
          <p:cNvSpPr txBox="1"/>
          <p:nvPr/>
        </p:nvSpPr>
        <p:spPr>
          <a:xfrm>
            <a:off x="342739" y="995660"/>
            <a:ext cx="11600680" cy="521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ko-KR" altLang="en-US" sz="1600" b="1" dirty="0">
                <a:latin typeface="+mj-ea"/>
                <a:ea typeface="+mj-ea"/>
              </a:rPr>
              <a:t>암세포 표면의 </a:t>
            </a:r>
            <a:r>
              <a:rPr lang="en-US" altLang="ko-KR" sz="1600" b="1" dirty="0">
                <a:latin typeface="+mj-ea"/>
                <a:ea typeface="+mj-ea"/>
              </a:rPr>
              <a:t>PD-L1 </a:t>
            </a:r>
            <a:r>
              <a:rPr lang="ko-KR" altLang="en-US" sz="1600" b="1" dirty="0">
                <a:latin typeface="+mj-ea"/>
                <a:ea typeface="+mj-ea"/>
              </a:rPr>
              <a:t>단백질 발현율을 측정하여 면역항암제</a:t>
            </a:r>
            <a:r>
              <a:rPr lang="en-US" altLang="ko-KR" sz="1600" b="1" dirty="0">
                <a:latin typeface="+mj-ea"/>
                <a:ea typeface="+mj-ea"/>
              </a:rPr>
              <a:t>(PD-1/PD-L1 </a:t>
            </a:r>
            <a:r>
              <a:rPr lang="ko-KR" altLang="en-US" sz="1600" b="1" dirty="0" err="1">
                <a:latin typeface="+mj-ea"/>
                <a:ea typeface="+mj-ea"/>
              </a:rPr>
              <a:t>억제제</a:t>
            </a:r>
            <a:r>
              <a:rPr lang="en-US" altLang="ko-KR" sz="1600" b="1" dirty="0">
                <a:latin typeface="+mj-ea"/>
                <a:ea typeface="+mj-ea"/>
              </a:rPr>
              <a:t>) </a:t>
            </a:r>
            <a:r>
              <a:rPr lang="ko-KR" altLang="en-US" sz="1600" b="1" dirty="0">
                <a:latin typeface="+mj-ea"/>
                <a:ea typeface="+mj-ea"/>
              </a:rPr>
              <a:t>치료 효과를 예측하는 조직 검사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18C399E-0E9D-B240-5300-7447BAB1C434}"/>
              </a:ext>
            </a:extLst>
          </p:cNvPr>
          <p:cNvSpPr txBox="1">
            <a:spLocks/>
          </p:cNvSpPr>
          <p:nvPr/>
        </p:nvSpPr>
        <p:spPr>
          <a:xfrm>
            <a:off x="6132513" y="4109627"/>
            <a:ext cx="792641" cy="3410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None/>
              <a:defRPr/>
            </a:pP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36</a:t>
            </a:r>
            <a:endParaRPr lang="ko-KR" altLang="en-US" sz="16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9F9F4A8-3A68-4CDB-99D0-43AF1D307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627" y="2360352"/>
            <a:ext cx="6886184" cy="383964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B14F46A-D5C5-44D7-8952-7831536F5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4664" y="1649690"/>
            <a:ext cx="8907474" cy="511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A3DD66-20FC-4A42-B364-AB57A68E40A5}"/>
              </a:ext>
            </a:extLst>
          </p:cNvPr>
          <p:cNvSpPr/>
          <p:nvPr/>
        </p:nvSpPr>
        <p:spPr>
          <a:xfrm>
            <a:off x="-161" y="-10160"/>
            <a:ext cx="12192000" cy="1041489"/>
          </a:xfrm>
          <a:prstGeom prst="rect">
            <a:avLst/>
          </a:prstGeom>
          <a:solidFill>
            <a:srgbClr val="0070C0"/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143142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C13F06-0647-4B90-B3CD-3B1BC0029E54}"/>
              </a:ext>
            </a:extLst>
          </p:cNvPr>
          <p:cNvCxnSpPr>
            <a:cxnSpLocks/>
          </p:cNvCxnSpPr>
          <p:nvPr/>
        </p:nvCxnSpPr>
        <p:spPr>
          <a:xfrm>
            <a:off x="6925154" y="497840"/>
            <a:ext cx="5266685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9DE23C-6BC4-4E9D-80D1-CA59E94021B4}"/>
              </a:ext>
            </a:extLst>
          </p:cNvPr>
          <p:cNvSpPr txBox="1"/>
          <p:nvPr/>
        </p:nvSpPr>
        <p:spPr>
          <a:xfrm>
            <a:off x="342738" y="231140"/>
            <a:ext cx="6334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NGS(</a:t>
            </a: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차세대 염기서열</a:t>
            </a:r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) </a:t>
            </a:r>
            <a:r>
              <a:rPr lang="ko-KR" altLang="en-US" sz="2800" b="1" dirty="0" err="1">
                <a:solidFill>
                  <a:schemeClr val="bg1"/>
                </a:solidFill>
                <a:latin typeface="+mj-ea"/>
                <a:ea typeface="+mj-ea"/>
              </a:rPr>
              <a:t>검사란</a:t>
            </a:r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</a:p>
          <a:p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E9B5B8-A106-4E80-BBFA-2D78EBEA8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300" y="6433874"/>
            <a:ext cx="668931" cy="333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0D418-9AE4-4E6E-8E40-4E5C8E048605}"/>
              </a:ext>
            </a:extLst>
          </p:cNvPr>
          <p:cNvSpPr txBox="1"/>
          <p:nvPr/>
        </p:nvSpPr>
        <p:spPr>
          <a:xfrm>
            <a:off x="342738" y="1147651"/>
            <a:ext cx="1184910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j-ea"/>
                <a:ea typeface="+mj-ea"/>
              </a:rPr>
              <a:t>차세대 염기서열 분석기법은 대량의 유전체 염기서열을 무수히 많은 조각으로 만들어 각 조각을 동시 다발적으로 염기서열을 </a:t>
            </a:r>
            <a:endParaRPr lang="en-US" altLang="ko-KR" sz="16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j-ea"/>
                <a:ea typeface="+mj-ea"/>
              </a:rPr>
              <a:t>분석하여 </a:t>
            </a:r>
            <a:r>
              <a:rPr lang="ko-KR" altLang="en-US" sz="1600" b="1" dirty="0">
                <a:solidFill>
                  <a:srgbClr val="FF0000"/>
                </a:solidFill>
                <a:latin typeface="+mj-ea"/>
                <a:ea typeface="+mj-ea"/>
              </a:rPr>
              <a:t>유전자 변이로 인한 질병을 진단 및 예측하고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+mj-ea"/>
                <a:ea typeface="+mj-ea"/>
              </a:rPr>
              <a:t>각 개인에게 맞는 치료제 선택을 돕는 검사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47ECBA34-BAC0-49C7-B055-C3881522A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293" y="2388755"/>
            <a:ext cx="8040650" cy="3825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00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FA3DD66-20FC-4A42-B364-AB57A68E40A5}"/>
              </a:ext>
            </a:extLst>
          </p:cNvPr>
          <p:cNvSpPr/>
          <p:nvPr/>
        </p:nvSpPr>
        <p:spPr>
          <a:xfrm>
            <a:off x="-161" y="-10160"/>
            <a:ext cx="12192000" cy="1041489"/>
          </a:xfrm>
          <a:prstGeom prst="rect">
            <a:avLst/>
          </a:prstGeom>
          <a:solidFill>
            <a:srgbClr val="0070C0"/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143142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C13F06-0647-4B90-B3CD-3B1BC0029E54}"/>
              </a:ext>
            </a:extLst>
          </p:cNvPr>
          <p:cNvCxnSpPr>
            <a:cxnSpLocks/>
          </p:cNvCxnSpPr>
          <p:nvPr/>
        </p:nvCxnSpPr>
        <p:spPr>
          <a:xfrm>
            <a:off x="6925154" y="497840"/>
            <a:ext cx="5266685" cy="0"/>
          </a:xfrm>
          <a:prstGeom prst="line">
            <a:avLst/>
          </a:prstGeom>
          <a:ln w="38100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59E9B5B8-A106-4E80-BBFA-2D78EBEA8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300" y="6433874"/>
            <a:ext cx="668931" cy="3332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CB1521-E7CC-4A3D-9289-A12BC010872F}"/>
              </a:ext>
            </a:extLst>
          </p:cNvPr>
          <p:cNvSpPr txBox="1"/>
          <p:nvPr/>
        </p:nvSpPr>
        <p:spPr>
          <a:xfrm>
            <a:off x="342738" y="231140"/>
            <a:ext cx="6334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반응평가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566DB-AA94-44E2-AE30-2E05296C2F24}"/>
              </a:ext>
            </a:extLst>
          </p:cNvPr>
          <p:cNvSpPr txBox="1"/>
          <p:nvPr/>
        </p:nvSpPr>
        <p:spPr>
          <a:xfrm>
            <a:off x="454110" y="1272629"/>
            <a:ext cx="6112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종양반응평가 (</a:t>
            </a:r>
            <a:r>
              <a:rPr lang="ko-KR" altLang="en-US" dirty="0" err="1"/>
              <a:t>Tumor</a:t>
            </a:r>
            <a:r>
              <a:rPr lang="ko-KR" altLang="en-US" dirty="0"/>
              <a:t> </a:t>
            </a:r>
            <a:r>
              <a:rPr lang="ko-KR" altLang="en-US" dirty="0" err="1"/>
              <a:t>Response</a:t>
            </a:r>
            <a:r>
              <a:rPr lang="ko-KR" altLang="en-US" dirty="0"/>
              <a:t> </a:t>
            </a:r>
            <a:r>
              <a:rPr lang="ko-KR" altLang="en-US" dirty="0" err="1"/>
              <a:t>Criteria</a:t>
            </a:r>
            <a:r>
              <a:rPr lang="ko-KR" alt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FBEAE-6B57-4BEC-963F-ABEFEE2EAD5A}"/>
              </a:ext>
            </a:extLst>
          </p:cNvPr>
          <p:cNvSpPr txBox="1"/>
          <p:nvPr/>
        </p:nvSpPr>
        <p:spPr>
          <a:xfrm>
            <a:off x="649705" y="1641961"/>
            <a:ext cx="61120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WHO 기준과, RECIST 기준이 있음. 현재는 </a:t>
            </a:r>
            <a:r>
              <a:rPr lang="ko-KR" altLang="en-US" sz="1100" dirty="0" err="1"/>
              <a:t>RECIST가</a:t>
            </a:r>
            <a:r>
              <a:rPr lang="ko-KR" altLang="en-US" sz="1100" dirty="0"/>
              <a:t> 주로 사용됨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1DC1BB7-FDFD-46B8-BEA2-C03D0F3EFE11}"/>
              </a:ext>
            </a:extLst>
          </p:cNvPr>
          <p:cNvSpPr/>
          <p:nvPr/>
        </p:nvSpPr>
        <p:spPr>
          <a:xfrm>
            <a:off x="735451" y="2152426"/>
            <a:ext cx="1764030" cy="1764030"/>
          </a:xfrm>
          <a:prstGeom prst="ellipse">
            <a:avLst/>
          </a:prstGeom>
          <a:solidFill>
            <a:srgbClr val="67B7B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완전 반응 </a:t>
            </a:r>
            <a:r>
              <a:rPr lang="en-US" altLang="ko-KR" sz="1600" dirty="0"/>
              <a:t>CR</a:t>
            </a:r>
          </a:p>
          <a:p>
            <a:pPr algn="ctr"/>
            <a:r>
              <a:rPr lang="en-US" altLang="ko-KR" sz="1600" dirty="0"/>
              <a:t>(Complete response)</a:t>
            </a:r>
            <a:endParaRPr lang="ko-KR" altLang="en-US" sz="16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27ED4DE-23AE-4AED-994C-A85E3D6610E2}"/>
              </a:ext>
            </a:extLst>
          </p:cNvPr>
          <p:cNvSpPr/>
          <p:nvPr/>
        </p:nvSpPr>
        <p:spPr>
          <a:xfrm>
            <a:off x="3401799" y="2164228"/>
            <a:ext cx="1775460" cy="1775460"/>
          </a:xfrm>
          <a:prstGeom prst="ellipse">
            <a:avLst/>
          </a:prstGeom>
          <a:solidFill>
            <a:srgbClr val="D0D5A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부분 반응 </a:t>
            </a:r>
            <a:r>
              <a:rPr lang="en-US" altLang="ko-KR" dirty="0"/>
              <a:t>PR</a:t>
            </a:r>
          </a:p>
          <a:p>
            <a:pPr algn="ctr"/>
            <a:r>
              <a:rPr lang="en-US" altLang="ko-KR" dirty="0"/>
              <a:t>(Partial response)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6AD3834-6E50-4D96-9621-B65004DF0CA2}"/>
              </a:ext>
            </a:extLst>
          </p:cNvPr>
          <p:cNvSpPr/>
          <p:nvPr/>
        </p:nvSpPr>
        <p:spPr>
          <a:xfrm>
            <a:off x="6173452" y="2118136"/>
            <a:ext cx="1798320" cy="1798320"/>
          </a:xfrm>
          <a:prstGeom prst="ellipse">
            <a:avLst/>
          </a:prstGeom>
          <a:solidFill>
            <a:srgbClr val="99C7B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안정 병변 </a:t>
            </a:r>
            <a:r>
              <a:rPr lang="en-US" altLang="ko-KR" dirty="0"/>
              <a:t>SD</a:t>
            </a:r>
          </a:p>
          <a:p>
            <a:pPr algn="ctr"/>
            <a:r>
              <a:rPr lang="en-US" altLang="ko-KR" dirty="0"/>
              <a:t>(Stable disease)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B2D878F-547D-4CED-9A4A-2C36FA396CC6}"/>
              </a:ext>
            </a:extLst>
          </p:cNvPr>
          <p:cNvSpPr/>
          <p:nvPr/>
        </p:nvSpPr>
        <p:spPr>
          <a:xfrm>
            <a:off x="9135893" y="2164228"/>
            <a:ext cx="1775460" cy="1775460"/>
          </a:xfrm>
          <a:prstGeom prst="ellipse">
            <a:avLst/>
          </a:prstGeom>
          <a:solidFill>
            <a:srgbClr val="D0D5A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악화 </a:t>
            </a:r>
            <a:r>
              <a:rPr lang="en-US" altLang="ko-KR" dirty="0"/>
              <a:t>PD</a:t>
            </a:r>
          </a:p>
          <a:p>
            <a:pPr algn="ctr"/>
            <a:r>
              <a:rPr lang="en-US" altLang="ko-KR" dirty="0"/>
              <a:t>(Progressive disease)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86F888-D6D6-4C4B-8D32-F45A166B49E5}"/>
              </a:ext>
            </a:extLst>
          </p:cNvPr>
          <p:cNvSpPr txBox="1"/>
          <p:nvPr/>
        </p:nvSpPr>
        <p:spPr>
          <a:xfrm>
            <a:off x="342738" y="4182193"/>
            <a:ext cx="2641403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latin typeface="+mj-ea"/>
                <a:ea typeface="+mj-ea"/>
              </a:rPr>
              <a:t>병변이 완전히 사라짐</a:t>
            </a:r>
            <a:r>
              <a:rPr lang="en-US" altLang="ko-KR" sz="1400" b="1" dirty="0">
                <a:latin typeface="+mj-ea"/>
                <a:ea typeface="+mj-ea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(4</a:t>
            </a:r>
            <a:r>
              <a:rPr lang="ko-KR" altLang="en-US" sz="1400" b="1" dirty="0">
                <a:latin typeface="+mj-ea"/>
                <a:ea typeface="+mj-ea"/>
              </a:rPr>
              <a:t>주 후 재확인 필요</a:t>
            </a:r>
            <a:r>
              <a:rPr lang="en-US" altLang="ko-KR" sz="14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11E576-DC51-476A-99BE-9EF9B17DAD9E}"/>
              </a:ext>
            </a:extLst>
          </p:cNvPr>
          <p:cNvSpPr txBox="1"/>
          <p:nvPr/>
        </p:nvSpPr>
        <p:spPr>
          <a:xfrm>
            <a:off x="2984141" y="4182193"/>
            <a:ext cx="2641403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30% </a:t>
            </a:r>
            <a:r>
              <a:rPr lang="ko-KR" altLang="en-US" sz="1400" b="1" dirty="0">
                <a:latin typeface="+mj-ea"/>
                <a:ea typeface="+mj-ea"/>
              </a:rPr>
              <a:t>감소</a:t>
            </a:r>
          </a:p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(4</a:t>
            </a:r>
            <a:r>
              <a:rPr lang="ko-KR" altLang="en-US" sz="1400" b="1" dirty="0">
                <a:latin typeface="+mj-ea"/>
                <a:ea typeface="+mj-ea"/>
              </a:rPr>
              <a:t>주 후 재확인 필요</a:t>
            </a:r>
            <a:r>
              <a:rPr lang="en-US" altLang="ko-KR" sz="14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340CC-9885-4FA0-B364-F2495B35D456}"/>
              </a:ext>
            </a:extLst>
          </p:cNvPr>
          <p:cNvSpPr txBox="1"/>
          <p:nvPr/>
        </p:nvSpPr>
        <p:spPr>
          <a:xfrm>
            <a:off x="5751910" y="4182193"/>
            <a:ext cx="2641403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PR</a:t>
            </a:r>
            <a:r>
              <a:rPr lang="ko-KR" altLang="en-US" sz="1400" b="1" dirty="0">
                <a:latin typeface="+mj-ea"/>
                <a:ea typeface="+mj-ea"/>
              </a:rPr>
              <a:t>과 </a:t>
            </a:r>
            <a:r>
              <a:rPr lang="en-US" altLang="ko-KR" sz="1400" b="1" dirty="0">
                <a:latin typeface="+mj-ea"/>
                <a:ea typeface="+mj-ea"/>
              </a:rPr>
              <a:t>PD </a:t>
            </a:r>
            <a:r>
              <a:rPr lang="ko-KR" altLang="en-US" sz="1400" b="1" dirty="0">
                <a:latin typeface="+mj-ea"/>
                <a:ea typeface="+mj-ea"/>
              </a:rPr>
              <a:t>기준의 중간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5ED271-3C92-4FC9-9DA9-0FBB0E734534}"/>
              </a:ext>
            </a:extLst>
          </p:cNvPr>
          <p:cNvSpPr txBox="1"/>
          <p:nvPr/>
        </p:nvSpPr>
        <p:spPr>
          <a:xfrm>
            <a:off x="8098503" y="4164077"/>
            <a:ext cx="4134774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20% </a:t>
            </a:r>
            <a:r>
              <a:rPr lang="ko-KR" altLang="en-US" sz="1400" b="1" dirty="0">
                <a:latin typeface="+mj-ea"/>
                <a:ea typeface="+mj-ea"/>
              </a:rPr>
              <a:t>이상 크기증가 혹은 새로운 병변 발생</a:t>
            </a:r>
          </a:p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(</a:t>
            </a:r>
            <a:r>
              <a:rPr lang="ko-KR" altLang="en-US" sz="1400" b="1" dirty="0">
                <a:latin typeface="+mj-ea"/>
                <a:ea typeface="+mj-ea"/>
              </a:rPr>
              <a:t>전에 </a:t>
            </a:r>
            <a:r>
              <a:rPr lang="en-US" altLang="ko-KR" sz="1400" b="1" dirty="0">
                <a:latin typeface="+mj-ea"/>
                <a:ea typeface="+mj-ea"/>
              </a:rPr>
              <a:t>CR, PR </a:t>
            </a:r>
            <a:r>
              <a:rPr lang="ko-KR" altLang="en-US" sz="1400" b="1" dirty="0">
                <a:latin typeface="+mj-ea"/>
                <a:ea typeface="+mj-ea"/>
              </a:rPr>
              <a:t>또는 </a:t>
            </a:r>
            <a:r>
              <a:rPr lang="en-US" altLang="ko-KR" sz="1400" b="1" dirty="0">
                <a:latin typeface="+mj-ea"/>
                <a:ea typeface="+mj-ea"/>
              </a:rPr>
              <a:t>SD</a:t>
            </a:r>
            <a:r>
              <a:rPr lang="ko-KR" altLang="en-US" sz="1400" b="1" dirty="0">
                <a:latin typeface="+mj-ea"/>
                <a:ea typeface="+mj-ea"/>
              </a:rPr>
              <a:t>가 확인되지 않았을 때</a:t>
            </a:r>
            <a:r>
              <a:rPr lang="en-US" altLang="ko-KR" sz="14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AAFAD43D-5587-495A-BAB0-4D2753115883}"/>
              </a:ext>
            </a:extLst>
          </p:cNvPr>
          <p:cNvSpPr/>
          <p:nvPr/>
        </p:nvSpPr>
        <p:spPr>
          <a:xfrm rot="10800000">
            <a:off x="9918847" y="5217085"/>
            <a:ext cx="209550" cy="171450"/>
          </a:xfrm>
          <a:prstGeom prst="triangle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6C76CB-4487-4252-958E-92E08C558C07}"/>
              </a:ext>
            </a:extLst>
          </p:cNvPr>
          <p:cNvSpPr txBox="1"/>
          <p:nvPr/>
        </p:nvSpPr>
        <p:spPr>
          <a:xfrm>
            <a:off x="8702921" y="5638878"/>
            <a:ext cx="2641403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FF0000"/>
                </a:solidFill>
                <a:latin typeface="+mj-ea"/>
                <a:ea typeface="+mj-ea"/>
              </a:rPr>
              <a:t>PD</a:t>
            </a:r>
            <a:r>
              <a:rPr lang="ko-KR" altLang="en-US" sz="1600" b="1" dirty="0">
                <a:solidFill>
                  <a:srgbClr val="FF0000"/>
                </a:solidFill>
                <a:latin typeface="+mj-ea"/>
                <a:ea typeface="+mj-ea"/>
              </a:rPr>
              <a:t>일 경우 항암요법 변경</a:t>
            </a:r>
          </a:p>
        </p:txBody>
      </p:sp>
    </p:spTree>
    <p:extLst>
      <p:ext uri="{BB962C8B-B14F-4D97-AF65-F5344CB8AC3E}">
        <p14:creationId xmlns:p14="http://schemas.microsoft.com/office/powerpoint/2010/main" val="364019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2714</TotalTime>
  <Words>764</Words>
  <Application>Microsoft Office PowerPoint</Application>
  <PresentationFormat>와이드스크린</PresentationFormat>
  <Paragraphs>120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KoPub돋움체 Medium</vt:lpstr>
      <vt:lpstr>nanum gothic</vt:lpstr>
      <vt:lpstr>맑은 고딕</vt:lpstr>
      <vt:lpstr>카페24 써라운드</vt:lpstr>
      <vt:lpstr>코트라 볼드체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민민 성</cp:lastModifiedBy>
  <cp:revision>234</cp:revision>
  <dcterms:created xsi:type="dcterms:W3CDTF">2025-12-19T04:57:04Z</dcterms:created>
  <dcterms:modified xsi:type="dcterms:W3CDTF">2026-07-15T23:53:21Z</dcterms:modified>
</cp:coreProperties>
</file>