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95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1" r:id="rId17"/>
    <p:sldId id="310" r:id="rId18"/>
    <p:sldId id="312" r:id="rId19"/>
    <p:sldId id="313" r:id="rId20"/>
    <p:sldId id="294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서론" id="{F93E12DA-42D8-404A-84C2-3A0715DE0C7D}">
          <p14:sldIdLst>
            <p14:sldId id="256"/>
            <p14:sldId id="295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1"/>
            <p14:sldId id="310"/>
            <p14:sldId id="312"/>
            <p14:sldId id="313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2" pos="234" userDrawn="1">
          <p15:clr>
            <a:srgbClr val="A4A3A4"/>
          </p15:clr>
        </p15:guide>
        <p15:guide id="3" pos="7446" userDrawn="1">
          <p15:clr>
            <a:srgbClr val="A4A3A4"/>
          </p15:clr>
        </p15:guide>
        <p15:guide id="4" pos="529" userDrawn="1">
          <p15:clr>
            <a:srgbClr val="A4A3A4"/>
          </p15:clr>
        </p15:guide>
        <p15:guide id="7" pos="3840" userDrawn="1">
          <p15:clr>
            <a:srgbClr val="A4A3A4"/>
          </p15:clr>
        </p15:guide>
        <p15:guide id="9" pos="7151" userDrawn="1">
          <p15:clr>
            <a:srgbClr val="A4A3A4"/>
          </p15:clr>
        </p15:guide>
        <p15:guide id="11" orient="horz" pos="3952" userDrawn="1">
          <p15:clr>
            <a:srgbClr val="A4A3A4"/>
          </p15:clr>
        </p15:guide>
        <p15:guide id="12" orient="horz" pos="8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54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2506" autoAdjust="0"/>
  </p:normalViewPr>
  <p:slideViewPr>
    <p:cSldViewPr snapToGrid="0">
      <p:cViewPr varScale="1">
        <p:scale>
          <a:sx n="131" d="100"/>
          <a:sy n="131" d="100"/>
        </p:scale>
        <p:origin x="516" y="114"/>
      </p:cViewPr>
      <p:guideLst>
        <p:guide pos="234"/>
        <p:guide pos="7446"/>
        <p:guide pos="529"/>
        <p:guide pos="3840"/>
        <p:guide pos="7151"/>
        <p:guide orient="horz" pos="3952"/>
        <p:guide orient="horz" pos="86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2001C-857C-44DF-8FE3-7E7EA72EA642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A9A12-E110-4E26-8834-B65FA9FF0C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382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763B2B-AF03-07AD-EE0A-B42A3C6B7980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  <p:pic>
        <p:nvPicPr>
          <p:cNvPr id="7" name="_x189390376" descr="EMB000038242a1a">
            <a:extLst>
              <a:ext uri="{FF2B5EF4-FFF2-40B4-BE49-F238E27FC236}">
                <a16:creationId xmlns:a16="http://schemas.microsoft.com/office/drawing/2014/main" id="{A0A0659D-0D17-3ECD-5DAD-5C88B84A5B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772" y="408424"/>
            <a:ext cx="1912990" cy="114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239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3667" kern="1200" baseline="0" dirty="0">
                <a:solidFill>
                  <a:srgbClr val="091C7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73A9FFC-5E32-F50E-16FF-71E12955C696}"/>
              </a:ext>
            </a:extLst>
          </p:cNvPr>
          <p:cNvCxnSpPr/>
          <p:nvPr userDrawn="1"/>
        </p:nvCxnSpPr>
        <p:spPr>
          <a:xfrm>
            <a:off x="1778000" y="1147203"/>
            <a:ext cx="9913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_x189390376" descr="EMB000038242a1a">
            <a:extLst>
              <a:ext uri="{FF2B5EF4-FFF2-40B4-BE49-F238E27FC236}">
                <a16:creationId xmlns:a16="http://schemas.microsoft.com/office/drawing/2014/main" id="{3B75B0BB-08A8-4824-8F99-4276338C56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1" y="292069"/>
            <a:ext cx="1252699" cy="74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C1B334-1EF5-DB6E-79C6-F0904302352B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1682523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67" baseline="0">
                <a:solidFill>
                  <a:srgbClr val="091C7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518D108-BBB9-0418-457E-A2BC08201BD7}"/>
              </a:ext>
            </a:extLst>
          </p:cNvPr>
          <p:cNvCxnSpPr/>
          <p:nvPr userDrawn="1"/>
        </p:nvCxnSpPr>
        <p:spPr>
          <a:xfrm>
            <a:off x="1778000" y="1147203"/>
            <a:ext cx="9913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_x189390376" descr="EMB000038242a1a">
            <a:extLst>
              <a:ext uri="{FF2B5EF4-FFF2-40B4-BE49-F238E27FC236}">
                <a16:creationId xmlns:a16="http://schemas.microsoft.com/office/drawing/2014/main" id="{2162BFC0-2B93-4ACD-6516-DF91A308E5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1" y="292069"/>
            <a:ext cx="1252699" cy="74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6B1A33-C984-3543-525C-D33AE1A27553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4120379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AADCA-E65D-9A8A-E9E6-C0B34E39F5C3}"/>
              </a:ext>
            </a:extLst>
          </p:cNvPr>
          <p:cNvSpPr txBox="1"/>
          <p:nvPr userDrawn="1"/>
        </p:nvSpPr>
        <p:spPr>
          <a:xfrm>
            <a:off x="5239836" y="2955379"/>
            <a:ext cx="20040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Q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4400" b="0" dirty="0">
                <a:solidFill>
                  <a:srgbClr val="24549C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&amp;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60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</a:t>
            </a:r>
            <a:endParaRPr lang="ko-KR" altLang="en-US" sz="4400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1A77E5-BC2C-5174-FE30-64288EF652B5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1576951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_x189390376" descr="EMB000038242a1a">
            <a:extLst>
              <a:ext uri="{FF2B5EF4-FFF2-40B4-BE49-F238E27FC236}">
                <a16:creationId xmlns:a16="http://schemas.microsoft.com/office/drawing/2014/main" id="{2388D911-2050-41D3-35D1-D680581078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204" y="2856850"/>
            <a:ext cx="1912990" cy="114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0AADCA-E65D-9A8A-E9E6-C0B34E39F5C3}"/>
              </a:ext>
            </a:extLst>
          </p:cNvPr>
          <p:cNvSpPr txBox="1"/>
          <p:nvPr userDrawn="1"/>
        </p:nvSpPr>
        <p:spPr>
          <a:xfrm>
            <a:off x="6165299" y="2955379"/>
            <a:ext cx="28087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감사합니다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ko-KR" altLang="en-US" sz="4400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2F4C66-AEE7-4773-FBFC-D3B3A41A27E7}"/>
              </a:ext>
            </a:extLst>
          </p:cNvPr>
          <p:cNvSpPr txBox="1"/>
          <p:nvPr userDrawn="1"/>
        </p:nvSpPr>
        <p:spPr>
          <a:xfrm flipH="1">
            <a:off x="6568807" y="372482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9EEB4C2-158E-04B1-36F8-7F9B0E2539F0}"/>
              </a:ext>
            </a:extLst>
          </p:cNvPr>
          <p:cNvCxnSpPr>
            <a:cxnSpLocks/>
          </p:cNvCxnSpPr>
          <p:nvPr userDrawn="1"/>
        </p:nvCxnSpPr>
        <p:spPr>
          <a:xfrm>
            <a:off x="6210300" y="3724820"/>
            <a:ext cx="2616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75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778000" y="365126"/>
            <a:ext cx="9575800" cy="782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55E2E-83CD-4389-B2E3-FB6950584B2A}" type="datetimeFigureOut">
              <a:rPr lang="ko-KR" altLang="en-US" smtClean="0"/>
              <a:t>2026-04-27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51AF2F3-873C-4833-A021-6053E3D69AA7}"/>
              </a:ext>
            </a:extLst>
          </p:cNvPr>
          <p:cNvSpPr/>
          <p:nvPr userDrawn="1"/>
        </p:nvSpPr>
        <p:spPr>
          <a:xfrm>
            <a:off x="0" y="-25400"/>
            <a:ext cx="12192000" cy="211667"/>
          </a:xfrm>
          <a:prstGeom prst="rect">
            <a:avLst/>
          </a:prstGeom>
          <a:solidFill>
            <a:srgbClr val="2454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46029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8" r:id="rId4"/>
    <p:sldLayoutId id="2147483667" r:id="rId5"/>
  </p:sldLayoutIdLst>
  <p:txStyles>
    <p:titleStyle>
      <a:lvl1pPr algn="l" defTabSz="914446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>
          <p15:clr>
            <a:srgbClr val="F26B43"/>
          </p15:clr>
        </p15:guide>
        <p15:guide id="2" pos="57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AD07D6-7EED-E5FD-9A0C-A37F9EB366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4374" y="1122363"/>
            <a:ext cx="10163252" cy="2387600"/>
          </a:xfrm>
        </p:spPr>
        <p:txBody>
          <a:bodyPr>
            <a:normAutofit/>
          </a:bodyPr>
          <a:lstStyle/>
          <a:p>
            <a:r>
              <a:rPr lang="ko-KR" altLang="en-US" sz="4400" dirty="0"/>
              <a:t>세포독성항암제 사용과 관련된 각종 부작용들</a:t>
            </a:r>
            <a:endParaRPr lang="en-US" altLang="ko-KR" sz="44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7" name="부제목 6">
            <a:extLst>
              <a:ext uri="{FF2B5EF4-FFF2-40B4-BE49-F238E27FC236}">
                <a16:creationId xmlns:a16="http://schemas.microsoft.com/office/drawing/2014/main" id="{771B585F-8D86-4099-9F39-9B5A75C07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06240"/>
            <a:ext cx="9144000" cy="1051560"/>
          </a:xfrm>
        </p:spPr>
        <p:txBody>
          <a:bodyPr/>
          <a:lstStyle/>
          <a:p>
            <a:r>
              <a:rPr lang="ko-KR" altLang="en-US" dirty="0"/>
              <a:t>순천향대학교부속 천안병원</a:t>
            </a:r>
          </a:p>
          <a:p>
            <a:r>
              <a:rPr lang="ko-KR" altLang="en-US" dirty="0"/>
              <a:t>종양혈액내과 정재훈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5973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0BED0-0BE7-4C72-B4A1-4E4F31CAD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세포독성항암제란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19D468-ABE8-4614-8EEB-04A5BE329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정상보다 비교적 빠르게 증식하는 암세포의 특징을 이용해 암세포를 죽이는 전통적인 항암제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DNA</a:t>
            </a: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와 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RNA</a:t>
            </a: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의 합성 과정과 유사분열을 방해하거나 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DNA </a:t>
            </a: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분자 자체에 해로운 영향을 미쳐 세포를 죽이고 증식을 억제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온 몸을 돌아다니면서 증식이 빠른 세포를 죽이는 원리 때문에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sz="2400" b="1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정상세포들도 함께 피해를 입게 된다</a:t>
            </a:r>
            <a:r>
              <a:rPr lang="en-US" altLang="ko-KR" sz="2400" b="1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rgbClr val="FF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=</a:t>
            </a:r>
            <a:r>
              <a:rPr lang="ko-KR" altLang="en-US" sz="2400" dirty="0">
                <a:solidFill>
                  <a:srgbClr val="FF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세포독성항암제의 부작용이 나타난다</a:t>
            </a:r>
            <a:r>
              <a:rPr lang="en-US" altLang="ko-KR" sz="2400" dirty="0">
                <a:solidFill>
                  <a:srgbClr val="FF0000"/>
                </a:solidFill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.</a:t>
            </a:r>
            <a:endParaRPr lang="ko-KR" altLang="en-US" sz="2400" dirty="0">
              <a:solidFill>
                <a:srgbClr val="FF0000"/>
              </a:solidFill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8969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0BED0-0BE7-4C72-B4A1-4E4F31CAD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세포독성항암제란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2E59010-E201-4230-A4B2-11E49050B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9015" y="1376363"/>
            <a:ext cx="3957828" cy="490591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5-FU</a:t>
            </a:r>
          </a:p>
          <a:p>
            <a:pPr>
              <a:lnSpc>
                <a:spcPct val="120000"/>
              </a:lnSpc>
            </a:pP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Gemcitabine (</a:t>
            </a:r>
            <a:r>
              <a:rPr lang="ko-KR" altLang="en-US" sz="24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젬자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ko-KR" sz="24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Cisplatin (</a:t>
            </a:r>
            <a:r>
              <a:rPr lang="ko-KR" altLang="en-US" sz="24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씨스푸란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Oxaliplatin (</a:t>
            </a:r>
            <a:r>
              <a:rPr lang="ko-KR" altLang="en-US" sz="24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옥살리틴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ko-KR" sz="24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Paclitaxel (</a:t>
            </a:r>
            <a:r>
              <a:rPr lang="ko-KR" altLang="en-US" sz="24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탁솔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Docetaxel (</a:t>
            </a:r>
            <a:r>
              <a:rPr lang="ko-KR" altLang="en-US" sz="24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탁소텔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sz="24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디탁셀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ko-KR" sz="24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Etoposide (</a:t>
            </a:r>
            <a:r>
              <a:rPr lang="ko-KR" altLang="en-US" sz="24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이피에스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E163184-B0A3-4C91-8A73-F8A54E618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9723" y="1376363"/>
            <a:ext cx="2587830" cy="234970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5C289D2-1FEC-449A-8347-DE852E967B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9724" y="4008619"/>
            <a:ext cx="2587829" cy="227366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93D9F40-A6A0-402F-8261-03D516FDD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646" y="2138218"/>
            <a:ext cx="3813340" cy="336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702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930808-CA61-491A-A3AB-802EF128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세포독성항암제로 인한 </a:t>
            </a:r>
            <a:r>
              <a:rPr lang="en-US" altLang="ko-KR" dirty="0"/>
              <a:t>Complaints…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36CDCC-DB0D-4979-BB9D-620D396B3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7648" y="1825626"/>
            <a:ext cx="5026152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머리가 </a:t>
            </a:r>
            <a:r>
              <a:rPr lang="ko-KR" altLang="en-US" sz="20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빠지잖아요</a:t>
            </a:r>
            <a:endParaRPr lang="ko-KR" altLang="en-US" sz="20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울렁거려요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가슴이 답답해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설사를 해요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피부에 </a:t>
            </a:r>
            <a:r>
              <a:rPr lang="ko-KR" altLang="en-US" sz="20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빨간게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난다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손이 저려 </a:t>
            </a:r>
            <a:r>
              <a:rPr lang="ko-KR" altLang="en-US" sz="20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못쓰겠어</a:t>
            </a:r>
            <a:endParaRPr lang="ko-KR" altLang="en-US" sz="20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기운이 없다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77EA8A3-0C35-4F21-95D0-D7E867188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480" y="1309421"/>
            <a:ext cx="4421518" cy="497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310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621D94-AD0D-404E-B843-19EEFE7E1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세포독성항암제와 탈모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511CBF-3F6F-4003-A944-256426FA3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76362"/>
            <a:ext cx="5257800" cy="4897437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머리가 </a:t>
            </a:r>
            <a:r>
              <a:rPr lang="ko-KR" altLang="en-US" sz="24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빠지잖아요</a:t>
            </a: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: CIA (Chemotherapy Induced Alopecia)</a:t>
            </a:r>
          </a:p>
          <a:p>
            <a:pPr>
              <a:lnSpc>
                <a:spcPct val="120000"/>
              </a:lnSpc>
            </a:pPr>
            <a:endParaRPr lang="en-US" altLang="ko-KR" sz="24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머리카락을 이루는 세포도 암세포처럼 빨리 자라기 때문에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항암제가 이들의 분열을 억제하면서 탈모가 시작된다</a:t>
            </a:r>
          </a:p>
          <a:p>
            <a:pPr>
              <a:lnSpc>
                <a:spcPct val="120000"/>
              </a:lnSpc>
            </a:pP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항암치료 수 주 후부터 발생한다</a:t>
            </a:r>
          </a:p>
          <a:p>
            <a:pPr>
              <a:lnSpc>
                <a:spcPct val="120000"/>
              </a:lnSpc>
            </a:pP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항암치료를 완료한 후에는 다시 머리가 자라날 수 있으므로 일시적인 현상이 될 수도 있지만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항암 전과 색이나 모양 차이가 발생할 수는 있다</a:t>
            </a:r>
          </a:p>
          <a:p>
            <a:pPr>
              <a:lnSpc>
                <a:spcPct val="120000"/>
              </a:lnSpc>
            </a:pP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머리로 가는 혈류를 줄이는 것으로 탈모도 줄일 수 있다고는 하나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현실적으로는 탈모 발생에 대한 사전 이해가 중요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E4D63AC-1137-4421-85DD-5AD2DE5BC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118" y="1960564"/>
            <a:ext cx="5257800" cy="318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188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48A2F-3E4F-441B-9D70-C1C7D2C85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세포독성항암제와 구역 구토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98FE94-6CFF-43C6-ACA1-A3356582F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191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CINV (Chemotherapy Induced Nausea and Vomiting)</a:t>
            </a:r>
          </a:p>
          <a:p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급성 구역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/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구토 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: 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보통 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24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시간 이내에 발생</a:t>
            </a:r>
          </a:p>
          <a:p>
            <a:r>
              <a:rPr lang="ko-KR" altLang="en-US" sz="20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지연성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구역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/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구토 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: 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치료 종료 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24~120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시간 사이에 발생 가능</a:t>
            </a:r>
          </a:p>
          <a:p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약제에 따라 예상되는 발생 위험성이 있고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예방약이 투여된다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A5EEB68-CDAA-48B8-B4FB-38EB495E5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708" y="3015405"/>
            <a:ext cx="5256584" cy="344618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84B1237-45CB-4365-B1B7-2B7822405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0" y="5321195"/>
            <a:ext cx="9144000" cy="77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71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40509-7F07-4594-AA3E-B9165C88C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세포독성항암제와 구역 구토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7E8A4A-9666-4345-9E87-1E17294FE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8497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ko-KR" altLang="en-US" sz="2000" b="1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예방을 해도 </a:t>
            </a:r>
            <a:r>
              <a:rPr lang="en-US" altLang="ko-KR" sz="2000" b="1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100% </a:t>
            </a:r>
            <a:r>
              <a:rPr lang="ko-KR" altLang="en-US" sz="2000" b="1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발생하지 않을 수는 없다</a:t>
            </a:r>
          </a:p>
          <a:p>
            <a:pPr>
              <a:lnSpc>
                <a:spcPct val="110000"/>
              </a:lnSpc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병행되는 약물치료나 방사선치료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환자의 </a:t>
            </a:r>
            <a:r>
              <a:rPr lang="ko-KR" altLang="en-US" sz="20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장기능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저하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암으로 인한 </a:t>
            </a:r>
            <a:r>
              <a:rPr lang="ko-KR" altLang="en-US" sz="20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고칼슘혈증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등으로도 발생할 수 있음</a:t>
            </a:r>
          </a:p>
          <a:p>
            <a:pPr>
              <a:lnSpc>
                <a:spcPct val="110000"/>
              </a:lnSpc>
            </a:pPr>
            <a:endParaRPr lang="ko-KR" altLang="en-US" sz="20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>
              <a:lnSpc>
                <a:spcPct val="110000"/>
              </a:lnSpc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원인이 될 수 있는 문제의 교정</a:t>
            </a:r>
          </a:p>
          <a:p>
            <a:pPr>
              <a:lnSpc>
                <a:spcPct val="110000"/>
              </a:lnSpc>
            </a:pP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Metoclopramide</a:t>
            </a:r>
          </a:p>
          <a:p>
            <a:pPr>
              <a:lnSpc>
                <a:spcPct val="110000"/>
              </a:lnSpc>
            </a:pP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Olanzapine 2.5mg~5mg</a:t>
            </a:r>
          </a:p>
          <a:p>
            <a:pPr>
              <a:lnSpc>
                <a:spcPct val="110000"/>
              </a:lnSpc>
            </a:pP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Ondansetron : 5HT3-RA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의 추가적 사용</a:t>
            </a:r>
          </a:p>
        </p:txBody>
      </p:sp>
    </p:spTree>
    <p:extLst>
      <p:ext uri="{BB962C8B-B14F-4D97-AF65-F5344CB8AC3E}">
        <p14:creationId xmlns:p14="http://schemas.microsoft.com/office/powerpoint/2010/main" val="2467612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40509-7F07-4594-AA3E-B9165C88C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세포독성항암제와 호흡곤란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7E8A4A-9666-4345-9E87-1E17294FE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363"/>
            <a:ext cx="6316066" cy="480060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60000"/>
              </a:lnSpc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주입 중 과민성 반응</a:t>
            </a:r>
          </a:p>
          <a:p>
            <a:pPr>
              <a:lnSpc>
                <a:spcPct val="160000"/>
              </a:lnSpc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약제를 멈추고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항히스타민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스테로이드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수액투여 등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…</a:t>
            </a:r>
          </a:p>
          <a:p>
            <a:pPr>
              <a:lnSpc>
                <a:spcPct val="160000"/>
              </a:lnSpc>
            </a:pPr>
            <a:endParaRPr lang="en-US" altLang="ko-KR" sz="20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>
              <a:lnSpc>
                <a:spcPct val="160000"/>
              </a:lnSpc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항암치료로 인한 </a:t>
            </a:r>
            <a:r>
              <a:rPr lang="ko-KR" altLang="en-US" sz="20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심독성</a:t>
            </a:r>
            <a:endParaRPr lang="ko-KR" altLang="en-US" sz="20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>
              <a:lnSpc>
                <a:spcPct val="160000"/>
              </a:lnSpc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항암 전후 심초음파 확인 및 필요시 </a:t>
            </a:r>
            <a:r>
              <a:rPr lang="ko-KR" altLang="en-US" sz="20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심장내과적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약제 조절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때로는 예방약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(Dexrazoxane)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을 사용</a:t>
            </a:r>
          </a:p>
          <a:p>
            <a:pPr>
              <a:lnSpc>
                <a:spcPct val="160000"/>
              </a:lnSpc>
            </a:pPr>
            <a:endParaRPr lang="ko-KR" altLang="en-US" sz="20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>
              <a:lnSpc>
                <a:spcPct val="160000"/>
              </a:lnSpc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항암제 유발 </a:t>
            </a:r>
            <a:r>
              <a:rPr lang="ko-KR" altLang="en-US" sz="20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폐장염</a:t>
            </a:r>
            <a:endParaRPr lang="ko-KR" altLang="en-US" sz="20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>
              <a:lnSpc>
                <a:spcPct val="160000"/>
              </a:lnSpc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면역저하와 관련된 폐렴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697FD6A-E2C3-44C4-8AEE-92684594E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9210" y="2157245"/>
            <a:ext cx="4545276" cy="313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800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40509-7F07-4594-AA3E-B9165C88C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세포독성항암제와 </a:t>
            </a:r>
            <a:r>
              <a:rPr lang="ko-KR" altLang="en-US" dirty="0" err="1"/>
              <a:t>구내염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7E8A4A-9666-4345-9E87-1E17294FE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363"/>
            <a:ext cx="6886651" cy="4897437"/>
          </a:xfrm>
        </p:spPr>
        <p:txBody>
          <a:bodyPr>
            <a:normAutofit fontScale="77500" lnSpcReduction="20000"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주로 구강 </a:t>
            </a:r>
            <a:r>
              <a:rPr lang="ko-KR" altLang="en-US" sz="20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점막염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(Oral Mucositis)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의 형태로 발생</a:t>
            </a:r>
            <a:endParaRPr lang="en-US" altLang="ko-KR" sz="20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Platinum 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계열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5-FU 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등의 약제 사용시 자주 발생</a:t>
            </a:r>
            <a:endParaRPr lang="en-US" altLang="ko-KR" sz="20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두경부암의 경우 동반되는 방사선치료의 영향도 받을 수 있다</a:t>
            </a:r>
            <a:endParaRPr lang="en-US" altLang="ko-KR" sz="20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구강내 점막세포 및 정상세균총이 항암제의 영향을 받고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면역반응이 증가하면서 발생</a:t>
            </a:r>
            <a:endParaRPr lang="en-US" altLang="ko-KR" sz="20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endParaRPr lang="en-US" altLang="ko-KR" sz="24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구강위생 관리 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(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세척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sz="20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가글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등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…)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NSAIDs / </a:t>
            </a:r>
            <a:r>
              <a:rPr lang="ko-KR" altLang="en-US" sz="20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마약성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진통제</a:t>
            </a:r>
            <a:endParaRPr lang="en-US" altLang="ko-KR" sz="20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생리식염수 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+ Sodium Bicarbonate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20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멜라토닌이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도움이 될 수 있다</a:t>
            </a:r>
            <a:endParaRPr lang="en-US" altLang="ko-KR" sz="20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한랭요법</a:t>
            </a:r>
            <a:endParaRPr lang="en-US" altLang="ko-KR" sz="24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E5D5DD-9B92-4811-9301-CDE430605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650" y="1376363"/>
            <a:ext cx="3477150" cy="280356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7193724-F8F8-4820-9EB5-595204F24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538" y="3470235"/>
            <a:ext cx="3095873" cy="280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670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40509-7F07-4594-AA3E-B9165C88C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세포독성항암제와 설사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7E8A4A-9666-4345-9E87-1E17294FE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4051"/>
            <a:ext cx="10090709" cy="485291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8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Irinotecan / 5-FU </a:t>
            </a:r>
            <a:r>
              <a:rPr lang="ko-KR" altLang="en-US" sz="18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등 사용에서 </a:t>
            </a:r>
            <a:r>
              <a:rPr lang="en-US" altLang="ko-KR" sz="18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50-80%</a:t>
            </a:r>
            <a:r>
              <a:rPr lang="ko-KR" altLang="en-US" sz="18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까지도 발생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8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장내 상피세포가 항암제의 영향으로 손상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8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정상세균총의 조성도 변화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8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Lactobacillus / Bifidobacterium </a:t>
            </a:r>
            <a:r>
              <a:rPr lang="ko-KR" altLang="en-US" sz="18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등의 감소</a:t>
            </a:r>
            <a:r>
              <a:rPr lang="en-US" altLang="ko-KR" sz="18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Proteobacteria / Fusobacteria</a:t>
            </a:r>
            <a:r>
              <a:rPr lang="ko-KR" altLang="en-US" sz="18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의 증가로 악영향을 초래</a:t>
            </a:r>
          </a:p>
          <a:p>
            <a:pPr>
              <a:lnSpc>
                <a:spcPct val="150000"/>
              </a:lnSpc>
              <a:defRPr/>
            </a:pPr>
            <a:endParaRPr lang="ko-KR" altLang="en-US" sz="18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8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수액을 통한 탈수 예방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8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필요시 </a:t>
            </a:r>
            <a:r>
              <a:rPr lang="en-US" altLang="ko-KR" sz="18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loperamide </a:t>
            </a:r>
            <a:r>
              <a:rPr lang="ko-KR" altLang="en-US" sz="18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등 설사를 억제할 수 있는 약제 추가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8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프로바이오틱스</a:t>
            </a:r>
            <a:r>
              <a:rPr lang="ko-KR" altLang="en-US" sz="18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</a:t>
            </a:r>
            <a:r>
              <a:rPr lang="en-US" altLang="ko-KR" sz="18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(</a:t>
            </a:r>
            <a:r>
              <a:rPr lang="en-US" altLang="ko-KR" sz="18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Lacidofil</a:t>
            </a:r>
            <a:r>
              <a:rPr lang="en-US" altLang="ko-KR" sz="18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en-US" altLang="ko-KR" sz="18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Ramnos</a:t>
            </a:r>
            <a:r>
              <a:rPr lang="en-US" altLang="ko-KR" sz="18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</a:t>
            </a:r>
            <a:r>
              <a:rPr lang="ko-KR" altLang="en-US" sz="18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등</a:t>
            </a:r>
            <a:r>
              <a:rPr lang="en-US" altLang="ko-KR" sz="18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…)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8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설사를 유발할 수 있는 기존 복용 약제의 제거가 필요</a:t>
            </a:r>
            <a:endParaRPr lang="en-US" altLang="ko-KR" sz="24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5757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40509-7F07-4594-AA3E-B9165C88C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세포독성항암제와 피부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7E8A4A-9666-4345-9E87-1E17294FE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76364"/>
            <a:ext cx="6199023" cy="4897436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sz="2000" b="1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정맥 투여부위 피부로의 직접 노출</a:t>
            </a:r>
            <a:endParaRPr lang="en-US" altLang="ko-KR" sz="2000" b="1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즉시 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infusion 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중단하되 </a:t>
            </a:r>
            <a:r>
              <a:rPr lang="ko-KR" altLang="en-US" sz="20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카테터는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유지한 채로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문제가 된 약물 및 혈액 일부를 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aspiration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하여 최대한 제거</a:t>
            </a:r>
            <a:endParaRPr lang="en-US" altLang="ko-KR" sz="20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노출 부위 영역을 표시해 두기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Irritant / Vesicant 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약물 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(MTX, Cyclophosphamide, Paclitaxel, </a:t>
            </a:r>
            <a:r>
              <a:rPr lang="en-US" altLang="ko-KR" sz="20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Antracyclines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…)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이 노출되었을 경우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Hyaluronidase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</a:t>
            </a:r>
            <a:r>
              <a:rPr lang="en-US" altLang="ko-KR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150~1500IU</a:t>
            </a:r>
            <a:r>
              <a:rPr lang="ko-KR" altLang="en-US" sz="20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피하주사가 필요할 수 있음</a:t>
            </a: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7A29C7F-76BA-4E28-8670-8EF920D8E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944" y="1880971"/>
            <a:ext cx="4487232" cy="326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915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40509-7F07-4594-AA3E-B9165C88C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세포독성항암제와 피부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7E8A4A-9666-4345-9E87-1E17294FE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76364"/>
            <a:ext cx="6199023" cy="4800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2000" dirty="0"/>
              <a:t>피부세포 손상 또는 </a:t>
            </a:r>
            <a:r>
              <a:rPr lang="ko-KR" altLang="en-US" sz="2000" dirty="0" err="1"/>
              <a:t>광과민성</a:t>
            </a:r>
            <a:r>
              <a:rPr lang="ko-KR" altLang="en-US" sz="2000" dirty="0"/>
              <a:t> 발현</a:t>
            </a:r>
            <a:r>
              <a:rPr lang="en-US" altLang="ko-KR" sz="2000" dirty="0"/>
              <a:t>?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2000" dirty="0"/>
              <a:t>혈소판 감소와 관련된 </a:t>
            </a:r>
            <a:r>
              <a:rPr lang="ko-KR" altLang="en-US" sz="2000" dirty="0" err="1"/>
              <a:t>출혈성</a:t>
            </a:r>
            <a:r>
              <a:rPr lang="ko-KR" altLang="en-US" sz="2000" dirty="0"/>
              <a:t> 자반</a:t>
            </a:r>
            <a:r>
              <a:rPr lang="en-US" altLang="ko-KR" sz="2000" dirty="0"/>
              <a:t>?</a:t>
            </a:r>
            <a:endParaRPr lang="en-US" altLang="ko-KR" sz="2400" dirty="0"/>
          </a:p>
          <a:p>
            <a:pPr lvl="0">
              <a:lnSpc>
                <a:spcPct val="150000"/>
              </a:lnSpc>
              <a:defRPr/>
            </a:pPr>
            <a:r>
              <a:rPr lang="ko-KR" altLang="en-US" sz="2000" dirty="0"/>
              <a:t>원인 감별</a:t>
            </a:r>
            <a:r>
              <a:rPr lang="en-US" altLang="ko-KR" sz="2000" dirty="0"/>
              <a:t>, </a:t>
            </a:r>
            <a:r>
              <a:rPr lang="ko-KR" altLang="en-US" sz="2000" dirty="0"/>
              <a:t>원인이 될 수 있는 약제 중단 및 대증적 치료가 필요</a:t>
            </a:r>
            <a:endParaRPr lang="en-US" altLang="ko-KR" sz="2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3354BEF-A760-49DC-8796-9E1326BFB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509" y="3811022"/>
            <a:ext cx="3105770" cy="246277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640D4C0-E6F4-440F-9F5A-06B8A305B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269" y="3811022"/>
            <a:ext cx="3712276" cy="246277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7652B97-AE4C-463E-A8B5-B1EE37C2DA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509" y="1343738"/>
            <a:ext cx="3105770" cy="239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228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ADBDB-80BE-4CC9-B3D3-CC9A5DFF5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세포독성항암제와 혈구감소증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AC9F0D-7F9A-426E-9759-9B72EA432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1376363"/>
            <a:ext cx="5724525" cy="480060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항암제 사용의 영향으로 골수 기능이 억제되어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혈구 세포가 정상적으로 만들어지지 못함</a:t>
            </a:r>
          </a:p>
          <a:p>
            <a:pPr>
              <a:lnSpc>
                <a:spcPct val="110000"/>
              </a:lnSpc>
            </a:pP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항암제에 의해 발생된 면역 반응이 이미 만들어진 세포를 파괴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(Oxaliplatin, Irinotecan </a:t>
            </a: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등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)</a:t>
            </a:r>
          </a:p>
          <a:p>
            <a:pPr>
              <a:lnSpc>
                <a:spcPct val="110000"/>
              </a:lnSpc>
            </a:pPr>
            <a:endParaRPr lang="en-US" altLang="ko-KR" sz="24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>
              <a:lnSpc>
                <a:spcPct val="110000"/>
              </a:lnSpc>
            </a:pP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빈혈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혈소판 </a:t>
            </a:r>
            <a:r>
              <a:rPr lang="ko-KR" altLang="en-US" sz="24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감소증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백혈구 감소증이 모두 발생할 수 있다</a:t>
            </a:r>
          </a:p>
          <a:p>
            <a:pPr>
              <a:lnSpc>
                <a:spcPct val="110000"/>
              </a:lnSpc>
            </a:pP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항암제의 종류 및 용량에 따라 다르지만 전체 </a:t>
            </a:r>
            <a:r>
              <a:rPr lang="ko-KR" altLang="en-US" sz="24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고형암</a:t>
            </a: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환자의 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25% </a:t>
            </a: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정도가 경험하는 부작용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CA73E64-E9DE-4243-B11B-381981FA1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4" y="1376363"/>
            <a:ext cx="5521517" cy="4897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731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ADBDB-80BE-4CC9-B3D3-CC9A5DFF5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세포독성항암제와 혈구감소증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AC9F0D-7F9A-426E-9759-9B72EA432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107" y="4414652"/>
            <a:ext cx="10724693" cy="1859148"/>
          </a:xfrm>
        </p:spPr>
        <p:txBody>
          <a:bodyPr>
            <a:normAutofit fontScale="77500" lnSpcReduction="20000"/>
          </a:bodyPr>
          <a:lstStyle/>
          <a:p>
            <a:pPr marL="285750" indent="-285750">
              <a:lnSpc>
                <a:spcPct val="120000"/>
              </a:lnSpc>
            </a:pP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골수 기능이 현재 억제되어 있음을 나타내므로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수혈 진행 여부와는 관계없이 때로는 항암치료를 연기해야 한다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.</a:t>
            </a:r>
          </a:p>
          <a:p>
            <a:pPr marL="285750" indent="-285750">
              <a:lnSpc>
                <a:spcPct val="120000"/>
              </a:lnSpc>
            </a:pPr>
            <a:endParaRPr lang="en-US" altLang="ko-KR" sz="24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marL="285750" indent="-285750">
              <a:lnSpc>
                <a:spcPct val="120000"/>
              </a:lnSpc>
            </a:pP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항암치료를 연기하고 시간이 지나면 회복될 수 있으나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회복되기 전까지는 적절한 수혈 진행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이후의 항암치료 용량 조절 등이 필요하다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29675C5-FB96-4944-A18D-E0D3248CB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4624" y="1251952"/>
            <a:ext cx="8002117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375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720AB1-1928-48EB-A4F9-8B3413906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세포독성항암제와 신경병증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A89453-D207-4112-A2ED-EE881F542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CIPN (Chemotherapy-Induced Peripheral Neuropathy) </a:t>
            </a:r>
          </a:p>
          <a:p>
            <a:pPr>
              <a:lnSpc>
                <a:spcPct val="100000"/>
              </a:lnSpc>
            </a:pPr>
            <a:endParaRPr lang="en-US" altLang="ko-KR" sz="2400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>
              <a:lnSpc>
                <a:spcPct val="100000"/>
              </a:lnSpc>
            </a:pP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항암 환자들이 흔히 호소하는 </a:t>
            </a:r>
            <a:r>
              <a:rPr lang="ko-KR" altLang="en-US" sz="24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손저림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sz="24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발저림의</a:t>
            </a: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원인</a:t>
            </a:r>
          </a:p>
          <a:p>
            <a:pPr>
              <a:lnSpc>
                <a:spcPct val="100000"/>
              </a:lnSpc>
            </a:pP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주로 손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/</a:t>
            </a: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발 끝이 저린 느낌으로 시작하지만 증상이 위로 타고 올라가면서 악화될 수 있다</a:t>
            </a:r>
          </a:p>
          <a:p>
            <a:pPr>
              <a:lnSpc>
                <a:spcPct val="100000"/>
              </a:lnSpc>
            </a:pP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저혈압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변비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배뇨장애 등을 발생시키거나 </a:t>
            </a:r>
            <a:r>
              <a:rPr lang="ko-KR" altLang="en-US" sz="2400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근위약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균형감각 저하 등으로 걷지 못하게 될 수도 있다</a:t>
            </a:r>
          </a:p>
          <a:p>
            <a:pPr>
              <a:lnSpc>
                <a:spcPct val="100000"/>
              </a:lnSpc>
            </a:pP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항암치료가 종료된 후에도 </a:t>
            </a:r>
            <a:r>
              <a:rPr lang="en-US" altLang="ko-KR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40% </a:t>
            </a:r>
            <a:r>
              <a:rPr lang="ko-KR" altLang="en-US" sz="2400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정도의 환자는 후유증으로 계속 남는다</a:t>
            </a:r>
          </a:p>
        </p:txBody>
      </p:sp>
    </p:spTree>
    <p:extLst>
      <p:ext uri="{BB962C8B-B14F-4D97-AF65-F5344CB8AC3E}">
        <p14:creationId xmlns:p14="http://schemas.microsoft.com/office/powerpoint/2010/main" val="35252789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720AB1-1928-48EB-A4F9-8B3413906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세포독성항암제와 신경병증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A89453-D207-4112-A2ED-EE881F542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363"/>
            <a:ext cx="10515600" cy="4800601"/>
          </a:xfrm>
        </p:spPr>
        <p:txBody>
          <a:bodyPr>
            <a:normAutofit/>
          </a:bodyPr>
          <a:lstStyle/>
          <a:p>
            <a:pPr lvl="0">
              <a:lnSpc>
                <a:spcPct val="110000"/>
              </a:lnSpc>
              <a:defRPr/>
            </a:pPr>
            <a:r>
              <a:rPr lang="ko-KR" altLang="en-US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만성질환으로서의</a:t>
            </a:r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약물치료</a:t>
            </a: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lvl="1">
              <a:lnSpc>
                <a:spcPct val="110000"/>
              </a:lnSpc>
              <a:defRPr/>
            </a:pPr>
            <a:r>
              <a:rPr lang="en-US" altLang="ko-KR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Duloxetine, Pregabalin</a:t>
            </a:r>
          </a:p>
          <a:p>
            <a:pPr lvl="1">
              <a:lnSpc>
                <a:spcPct val="110000"/>
              </a:lnSpc>
              <a:defRPr/>
            </a:pPr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약제 부작용으로 졸림</a:t>
            </a:r>
            <a:r>
              <a:rPr lang="en-US" altLang="ko-KR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기운없음</a:t>
            </a:r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등이 있을 수 있음</a:t>
            </a: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>
              <a:lnSpc>
                <a:spcPct val="110000"/>
              </a:lnSpc>
              <a:defRPr/>
            </a:pP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>
              <a:lnSpc>
                <a:spcPct val="110000"/>
              </a:lnSpc>
              <a:defRPr/>
            </a:pPr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약물치료로 조절되지 않는다면</a:t>
            </a:r>
            <a:r>
              <a:rPr lang="en-US" altLang="ko-KR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원인이 되는 항암제의 감량 또는 중단이 필요</a:t>
            </a: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lvl="1">
              <a:lnSpc>
                <a:spcPct val="110000"/>
              </a:lnSpc>
              <a:buFont typeface="Wingdings" panose="05000000000000000000" pitchFamily="2" charset="2"/>
              <a:buChar char="Ø"/>
              <a:defRPr/>
            </a:pPr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치료 효과의 저하 및 생존 여부에도 악영향을 준다</a:t>
            </a: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433023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3EC866-C6BA-4BC8-BD00-11196A49A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세포독성항암제와 전신쇠약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1F6FB3-03B6-423A-AF3B-1D3A65FE4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363"/>
            <a:ext cx="5257800" cy="4800601"/>
          </a:xfrm>
        </p:spPr>
        <p:txBody>
          <a:bodyPr/>
          <a:lstStyle/>
          <a:p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체중 저하</a:t>
            </a:r>
            <a:r>
              <a:rPr lang="en-US" altLang="ko-KR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피로</a:t>
            </a:r>
            <a:r>
              <a:rPr lang="en-US" altLang="ko-KR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식욕 감퇴 등</a:t>
            </a:r>
            <a:r>
              <a:rPr lang="en-US" altLang="ko-KR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…</a:t>
            </a:r>
          </a:p>
          <a:p>
            <a:r>
              <a:rPr lang="en-US" altLang="ko-KR" b="1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Cachexia</a:t>
            </a:r>
            <a:r>
              <a:rPr lang="en-US" altLang="ko-KR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(</a:t>
            </a:r>
            <a:r>
              <a:rPr lang="ko-KR" altLang="en-US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악액질</a:t>
            </a:r>
            <a:r>
              <a:rPr lang="en-US" altLang="ko-KR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) : </a:t>
            </a:r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근육 손실과 대사 이상의 진행</a:t>
            </a:r>
          </a:p>
          <a:p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암의 진행 </a:t>
            </a:r>
            <a:r>
              <a:rPr lang="en-US" altLang="ko-KR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+ </a:t>
            </a:r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항암제 독성이 모두 원인이 될 수 있다</a:t>
            </a:r>
          </a:p>
          <a:p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수술이나 방사선치료에 비해 발생률이 높다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B1DE95C-7EBC-4A47-A4B1-03A9E2A4E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833" y="1689900"/>
            <a:ext cx="5710570" cy="3950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93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3EC866-C6BA-4BC8-BD00-11196A49A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세포독성항암제와 전신쇠약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1F6FB3-03B6-423A-AF3B-1D3A65FE4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665" y="1376363"/>
            <a:ext cx="5257800" cy="4800601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고령 환자일수록</a:t>
            </a:r>
            <a:r>
              <a:rPr lang="en-US" altLang="ko-KR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진행된 암일수록 위험성이 크지만 젊은 나이에서도 발생한다</a:t>
            </a: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결과적으로 다른 부작용의 발생률과 사망률을 높인다</a:t>
            </a:r>
          </a:p>
          <a:p>
            <a:pPr>
              <a:lnSpc>
                <a:spcPct val="110000"/>
              </a:lnSpc>
            </a:pPr>
            <a:endParaRPr lang="ko-KR" altLang="en-US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문제를 인지하고</a:t>
            </a:r>
            <a:r>
              <a:rPr lang="en-US" altLang="ko-KR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영양 공급을 보조하는 것이 필요</a:t>
            </a:r>
          </a:p>
          <a:p>
            <a:pPr>
              <a:lnSpc>
                <a:spcPct val="110000"/>
              </a:lnSpc>
            </a:pPr>
            <a:r>
              <a:rPr lang="en-US" altLang="ko-KR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TPN, </a:t>
            </a:r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경구</a:t>
            </a:r>
            <a:r>
              <a:rPr lang="en-US" altLang="ko-KR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/</a:t>
            </a:r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경장영양 공급</a:t>
            </a:r>
          </a:p>
          <a:p>
            <a:pPr>
              <a:lnSpc>
                <a:spcPct val="110000"/>
              </a:lnSpc>
            </a:pPr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조절되지 않는다면 항암치료 지속도 어렵다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1EC763-DB5C-4DAC-A185-06ADF0855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4" y="1825626"/>
            <a:ext cx="5557573" cy="4029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372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3EC866-C6BA-4BC8-BD00-11196A49A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세포독성항암제의 부작용들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1F6FB3-03B6-423A-AF3B-1D3A65FE4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376363"/>
            <a:ext cx="10581677" cy="4800601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세포독성항암제 </a:t>
            </a:r>
            <a:r>
              <a:rPr lang="en-US" altLang="ko-KR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: </a:t>
            </a:r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전신에 </a:t>
            </a:r>
            <a:r>
              <a:rPr lang="ko-KR" altLang="en-US" dirty="0" err="1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비특이적으로</a:t>
            </a:r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작용하는 약제</a:t>
            </a: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환자가 호소하는 다양한 증상이 실제로는 모두 항암제 사용과 관련되어 있을 수 있다</a:t>
            </a: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lvl="0">
              <a:lnSpc>
                <a:spcPct val="150000"/>
              </a:lnSpc>
              <a:defRPr/>
            </a:pP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lvl="0">
              <a:lnSpc>
                <a:spcPct val="150000"/>
              </a:lnSpc>
              <a:defRPr/>
            </a:pPr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의료진이 빠르고 적절하게 문제를 인지해야 치명적인 부작용을 막고</a:t>
            </a:r>
            <a:r>
              <a:rPr lang="en-US" altLang="ko-KR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항암치료를 더 오래 지속할 수 있다</a:t>
            </a: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ko-KR" altLang="en-US" b="1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 환자가 더 오래</a:t>
            </a:r>
            <a:r>
              <a:rPr lang="en-US" altLang="ko-KR" b="1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, </a:t>
            </a:r>
            <a:r>
              <a:rPr lang="ko-KR" altLang="en-US" b="1" dirty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건강하게 살 수 있다</a:t>
            </a:r>
            <a:endParaRPr lang="en-US" altLang="ko-KR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07255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88894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851</TotalTime>
  <Words>811</Words>
  <Application>Microsoft Office PowerPoint</Application>
  <PresentationFormat>와이드스크린</PresentationFormat>
  <Paragraphs>128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KoPub돋움체 Bold</vt:lpstr>
      <vt:lpstr>KoPub돋움체 Light</vt:lpstr>
      <vt:lpstr>맑은 고딕</vt:lpstr>
      <vt:lpstr>Arial</vt:lpstr>
      <vt:lpstr>Wingdings</vt:lpstr>
      <vt:lpstr>1_Office 테마</vt:lpstr>
      <vt:lpstr>세포독성항암제 사용과 관련된 각종 부작용들</vt:lpstr>
      <vt:lpstr>세포독성항암제란?</vt:lpstr>
      <vt:lpstr>세포독성항암제란?</vt:lpstr>
      <vt:lpstr>세포독성항암제로 인한 Complaints…</vt:lpstr>
      <vt:lpstr>세포독성항암제와 탈모</vt:lpstr>
      <vt:lpstr>세포독성항암제와 구역 구토</vt:lpstr>
      <vt:lpstr>세포독성항암제와 구역 구토</vt:lpstr>
      <vt:lpstr>세포독성항암제와 호흡곤란</vt:lpstr>
      <vt:lpstr>세포독성항암제와 구내염</vt:lpstr>
      <vt:lpstr>세포독성항암제와 설사</vt:lpstr>
      <vt:lpstr>세포독성항암제와 피부</vt:lpstr>
      <vt:lpstr>세포독성항암제와 피부</vt:lpstr>
      <vt:lpstr>세포독성항암제와 혈구감소증</vt:lpstr>
      <vt:lpstr>세포독성항암제와 혈구감소증</vt:lpstr>
      <vt:lpstr>세포독성항암제와 신경병증</vt:lpstr>
      <vt:lpstr>세포독성항암제와 신경병증</vt:lpstr>
      <vt:lpstr>세포독성항암제와 전신쇠약</vt:lpstr>
      <vt:lpstr>세포독성항암제와 전신쇠약</vt:lpstr>
      <vt:lpstr>세포독성항암제의 부작용들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[2026 QI] WeValue 우리가치</dc:title>
  <dc:creator>성민 임</dc:creator>
  <cp:lastModifiedBy>rahee</cp:lastModifiedBy>
  <cp:revision>958</cp:revision>
  <dcterms:created xsi:type="dcterms:W3CDTF">2026-03-04T12:11:45Z</dcterms:created>
  <dcterms:modified xsi:type="dcterms:W3CDTF">2026-04-27T13:42:21Z</dcterms:modified>
</cp:coreProperties>
</file>