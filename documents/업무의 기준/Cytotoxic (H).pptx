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8" r:id="rId1"/>
  </p:sldMasterIdLst>
  <p:notesMasterIdLst>
    <p:notesMasterId r:id="rId22"/>
  </p:notesMasterIdLst>
  <p:sldIdLst>
    <p:sldId id="256" r:id="rId2"/>
    <p:sldId id="267" r:id="rId3"/>
    <p:sldId id="288" r:id="rId4"/>
    <p:sldId id="289" r:id="rId5"/>
    <p:sldId id="290" r:id="rId6"/>
    <p:sldId id="292" r:id="rId7"/>
    <p:sldId id="291" r:id="rId8"/>
    <p:sldId id="293" r:id="rId9"/>
    <p:sldId id="294" r:id="rId10"/>
    <p:sldId id="296" r:id="rId11"/>
    <p:sldId id="295" r:id="rId12"/>
    <p:sldId id="297" r:id="rId13"/>
    <p:sldId id="298" r:id="rId14"/>
    <p:sldId id="299" r:id="rId15"/>
    <p:sldId id="300" r:id="rId16"/>
    <p:sldId id="302" r:id="rId17"/>
    <p:sldId id="301" r:id="rId18"/>
    <p:sldId id="303" r:id="rId19"/>
    <p:sldId id="304" r:id="rId20"/>
    <p:sldId id="305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BE0AC4B-15B2-4C36-9EA5-26419FF3F332}">
          <p14:sldIdLst>
            <p14:sldId id="256"/>
            <p14:sldId id="267"/>
            <p14:sldId id="288"/>
            <p14:sldId id="289"/>
            <p14:sldId id="290"/>
            <p14:sldId id="292"/>
            <p14:sldId id="291"/>
            <p14:sldId id="293"/>
            <p14:sldId id="294"/>
            <p14:sldId id="296"/>
            <p14:sldId id="295"/>
            <p14:sldId id="297"/>
            <p14:sldId id="298"/>
            <p14:sldId id="299"/>
            <p14:sldId id="300"/>
            <p14:sldId id="302"/>
            <p14:sldId id="301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72773" autoAdjust="0"/>
  </p:normalViewPr>
  <p:slideViewPr>
    <p:cSldViewPr>
      <p:cViewPr varScale="1">
        <p:scale>
          <a:sx n="159" d="100"/>
          <a:sy n="159" d="100"/>
        </p:scale>
        <p:origin x="1674" y="144"/>
      </p:cViewPr>
      <p:guideLst>
        <p:guide orient="horz" pos="2149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E7685A-0E57-49B9-9DA8-455BBC362E8D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25E7F379-5441-49E2-93D6-785EB9E3BB6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0819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315038 </a:t>
            </a:r>
            <a:r>
              <a:rPr lang="ko-KR" altLang="en-US" dirty="0" err="1"/>
              <a:t>이길순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25E7F379-5441-49E2-93D6-785EB9E3BB6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908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-cover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611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50827" y="2219640"/>
            <a:ext cx="8569325" cy="723275"/>
          </a:xfrm>
        </p:spPr>
        <p:txBody>
          <a:bodyPr/>
          <a:lstStyle>
            <a:lvl1pPr>
              <a:defRPr sz="4100" b="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39850" y="4076704"/>
            <a:ext cx="6400800" cy="2174875"/>
          </a:xfrm>
        </p:spPr>
        <p:txBody>
          <a:bodyPr anchor="ctr"/>
          <a:lstStyle>
            <a:lvl1pPr marL="0" indent="0" algn="ctr">
              <a:buFontTx/>
              <a:buNone/>
              <a:defRPr b="1"/>
            </a:lvl1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2A783B-6934-4E7C-963C-1BAA80BDBFA6}" type="datetimeFigureOut">
              <a:rPr lang="ko-KR" altLang="en-US" smtClean="0"/>
              <a:pPr/>
              <a:t>2026-04-27</a:t>
            </a:fld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47935B-2269-45FE-AA2E-DF7C6F359A0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4215" y="1125542"/>
            <a:ext cx="39195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1125542"/>
            <a:ext cx="39195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2A783B-6934-4E7C-963C-1BAA80BDBFA6}" type="datetimeFigureOut">
              <a:rPr lang="ko-KR" altLang="en-US" smtClean="0"/>
              <a:pPr/>
              <a:t>2026-04-27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47935B-2269-45FE-AA2E-DF7C6F359A0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76836"/>
            <a:ext cx="8229600" cy="538609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1034990"/>
            <a:ext cx="3008313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967228"/>
            <a:ext cx="54864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52155" y="328613"/>
            <a:ext cx="630942" cy="6196012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2" y="328613"/>
            <a:ext cx="5897563" cy="6196012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, 텍스트 및 내용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2" y="328613"/>
            <a:ext cx="6626225" cy="5334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84215" y="1125542"/>
            <a:ext cx="3919537" cy="539908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1125542"/>
            <a:ext cx="3919538" cy="539908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순천향">
    <p:bg>
      <p:bgPr>
        <a:solidFill>
          <a:schemeClr val="tx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내용"/>
          <p:cNvPicPr>
            <a:picLocks noChangeAspect="1" noChangeArrowheads="1"/>
          </p:cNvPicPr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0" y="0"/>
            <a:ext cx="9144000" cy="68437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328613"/>
            <a:ext cx="662622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1475" cy="539908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712788" y="6313488"/>
            <a:ext cx="1905000" cy="4572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400">
                <a:latin typeface="+mn-ea"/>
                <a:ea typeface="굴림"/>
              </a:defRPr>
            </a:lvl1pPr>
          </a:lstStyle>
          <a:p>
            <a:pPr lvl="0">
              <a:defRPr/>
            </a:pPr>
            <a:fld id="{6B2A783B-6934-4E7C-963C-1BAA80BDBFA6}" type="datetime1">
              <a:rPr lang="ko-KR" altLang="en-US"/>
              <a:pPr lvl="0">
                <a:defRPr/>
              </a:pPr>
              <a:t>2026-04-27</a:t>
            </a:fld>
            <a:endParaRPr lang="ko-KR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3151188" y="6313488"/>
            <a:ext cx="2895600" cy="4572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400">
                <a:latin typeface="+mn-ea"/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80188" y="6313488"/>
            <a:ext cx="1905000" cy="4572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400">
                <a:latin typeface="+mn-ea"/>
                <a:ea typeface="굴림"/>
              </a:defRPr>
            </a:lvl1pPr>
          </a:lstStyle>
          <a:p>
            <a:pPr lvl="0">
              <a:defRPr/>
            </a:pPr>
            <a:fld id="{A347935B-2269-45FE-AA2E-DF7C6F359A0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ransition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Arial"/>
          <a:ea typeface="굴림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Arial"/>
          <a:ea typeface="굴림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Arial"/>
          <a:ea typeface="굴림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Arial"/>
          <a:ea typeface="굴림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Arial"/>
          <a:ea typeface="굴림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Arial"/>
          <a:ea typeface="굴림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Arial"/>
          <a:ea typeface="굴림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2900" b="1">
          <a:solidFill>
            <a:schemeClr val="tx2"/>
          </a:solidFill>
          <a:latin typeface="Arial"/>
          <a:ea typeface="굴림"/>
        </a:defRPr>
      </a:lvl9pPr>
    </p:titleStyle>
    <p:bodyStyle>
      <a:lvl1pPr marL="342900" indent="-3429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hlink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0827" y="2285168"/>
            <a:ext cx="8569325" cy="1354217"/>
          </a:xfrm>
        </p:spPr>
        <p:txBody>
          <a:bodyPr/>
          <a:lstStyle/>
          <a:p>
            <a:pPr algn="ctr">
              <a:defRPr/>
            </a:pPr>
            <a:r>
              <a:rPr lang="ko-KR" altLang="en-US" b="1" dirty="0"/>
              <a:t>세포독성항암제 사용과</a:t>
            </a:r>
            <a:br>
              <a:rPr lang="en-US" altLang="ko-KR" b="1" dirty="0"/>
            </a:br>
            <a:r>
              <a:rPr lang="ko-KR" altLang="en-US" b="1" dirty="0"/>
              <a:t>관련된 각종 부작용들</a:t>
            </a:r>
            <a:endParaRPr lang="en-US" altLang="ko-KR" sz="2800" b="1" dirty="0">
              <a:solidFill>
                <a:schemeClr val="tx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50827" y="3936993"/>
            <a:ext cx="8569324" cy="2174875"/>
          </a:xfrm>
        </p:spPr>
        <p:txBody>
          <a:bodyPr/>
          <a:lstStyle/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ko-KR" altLang="en-US" sz="2000" dirty="0"/>
              <a:t>순천향대학교부속 천안병원</a:t>
            </a:r>
            <a:endParaRPr lang="en-US" altLang="ko-KR" sz="2000" dirty="0"/>
          </a:p>
          <a:p>
            <a:pPr lvl="0">
              <a:defRPr/>
            </a:pPr>
            <a:r>
              <a:rPr lang="ko-KR" altLang="en-US" sz="2000" dirty="0"/>
              <a:t>종양혈액내과 정재훈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 err="1"/>
              <a:t>세포독성항암제란</a:t>
            </a:r>
            <a:r>
              <a:rPr lang="en-US" altLang="ko-KR" sz="2600" dirty="0"/>
              <a:t>?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412776"/>
            <a:ext cx="7991475" cy="5062319"/>
          </a:xfrm>
        </p:spPr>
        <p:txBody>
          <a:bodyPr/>
          <a:lstStyle/>
          <a:p>
            <a:pPr lvl="0">
              <a:defRPr/>
            </a:pPr>
            <a:r>
              <a:rPr lang="ko-KR" altLang="en-US" dirty="0"/>
              <a:t>정상보다 비교적 빠르게 증식하는 암세포의 특징을 이용해</a:t>
            </a:r>
            <a:r>
              <a:rPr lang="en-US" altLang="ko-KR" dirty="0"/>
              <a:t> </a:t>
            </a:r>
            <a:r>
              <a:rPr lang="ko-KR" altLang="en-US" dirty="0"/>
              <a:t>암세포를 죽이는 전통적인 항암제</a:t>
            </a:r>
            <a:endParaRPr lang="en-US" altLang="ko-KR" dirty="0"/>
          </a:p>
          <a:p>
            <a:pPr lvl="0">
              <a:defRPr/>
            </a:pPr>
            <a:r>
              <a:rPr lang="en-US" altLang="ko-KR" dirty="0"/>
              <a:t>DNA</a:t>
            </a:r>
            <a:r>
              <a:rPr lang="ko-KR" altLang="en-US" dirty="0"/>
              <a:t>와 </a:t>
            </a:r>
            <a:r>
              <a:rPr lang="en-US" altLang="ko-KR" dirty="0"/>
              <a:t>RNA</a:t>
            </a:r>
            <a:r>
              <a:rPr lang="ko-KR" altLang="en-US" dirty="0"/>
              <a:t>의 합성 과정과 유사분열을 방해하거나 </a:t>
            </a:r>
            <a:r>
              <a:rPr lang="en-US" altLang="ko-KR" dirty="0"/>
              <a:t>DNA </a:t>
            </a:r>
            <a:r>
              <a:rPr lang="ko-KR" altLang="en-US" dirty="0"/>
              <a:t>분자 자체에 해로운 영향을 미쳐 세포를 죽이고 증식을 억제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온 몸을 돌아다니면서 증식이 빠른 세포를 죽이는 원리 때문에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b="1" dirty="0"/>
              <a:t>정상세포들도 함께 피해를 입게 된다</a:t>
            </a:r>
            <a:r>
              <a:rPr lang="en-US" altLang="ko-KR" b="1" dirty="0"/>
              <a:t>.</a:t>
            </a:r>
          </a:p>
          <a:p>
            <a:pPr marL="457200" lvl="1" indent="0">
              <a:buNone/>
              <a:defRPr/>
            </a:pPr>
            <a:r>
              <a:rPr lang="en-US" altLang="ko-KR" sz="2400" b="1" dirty="0">
                <a:solidFill>
                  <a:srgbClr val="FF0000"/>
                </a:solidFill>
              </a:rPr>
              <a:t>=</a:t>
            </a:r>
            <a:r>
              <a:rPr lang="ko-KR" altLang="en-US" sz="2400" b="1" dirty="0">
                <a:solidFill>
                  <a:srgbClr val="FF0000"/>
                </a:solidFill>
              </a:rPr>
              <a:t>세포독성항암제의 부작용이 나타난다</a:t>
            </a:r>
            <a:r>
              <a:rPr lang="en-US" altLang="ko-KR" sz="2400" b="1" dirty="0">
                <a:solidFill>
                  <a:srgbClr val="FF0000"/>
                </a:solidFill>
              </a:rPr>
              <a:t>.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92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 err="1"/>
              <a:t>세포독성항암제란</a:t>
            </a:r>
            <a:r>
              <a:rPr lang="en-US" altLang="ko-KR" sz="2600" dirty="0"/>
              <a:t>?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904" y="1124744"/>
            <a:ext cx="4967139" cy="5350351"/>
          </a:xfrm>
        </p:spPr>
        <p:txBody>
          <a:bodyPr/>
          <a:lstStyle/>
          <a:p>
            <a:pPr lvl="0">
              <a:defRPr/>
            </a:pPr>
            <a:r>
              <a:rPr lang="en-US" altLang="ko-KR" sz="2400" dirty="0"/>
              <a:t>5-FU</a:t>
            </a:r>
          </a:p>
          <a:p>
            <a:pPr lvl="0">
              <a:defRPr/>
            </a:pPr>
            <a:r>
              <a:rPr lang="en-US" altLang="ko-KR" dirty="0"/>
              <a:t>Gemcitabine (</a:t>
            </a:r>
            <a:r>
              <a:rPr lang="ko-KR" altLang="en-US" dirty="0" err="1"/>
              <a:t>젬자</a:t>
            </a:r>
            <a:r>
              <a:rPr lang="en-US" altLang="ko-KR" dirty="0"/>
              <a:t>)</a:t>
            </a:r>
          </a:p>
          <a:p>
            <a:pPr lvl="0">
              <a:defRPr/>
            </a:pPr>
            <a:endParaRPr lang="en-US" altLang="ko-KR" sz="2400" dirty="0"/>
          </a:p>
          <a:p>
            <a:pPr lvl="0">
              <a:defRPr/>
            </a:pPr>
            <a:r>
              <a:rPr lang="en-US" altLang="ko-KR" sz="2400" dirty="0"/>
              <a:t>Cisplatin (</a:t>
            </a:r>
            <a:r>
              <a:rPr lang="ko-KR" altLang="en-US" sz="2400" dirty="0" err="1"/>
              <a:t>씨스푸란</a:t>
            </a:r>
            <a:r>
              <a:rPr lang="en-US" altLang="ko-KR" sz="2400" dirty="0"/>
              <a:t>)</a:t>
            </a:r>
          </a:p>
          <a:p>
            <a:pPr lvl="0">
              <a:defRPr/>
            </a:pPr>
            <a:r>
              <a:rPr lang="en-US" altLang="ko-KR" sz="2400" dirty="0"/>
              <a:t>Oxaliplatin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dirty="0" err="1"/>
              <a:t>옥살리틴</a:t>
            </a:r>
            <a:r>
              <a:rPr lang="en-US" altLang="ko-KR" dirty="0"/>
              <a:t>)</a:t>
            </a:r>
            <a:endParaRPr lang="en-US" altLang="ko-KR" sz="2400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en-US" altLang="ko-KR" dirty="0"/>
              <a:t>Paclitaxel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탁솔</a:t>
            </a:r>
            <a:r>
              <a:rPr lang="en-US" altLang="ko-KR" dirty="0"/>
              <a:t>)</a:t>
            </a:r>
          </a:p>
          <a:p>
            <a:pPr lvl="0">
              <a:defRPr/>
            </a:pPr>
            <a:r>
              <a:rPr lang="en-US" altLang="ko-KR" sz="2400" dirty="0"/>
              <a:t>Docetaxel (</a:t>
            </a:r>
            <a:r>
              <a:rPr lang="ko-KR" altLang="en-US" sz="2400" dirty="0" err="1"/>
              <a:t>탁소텔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디탁셀</a:t>
            </a:r>
            <a:r>
              <a:rPr lang="en-US" altLang="ko-KR" sz="2400" dirty="0"/>
              <a:t>)</a:t>
            </a:r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en-US" altLang="ko-KR" sz="2400" dirty="0"/>
              <a:t>Etoposide (</a:t>
            </a:r>
            <a:r>
              <a:rPr lang="ko-KR" altLang="en-US" sz="2400" dirty="0" err="1"/>
              <a:t>이피에스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D26949-86E0-446E-816C-F5E0BF2D5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91" y="1052736"/>
            <a:ext cx="3013606" cy="27363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CA6DD97-843D-41BB-A22D-097E62F9D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92" y="3861048"/>
            <a:ext cx="3013606" cy="26477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9B38C5-31E4-4375-B107-A870AD100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1988840"/>
            <a:ext cx="3813340" cy="336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8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세포독성항암제로 인한 </a:t>
            </a:r>
            <a:r>
              <a:rPr lang="en-US" altLang="ko-KR" sz="2600" dirty="0"/>
              <a:t>Complaints…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48064" y="1124744"/>
            <a:ext cx="3526979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400" dirty="0"/>
              <a:t>머리가 </a:t>
            </a:r>
            <a:r>
              <a:rPr lang="ko-KR" altLang="en-US" sz="2400" dirty="0" err="1"/>
              <a:t>빠지잖아요</a:t>
            </a:r>
            <a:endParaRPr lang="en-US" altLang="ko-KR" sz="24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울렁거려요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400" dirty="0"/>
              <a:t>가슴이 답답해</a:t>
            </a:r>
            <a:endParaRPr lang="en-US" altLang="ko-KR" sz="24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설사를 해요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피부에 </a:t>
            </a:r>
            <a:r>
              <a:rPr lang="ko-KR" altLang="en-US" dirty="0" err="1"/>
              <a:t>빨간게</a:t>
            </a:r>
            <a:r>
              <a:rPr lang="ko-KR" altLang="en-US" dirty="0"/>
              <a:t> 난다</a:t>
            </a:r>
            <a:endParaRPr lang="en-US" altLang="ko-KR" sz="24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손이 저려 </a:t>
            </a:r>
            <a:r>
              <a:rPr lang="ko-KR" altLang="en-US" dirty="0" err="1"/>
              <a:t>못쓰겠어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기운이 없다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78929E-B603-4A2B-9BAC-5BA002D3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4877765" cy="548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6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탈모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머리가 </a:t>
            </a:r>
            <a:r>
              <a:rPr lang="ko-KR" altLang="en-US" sz="2000" dirty="0" err="1"/>
              <a:t>빠지잖아요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en-US" altLang="ko-KR" sz="2000" b="1" dirty="0"/>
              <a:t>CIA</a:t>
            </a:r>
            <a:r>
              <a:rPr lang="en-US" altLang="ko-KR" sz="2000" dirty="0"/>
              <a:t> (</a:t>
            </a:r>
            <a:r>
              <a:rPr lang="en-US" altLang="ko-KR" sz="2000" b="1" dirty="0"/>
              <a:t>C</a:t>
            </a:r>
            <a:r>
              <a:rPr lang="en-US" altLang="ko-KR" sz="2000" dirty="0"/>
              <a:t>hemotherapy </a:t>
            </a:r>
            <a:r>
              <a:rPr lang="en-US" altLang="ko-KR" sz="2000" b="1" dirty="0"/>
              <a:t>I</a:t>
            </a:r>
            <a:r>
              <a:rPr lang="en-US" altLang="ko-KR" sz="2000" dirty="0"/>
              <a:t>nduced </a:t>
            </a:r>
            <a:r>
              <a:rPr lang="en-US" altLang="ko-KR" sz="2000" b="1" dirty="0"/>
              <a:t>A</a:t>
            </a:r>
            <a:r>
              <a:rPr lang="en-US" altLang="ko-KR" sz="2000" dirty="0"/>
              <a:t>lopecia)</a:t>
            </a:r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머리카락을 이루는 세포도 암세포처럼 빨리 자라기 때문에</a:t>
            </a:r>
            <a:r>
              <a:rPr lang="en-US" altLang="ko-KR" sz="2000" dirty="0"/>
              <a:t>, </a:t>
            </a:r>
            <a:r>
              <a:rPr lang="ko-KR" altLang="en-US" sz="2000" dirty="0"/>
              <a:t>항암제가 이들의 분열을 억제하면서 탈모가 시작된다</a:t>
            </a:r>
            <a:endParaRPr lang="en-US" altLang="ko-KR" sz="2000" dirty="0"/>
          </a:p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항암치료 수 주 후부터 발생한다</a:t>
            </a:r>
            <a:endParaRPr lang="en-US" altLang="ko-KR" sz="2000" dirty="0"/>
          </a:p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항암치료를 완료한 후에는 다시 머리가 자라날 수 있으므로 일시적인 현상이 될 수도 있지만</a:t>
            </a:r>
            <a:r>
              <a:rPr lang="en-US" altLang="ko-KR" sz="2000" dirty="0"/>
              <a:t>, </a:t>
            </a:r>
            <a:r>
              <a:rPr lang="ko-KR" altLang="en-US" sz="2000" dirty="0"/>
              <a:t>항암 전과 색이나 모양 차이가 발생할 수는 있다</a:t>
            </a:r>
            <a:endParaRPr lang="en-US" altLang="ko-KR" sz="2000" dirty="0"/>
          </a:p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머리로 가는 혈류를 줄이는 것으로 탈모도 줄일 수 있다고는 하나</a:t>
            </a:r>
            <a:r>
              <a:rPr lang="en-US" altLang="ko-KR" sz="2000" dirty="0"/>
              <a:t>, </a:t>
            </a:r>
            <a:r>
              <a:rPr lang="ko-KR" altLang="en-US" sz="2000" dirty="0"/>
              <a:t>현실적으로는 탈모 발생에 대한 사전 이해가 중요</a:t>
            </a:r>
            <a:endParaRPr lang="en-US" altLang="ko-KR" sz="200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497E58-2C82-4085-A174-B95F8DA3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08" y="857875"/>
            <a:ext cx="7828632" cy="438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33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구역 구토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 dirty="0"/>
              <a:t>CINV</a:t>
            </a:r>
            <a:r>
              <a:rPr lang="en-US" altLang="ko-KR" sz="2000" dirty="0"/>
              <a:t> (</a:t>
            </a:r>
            <a:r>
              <a:rPr lang="en-US" altLang="ko-KR" sz="2000" b="1" dirty="0"/>
              <a:t>C</a:t>
            </a:r>
            <a:r>
              <a:rPr lang="en-US" altLang="ko-KR" sz="2000" dirty="0"/>
              <a:t>hemotherapy </a:t>
            </a:r>
            <a:r>
              <a:rPr lang="en-US" altLang="ko-KR" sz="2000" b="1" dirty="0"/>
              <a:t>I</a:t>
            </a:r>
            <a:r>
              <a:rPr lang="en-US" altLang="ko-KR" sz="2000" dirty="0"/>
              <a:t>nduced </a:t>
            </a:r>
            <a:r>
              <a:rPr lang="en-US" altLang="ko-KR" sz="2000" b="1" dirty="0"/>
              <a:t>N</a:t>
            </a:r>
            <a:r>
              <a:rPr lang="en-US" altLang="ko-KR" sz="2000" dirty="0"/>
              <a:t>ausea and </a:t>
            </a:r>
            <a:r>
              <a:rPr lang="en-US" altLang="ko-KR" sz="2000" b="1" dirty="0"/>
              <a:t>V</a:t>
            </a:r>
            <a:r>
              <a:rPr lang="en-US" altLang="ko-KR" sz="2000" dirty="0"/>
              <a:t>omiting)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급성 구역</a:t>
            </a:r>
            <a:r>
              <a:rPr lang="en-US" altLang="ko-KR" sz="2000" dirty="0"/>
              <a:t>/</a:t>
            </a:r>
            <a:r>
              <a:rPr lang="ko-KR" altLang="en-US" sz="2000" dirty="0"/>
              <a:t>구토</a:t>
            </a:r>
            <a:r>
              <a:rPr lang="en-US" altLang="ko-KR" sz="2000" dirty="0"/>
              <a:t> : </a:t>
            </a:r>
            <a:r>
              <a:rPr lang="ko-KR" altLang="en-US" sz="2000" dirty="0"/>
              <a:t>보통 </a:t>
            </a:r>
            <a:r>
              <a:rPr lang="en-US" altLang="ko-KR" sz="2000" dirty="0"/>
              <a:t>24</a:t>
            </a:r>
            <a:r>
              <a:rPr lang="ko-KR" altLang="en-US" sz="2000" dirty="0"/>
              <a:t>시간 이내에 발생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 err="1"/>
              <a:t>지연성</a:t>
            </a:r>
            <a:r>
              <a:rPr lang="ko-KR" altLang="en-US" sz="2000" dirty="0"/>
              <a:t> 구역</a:t>
            </a:r>
            <a:r>
              <a:rPr lang="en-US" altLang="ko-KR" sz="2000" dirty="0"/>
              <a:t>/</a:t>
            </a:r>
            <a:r>
              <a:rPr lang="ko-KR" altLang="en-US" sz="2000" dirty="0"/>
              <a:t>구토 </a:t>
            </a:r>
            <a:r>
              <a:rPr lang="en-US" altLang="ko-KR" sz="2000" dirty="0"/>
              <a:t>: </a:t>
            </a:r>
            <a:r>
              <a:rPr lang="ko-KR" altLang="en-US" sz="2000" dirty="0"/>
              <a:t>치료 종료 </a:t>
            </a:r>
            <a:r>
              <a:rPr lang="en-US" altLang="ko-KR" sz="2000" dirty="0"/>
              <a:t>24~120</a:t>
            </a:r>
            <a:r>
              <a:rPr lang="ko-KR" altLang="en-US" sz="2000" dirty="0"/>
              <a:t>시간 사이에 발생 가능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약제에 따라 예상되는 발생 위험성이 있고</a:t>
            </a:r>
            <a:r>
              <a:rPr lang="en-US" altLang="ko-KR" sz="2000" dirty="0"/>
              <a:t>, </a:t>
            </a:r>
            <a:r>
              <a:rPr lang="ko-KR" altLang="en-US" sz="2000" dirty="0"/>
              <a:t>예방약이 투여된다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931B63-2945-4EFE-B3A4-9F7FFB889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223172"/>
            <a:ext cx="5256584" cy="34461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61A0F1-E00E-4007-A916-71A4B4A46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5141"/>
            <a:ext cx="9144000" cy="77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4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구역 구토</a:t>
            </a:r>
            <a:endParaRPr lang="en-US" altLang="ko-KR" sz="2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AE185F-75AA-481F-9F45-B7CC9CEEE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9" y="1268760"/>
            <a:ext cx="9144000" cy="5010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7B5EF9-B692-4447-A715-CE2BD8FC800F}"/>
              </a:ext>
            </a:extLst>
          </p:cNvPr>
          <p:cNvSpPr txBox="1"/>
          <p:nvPr/>
        </p:nvSpPr>
        <p:spPr>
          <a:xfrm>
            <a:off x="4644008" y="4869160"/>
            <a:ext cx="18002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말초</a:t>
            </a:r>
            <a:r>
              <a:rPr lang="en-US" altLang="ko-KR" dirty="0"/>
              <a:t>-</a:t>
            </a:r>
            <a:r>
              <a:rPr lang="ko-KR" altLang="en-US" dirty="0"/>
              <a:t>급성 경로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FD5AB0-43F9-49F3-A72D-4C4257DA8016}"/>
              </a:ext>
            </a:extLst>
          </p:cNvPr>
          <p:cNvSpPr txBox="1"/>
          <p:nvPr/>
        </p:nvSpPr>
        <p:spPr>
          <a:xfrm>
            <a:off x="4572000" y="2896427"/>
            <a:ext cx="201622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/>
              <a:t>중추</a:t>
            </a:r>
            <a:r>
              <a:rPr lang="en-US" altLang="ko-KR" dirty="0"/>
              <a:t>-</a:t>
            </a:r>
            <a:r>
              <a:rPr lang="ko-KR" altLang="en-US" dirty="0" err="1"/>
              <a:t>지연성</a:t>
            </a:r>
            <a:r>
              <a:rPr lang="ko-KR" altLang="en-US" dirty="0"/>
              <a:t> 경로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3D3391-B38E-46B2-9422-9043A43FD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9" y="3443064"/>
            <a:ext cx="9144000" cy="77623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103CE01-C0DC-42AF-B5E2-6462D4242783}"/>
              </a:ext>
            </a:extLst>
          </p:cNvPr>
          <p:cNvCxnSpPr/>
          <p:nvPr/>
        </p:nvCxnSpPr>
        <p:spPr>
          <a:xfrm>
            <a:off x="5292080" y="4077072"/>
            <a:ext cx="504056" cy="360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tailEnd type="triangle"/>
          </a:ln>
          <a:effectLst/>
        </p:spPr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BEE9B7D-9471-44DA-8CD8-A38D8D36E203}"/>
              </a:ext>
            </a:extLst>
          </p:cNvPr>
          <p:cNvCxnSpPr/>
          <p:nvPr/>
        </p:nvCxnSpPr>
        <p:spPr>
          <a:xfrm flipV="1">
            <a:off x="3203848" y="2793198"/>
            <a:ext cx="2448272" cy="9809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9767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구역 구토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/>
              <a:t>예방을 해도 </a:t>
            </a:r>
            <a:r>
              <a:rPr lang="en-US" altLang="ko-KR" sz="2000" b="1" dirty="0"/>
              <a:t>100%</a:t>
            </a:r>
            <a:r>
              <a:rPr lang="ko-KR" altLang="en-US" sz="2000" b="1" dirty="0"/>
              <a:t> 발생하지 않을 수는 없다</a:t>
            </a:r>
            <a:endParaRPr lang="en-US" altLang="ko-KR" sz="2000" b="1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병행되는 약물치료나 방사선치료</a:t>
            </a:r>
            <a:r>
              <a:rPr lang="en-US" altLang="ko-KR" sz="2000" dirty="0"/>
              <a:t>, </a:t>
            </a:r>
            <a:r>
              <a:rPr lang="ko-KR" altLang="en-US" sz="2000" dirty="0"/>
              <a:t>환자의 </a:t>
            </a:r>
            <a:r>
              <a:rPr lang="ko-KR" altLang="en-US" sz="2000" dirty="0" err="1"/>
              <a:t>장기능</a:t>
            </a:r>
            <a:r>
              <a:rPr lang="ko-KR" altLang="en-US" sz="2000" dirty="0"/>
              <a:t> 저하</a:t>
            </a:r>
            <a:r>
              <a:rPr lang="en-US" altLang="ko-KR" sz="2000" dirty="0"/>
              <a:t>, </a:t>
            </a:r>
            <a:r>
              <a:rPr lang="ko-KR" altLang="en-US" sz="2000" dirty="0"/>
              <a:t>암으로 인한 </a:t>
            </a:r>
            <a:r>
              <a:rPr lang="ko-KR" altLang="en-US" sz="2000" dirty="0" err="1"/>
              <a:t>고칼슘혈증</a:t>
            </a:r>
            <a:r>
              <a:rPr lang="en-US" altLang="ko-KR" sz="2000" dirty="0"/>
              <a:t> </a:t>
            </a:r>
            <a:r>
              <a:rPr lang="ko-KR" altLang="en-US" sz="2000" dirty="0"/>
              <a:t>등으로도 발생할 수 있음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원인이 될 수 있는 문제의 교정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en-US" altLang="ko-KR" sz="2000" dirty="0"/>
              <a:t>Metoclopramide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ko-KR" sz="2000" dirty="0"/>
              <a:t>Olanzapine 2.5mg~5mg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ko-KR" sz="2000" dirty="0"/>
              <a:t>Ondansetron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5HT3-RA</a:t>
            </a:r>
            <a:r>
              <a:rPr lang="ko-KR" altLang="en-US" sz="2000" dirty="0"/>
              <a:t>의 추가적 사용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9688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호흡곤란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주입 중 과민성 반응</a:t>
            </a:r>
            <a:endParaRPr lang="en-US" altLang="ko-KR" sz="20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800" dirty="0"/>
              <a:t>약제를 멈추고</a:t>
            </a:r>
            <a:r>
              <a:rPr lang="en-US" altLang="ko-KR" sz="1800" dirty="0"/>
              <a:t>, </a:t>
            </a:r>
            <a:r>
              <a:rPr lang="ko-KR" altLang="en-US" sz="1800" dirty="0"/>
              <a:t>항히스타민</a:t>
            </a:r>
            <a:r>
              <a:rPr lang="en-US" altLang="ko-KR" sz="1800" dirty="0"/>
              <a:t>, </a:t>
            </a:r>
            <a:r>
              <a:rPr lang="ko-KR" altLang="en-US" sz="1800" dirty="0"/>
              <a:t>스테로이드</a:t>
            </a:r>
            <a:r>
              <a:rPr lang="en-US" altLang="ko-KR" sz="1800" dirty="0"/>
              <a:t>, </a:t>
            </a:r>
            <a:r>
              <a:rPr lang="ko-KR" altLang="en-US" sz="1800" dirty="0"/>
              <a:t>수액투여 등</a:t>
            </a:r>
            <a:r>
              <a:rPr lang="en-US" altLang="ko-KR" sz="1800" dirty="0"/>
              <a:t>…</a:t>
            </a:r>
          </a:p>
          <a:p>
            <a:pPr marL="0" lvl="0" indent="0">
              <a:lnSpc>
                <a:spcPct val="150000"/>
              </a:lnSpc>
              <a:buNone/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항암치료로 인한 </a:t>
            </a:r>
            <a:r>
              <a:rPr lang="ko-KR" altLang="en-US" sz="2000" dirty="0" err="1"/>
              <a:t>심독성</a:t>
            </a:r>
            <a:endParaRPr lang="en-US" altLang="ko-KR" sz="20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800" dirty="0"/>
              <a:t>항암 전후 심초음파 확인 및 필요시 </a:t>
            </a:r>
            <a:r>
              <a:rPr lang="ko-KR" altLang="en-US" sz="1800" dirty="0" err="1"/>
              <a:t>심장내과적</a:t>
            </a:r>
            <a:r>
              <a:rPr lang="ko-KR" altLang="en-US" sz="1800" dirty="0"/>
              <a:t> 약제 조절</a:t>
            </a:r>
            <a:r>
              <a:rPr lang="en-US" altLang="ko-KR" sz="1800" dirty="0"/>
              <a:t>, </a:t>
            </a:r>
            <a:r>
              <a:rPr lang="ko-KR" altLang="en-US" sz="1800" dirty="0"/>
              <a:t>때로는 예방약</a:t>
            </a:r>
            <a:r>
              <a:rPr lang="en-US" altLang="ko-KR" sz="1800" dirty="0"/>
              <a:t>(Dexrazoxane)</a:t>
            </a:r>
            <a:r>
              <a:rPr lang="ko-KR" altLang="en-US" sz="1800" dirty="0"/>
              <a:t>을 사용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항암제 유발 </a:t>
            </a:r>
            <a:r>
              <a:rPr lang="ko-KR" altLang="en-US" sz="2000" dirty="0" err="1"/>
              <a:t>폐장염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면역저하와 관련된 폐렴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8DC173-E076-4A66-9AC2-344F11C87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4077072"/>
            <a:ext cx="3785261" cy="261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1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</a:t>
            </a:r>
            <a:r>
              <a:rPr lang="ko-KR" altLang="en-US" sz="2600" dirty="0" err="1"/>
              <a:t>구내염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800" dirty="0"/>
              <a:t>주로 구강 </a:t>
            </a:r>
            <a:r>
              <a:rPr lang="ko-KR" altLang="en-US" sz="1800" dirty="0" err="1"/>
              <a:t>점막염</a:t>
            </a:r>
            <a:r>
              <a:rPr lang="ko-KR" altLang="en-US" sz="1800" dirty="0"/>
              <a:t> </a:t>
            </a:r>
            <a:r>
              <a:rPr lang="en-US" altLang="ko-KR" sz="1800" dirty="0"/>
              <a:t>(Oral Mucositis)</a:t>
            </a:r>
            <a:r>
              <a:rPr lang="ko-KR" altLang="en-US" sz="1800" dirty="0"/>
              <a:t>의 형태로 발생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r>
              <a:rPr lang="en-US" altLang="ko-KR" sz="1800" dirty="0"/>
              <a:t>Platinum </a:t>
            </a:r>
            <a:r>
              <a:rPr lang="ko-KR" altLang="en-US" sz="1800" dirty="0"/>
              <a:t>계열</a:t>
            </a:r>
            <a:r>
              <a:rPr lang="en-US" altLang="ko-KR" sz="1800" dirty="0"/>
              <a:t>, 5-FU </a:t>
            </a:r>
            <a:r>
              <a:rPr lang="ko-KR" altLang="en-US" sz="1800" dirty="0"/>
              <a:t>등의 약제 사용시 자주 발생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1800" dirty="0"/>
              <a:t>두경부암의 경우 동반되는 방사선치료의 영향도 받을 수 있다</a:t>
            </a:r>
            <a:endParaRPr lang="en-US" altLang="ko-KR" sz="1800" dirty="0"/>
          </a:p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구강내 점막세포 및 정상세균총이 항암제의 영향을 받고</a:t>
            </a:r>
            <a:r>
              <a:rPr lang="en-US" altLang="ko-KR" sz="1800" dirty="0"/>
              <a:t>, </a:t>
            </a:r>
            <a:r>
              <a:rPr lang="ko-KR" altLang="en-US" sz="1800" dirty="0"/>
              <a:t>면역반응이 증가하면서 발생</a:t>
            </a:r>
            <a:endParaRPr lang="en-US" altLang="ko-KR" sz="1800" dirty="0"/>
          </a:p>
          <a:p>
            <a:pPr>
              <a:lnSpc>
                <a:spcPct val="150000"/>
              </a:lnSpc>
              <a:defRPr/>
            </a:pPr>
            <a:endParaRPr lang="en-US" altLang="ko-KR" sz="2000" dirty="0"/>
          </a:p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구강위생 관리 </a:t>
            </a:r>
            <a:r>
              <a:rPr lang="en-US" altLang="ko-KR" sz="1800" dirty="0"/>
              <a:t>(</a:t>
            </a:r>
            <a:r>
              <a:rPr lang="ko-KR" altLang="en-US" sz="1800" dirty="0"/>
              <a:t>세척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가글</a:t>
            </a:r>
            <a:r>
              <a:rPr lang="ko-KR" altLang="en-US" sz="1800" dirty="0"/>
              <a:t> 등</a:t>
            </a:r>
            <a:r>
              <a:rPr lang="en-US" altLang="ko-KR" sz="1800" dirty="0"/>
              <a:t>…)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800" dirty="0"/>
              <a:t>NSAIDs / </a:t>
            </a:r>
            <a:r>
              <a:rPr lang="ko-KR" altLang="en-US" sz="1800" dirty="0" err="1"/>
              <a:t>마약성</a:t>
            </a:r>
            <a:r>
              <a:rPr lang="ko-KR" altLang="en-US" sz="1800" dirty="0"/>
              <a:t> 진통제</a:t>
            </a:r>
            <a:endParaRPr lang="en-US" altLang="ko-KR" sz="1800" dirty="0"/>
          </a:p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생리식염수 </a:t>
            </a:r>
            <a:r>
              <a:rPr lang="en-US" altLang="ko-KR" sz="1800" dirty="0"/>
              <a:t>+ Sodium Bicarbonate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 err="1"/>
              <a:t>멜라토닌이</a:t>
            </a:r>
            <a:r>
              <a:rPr lang="ko-KR" altLang="en-US" sz="1800" dirty="0"/>
              <a:t> 도움이 될 수 있다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1800" dirty="0"/>
              <a:t>한랭요법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7EBED3-761D-470F-B2DD-2E8223039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166" y="3645024"/>
            <a:ext cx="3403234" cy="27439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DAD10E6-BF3D-4712-916B-756A69AC9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584518"/>
            <a:ext cx="3095873" cy="280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9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설사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Irinotecan / 5-FU </a:t>
            </a:r>
            <a:r>
              <a:rPr lang="ko-KR" altLang="en-US" sz="2000" dirty="0"/>
              <a:t>등 사용에서 </a:t>
            </a:r>
            <a:r>
              <a:rPr lang="en-US" altLang="ko-KR" sz="2000" dirty="0"/>
              <a:t>50-80%</a:t>
            </a:r>
            <a:r>
              <a:rPr lang="ko-KR" altLang="en-US" sz="2000" dirty="0"/>
              <a:t>까지도 발생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장내 상피세포가 항암제의 영향으로 손상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정상세균총의 조성도 변화</a:t>
            </a:r>
            <a:endParaRPr lang="en-US" altLang="ko-KR" sz="20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Lactobacillus / Bifidobacterium </a:t>
            </a:r>
            <a:r>
              <a:rPr lang="ko-KR" altLang="en-US" sz="1600" dirty="0"/>
              <a:t>등의 감소</a:t>
            </a:r>
            <a:r>
              <a:rPr lang="en-US" altLang="ko-KR" sz="1600" dirty="0"/>
              <a:t>, Proteobacteria / Fusobacteria</a:t>
            </a:r>
            <a:r>
              <a:rPr lang="ko-KR" altLang="en-US" sz="1600" dirty="0"/>
              <a:t>의 증가로 악영향을 초래</a:t>
            </a:r>
            <a:endParaRPr lang="en-US" altLang="ko-KR" sz="16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수액을 통한 탈수 예방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필요시 </a:t>
            </a:r>
            <a:r>
              <a:rPr lang="en-US" altLang="ko-KR" sz="2000" dirty="0"/>
              <a:t>loperamide </a:t>
            </a:r>
            <a:r>
              <a:rPr lang="ko-KR" altLang="en-US" sz="2000" dirty="0"/>
              <a:t>등 설사를 억제할 수 있는 약제 추가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 err="1"/>
              <a:t>프로바이오틱스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Lacidofil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Ramnos</a:t>
            </a:r>
            <a:r>
              <a:rPr lang="en-US" altLang="ko-KR" sz="2000" dirty="0"/>
              <a:t> </a:t>
            </a:r>
            <a:r>
              <a:rPr lang="ko-KR" altLang="en-US" sz="2000" dirty="0"/>
              <a:t>등</a:t>
            </a:r>
            <a:r>
              <a:rPr lang="en-US" altLang="ko-KR" sz="2000" dirty="0"/>
              <a:t>…)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설사를 유발할 수 있는 기존 복용 약제의 제거가 필요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90229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피부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4221087"/>
            <a:ext cx="8065443" cy="2254007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600" b="1" dirty="0"/>
              <a:t>정맥 투여부위 피부로의 직접 노출</a:t>
            </a:r>
            <a:endParaRPr lang="en-US" altLang="ko-KR" sz="1600" b="1" dirty="0"/>
          </a:p>
          <a:p>
            <a:pPr>
              <a:lnSpc>
                <a:spcPct val="150000"/>
              </a:lnSpc>
              <a:defRPr/>
            </a:pPr>
            <a:r>
              <a:rPr lang="ko-KR" altLang="en-US" sz="1600" dirty="0"/>
              <a:t>즉시 </a:t>
            </a:r>
            <a:r>
              <a:rPr lang="en-US" altLang="ko-KR" sz="1600" dirty="0"/>
              <a:t>infusion </a:t>
            </a:r>
            <a:r>
              <a:rPr lang="ko-KR" altLang="en-US" sz="1600" dirty="0"/>
              <a:t>중단하되 </a:t>
            </a:r>
            <a:r>
              <a:rPr lang="ko-KR" altLang="en-US" sz="1600" dirty="0" err="1"/>
              <a:t>카테터는</a:t>
            </a:r>
            <a:r>
              <a:rPr lang="ko-KR" altLang="en-US" sz="1600" dirty="0"/>
              <a:t> 유지한 채로</a:t>
            </a:r>
            <a:r>
              <a:rPr lang="en-US" altLang="ko-KR" sz="1600" dirty="0"/>
              <a:t>, </a:t>
            </a:r>
            <a:r>
              <a:rPr lang="ko-KR" altLang="en-US" sz="1600" dirty="0"/>
              <a:t>문제가 된 약물 및 혈액 일부를 </a:t>
            </a:r>
            <a:r>
              <a:rPr lang="en-US" altLang="ko-KR" sz="1600" dirty="0"/>
              <a:t>aspiration</a:t>
            </a:r>
            <a:r>
              <a:rPr lang="ko-KR" altLang="en-US" sz="1600" dirty="0"/>
              <a:t>하여 최대한 제거</a:t>
            </a:r>
            <a:endParaRPr lang="en-US" altLang="ko-KR" sz="1600" dirty="0"/>
          </a:p>
          <a:p>
            <a:pPr>
              <a:lnSpc>
                <a:spcPct val="150000"/>
              </a:lnSpc>
              <a:defRPr/>
            </a:pPr>
            <a:r>
              <a:rPr lang="ko-KR" altLang="en-US" sz="1600" dirty="0"/>
              <a:t>노출 부위 영역을 표시해 두기</a:t>
            </a:r>
            <a:r>
              <a:rPr lang="en-US" altLang="ko-KR" sz="1600" dirty="0"/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/>
              <a:t>Irritant / Vesicant </a:t>
            </a:r>
            <a:r>
              <a:rPr lang="ko-KR" altLang="en-US" sz="1600" dirty="0"/>
              <a:t>약물 </a:t>
            </a:r>
            <a:r>
              <a:rPr lang="en-US" altLang="ko-KR" sz="1600" dirty="0"/>
              <a:t>(MTX, Cyclophosphamide, Paclitaxel, </a:t>
            </a:r>
            <a:r>
              <a:rPr lang="en-US" altLang="ko-KR" sz="1600" dirty="0" err="1"/>
              <a:t>Antracyclines</a:t>
            </a:r>
            <a:r>
              <a:rPr lang="en-US" altLang="ko-KR" sz="1600" dirty="0"/>
              <a:t>…)</a:t>
            </a:r>
            <a:r>
              <a:rPr lang="ko-KR" altLang="en-US" sz="1600" dirty="0"/>
              <a:t>이 노출되었을 경우</a:t>
            </a:r>
            <a:r>
              <a:rPr lang="en-US" altLang="ko-KR" sz="1600" dirty="0"/>
              <a:t>, Hyaluronidase</a:t>
            </a:r>
            <a:r>
              <a:rPr lang="ko-KR" altLang="en-US" sz="1600" dirty="0"/>
              <a:t> </a:t>
            </a:r>
            <a:r>
              <a:rPr lang="en-US" altLang="ko-KR" sz="1600" dirty="0"/>
              <a:t>150~1500IU</a:t>
            </a:r>
            <a:r>
              <a:rPr lang="ko-KR" altLang="en-US" sz="1600" dirty="0"/>
              <a:t> 피하주사가 필요할 수 있음</a:t>
            </a:r>
            <a:endParaRPr lang="en-US" altLang="ko-KR" sz="1600" dirty="0"/>
          </a:p>
          <a:p>
            <a:pPr lvl="0">
              <a:lnSpc>
                <a:spcPct val="150000"/>
              </a:lnSpc>
              <a:defRPr/>
            </a:pPr>
            <a:endParaRPr lang="en-US" altLang="ko-KR" sz="1600" dirty="0"/>
          </a:p>
          <a:p>
            <a:pPr lvl="0">
              <a:lnSpc>
                <a:spcPct val="150000"/>
              </a:lnSpc>
              <a:defRPr/>
            </a:pPr>
            <a:endParaRPr lang="en-US" altLang="ko-KR" sz="1600" dirty="0"/>
          </a:p>
          <a:p>
            <a:pPr lvl="0">
              <a:lnSpc>
                <a:spcPct val="150000"/>
              </a:lnSpc>
              <a:defRPr/>
            </a:pP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023512-27E2-4219-B5EB-E8E7C3088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865" y="1052736"/>
            <a:ext cx="4258269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3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피부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97217" y="1134121"/>
            <a:ext cx="4278839" cy="2582912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피부세포 손상 또는 </a:t>
            </a:r>
            <a:r>
              <a:rPr lang="ko-KR" altLang="en-US" sz="1800" dirty="0" err="1"/>
              <a:t>광과민성</a:t>
            </a:r>
            <a:r>
              <a:rPr lang="ko-KR" altLang="en-US" sz="1800" dirty="0"/>
              <a:t> 발현</a:t>
            </a:r>
            <a:r>
              <a:rPr lang="en-US" altLang="ko-KR" sz="1800" dirty="0"/>
              <a:t>?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혈소판 감소와 관련된 </a:t>
            </a:r>
            <a:r>
              <a:rPr lang="ko-KR" altLang="en-US" sz="1800" dirty="0" err="1"/>
              <a:t>출혈성</a:t>
            </a:r>
            <a:r>
              <a:rPr lang="ko-KR" altLang="en-US" sz="1800" dirty="0"/>
              <a:t> 자반</a:t>
            </a:r>
            <a:r>
              <a:rPr lang="en-US" altLang="ko-KR" sz="1800" dirty="0"/>
              <a:t>?</a:t>
            </a:r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1800" dirty="0"/>
              <a:t>원인 감별</a:t>
            </a:r>
            <a:r>
              <a:rPr lang="en-US" altLang="ko-KR" sz="1800" dirty="0"/>
              <a:t>, </a:t>
            </a:r>
            <a:r>
              <a:rPr lang="ko-KR" altLang="en-US" sz="1800" dirty="0"/>
              <a:t>원인이 될 수 있는 약제 중단 및 대증적 치료가 필요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A7AEFB-9EEE-40B2-8A32-310AED7DB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3847915"/>
            <a:ext cx="3419872" cy="271185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8897197-9353-44BC-A584-56A318BC9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18" y="3847915"/>
            <a:ext cx="4106416" cy="27242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A99ABB9-1D72-4544-B21B-C01F5FA9D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112" y="1134120"/>
            <a:ext cx="3441344" cy="265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혈구감소증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6016" y="1124744"/>
            <a:ext cx="3959027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800" dirty="0"/>
              <a:t>항암제 사용의 영향으로 골수 기능이 억제되어</a:t>
            </a:r>
            <a:r>
              <a:rPr lang="en-US" altLang="ko-KR" sz="1800" dirty="0"/>
              <a:t>, </a:t>
            </a:r>
            <a:r>
              <a:rPr lang="ko-KR" altLang="en-US" sz="1800" dirty="0"/>
              <a:t>혈구 세포가 정상적으로 만들어지지 못함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1800" dirty="0"/>
              <a:t>항암제에 의해 발생된 면역 반응이 이미 만들어진 세포를 파괴</a:t>
            </a:r>
            <a:r>
              <a:rPr lang="en-US" altLang="ko-KR" sz="1800" dirty="0"/>
              <a:t>(Oxaliplatin, Irinotecan </a:t>
            </a:r>
            <a:r>
              <a:rPr lang="ko-KR" altLang="en-US" sz="1800" dirty="0"/>
              <a:t>등</a:t>
            </a:r>
            <a:r>
              <a:rPr lang="en-US" altLang="ko-KR" sz="1800" dirty="0"/>
              <a:t>)</a:t>
            </a:r>
          </a:p>
          <a:p>
            <a:pPr lvl="0">
              <a:lnSpc>
                <a:spcPct val="150000"/>
              </a:lnSpc>
              <a:defRPr/>
            </a:pP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1800" dirty="0"/>
              <a:t>빈혈</a:t>
            </a:r>
            <a:r>
              <a:rPr lang="en-US" altLang="ko-KR" sz="1800" dirty="0"/>
              <a:t>, </a:t>
            </a:r>
            <a:r>
              <a:rPr lang="ko-KR" altLang="en-US" sz="1800" dirty="0"/>
              <a:t>혈소판 </a:t>
            </a:r>
            <a:r>
              <a:rPr lang="ko-KR" altLang="en-US" sz="1800" dirty="0" err="1"/>
              <a:t>감소증</a:t>
            </a:r>
            <a:r>
              <a:rPr lang="en-US" altLang="ko-KR" sz="1800" dirty="0"/>
              <a:t>, </a:t>
            </a:r>
            <a:r>
              <a:rPr lang="ko-KR" altLang="en-US" sz="1800" dirty="0"/>
              <a:t>백혈구 감소증이 모두 발생할 수 있다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1800" dirty="0"/>
              <a:t>항암제의 종류 및 용량에 따라 다르지만 전체 </a:t>
            </a:r>
            <a:r>
              <a:rPr lang="ko-KR" altLang="en-US" sz="1800" dirty="0" err="1"/>
              <a:t>고형암</a:t>
            </a:r>
            <a:r>
              <a:rPr lang="ko-KR" altLang="en-US" sz="1800" dirty="0"/>
              <a:t> 환자의 </a:t>
            </a:r>
            <a:r>
              <a:rPr lang="en-US" altLang="ko-KR" sz="1800" dirty="0"/>
              <a:t>25% </a:t>
            </a:r>
            <a:r>
              <a:rPr lang="ko-KR" altLang="en-US" sz="1800" dirty="0"/>
              <a:t>정도가 경험하는 부작용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5B7E6D-E7B7-49E3-BF88-F3B11ACA9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14" y="1628800"/>
            <a:ext cx="454630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3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혈구감소증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4077072"/>
            <a:ext cx="8207499" cy="2304256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AA7B06-DAC2-492C-81D9-417A5634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1" y="1251952"/>
            <a:ext cx="8002117" cy="3057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1E85A-CBC3-4C6D-86F1-ACBB8ADE3710}"/>
              </a:ext>
            </a:extLst>
          </p:cNvPr>
          <p:cNvSpPr txBox="1"/>
          <p:nvPr/>
        </p:nvSpPr>
        <p:spPr>
          <a:xfrm>
            <a:off x="609600" y="4509120"/>
            <a:ext cx="7963458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골수 기능이 현재 억제되어 있음을 나타내므로</a:t>
            </a:r>
            <a:r>
              <a:rPr lang="en-US" altLang="ko-KR" dirty="0"/>
              <a:t>, </a:t>
            </a:r>
            <a:r>
              <a:rPr lang="ko-KR" altLang="en-US" dirty="0"/>
              <a:t>수혈 진행 여부와는 관계없이 때로는 항암치료를 연기해야 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항암치료를 연기하고 시간이 지나면 회복될 수 있으나</a:t>
            </a:r>
            <a:r>
              <a:rPr lang="en-US" altLang="ko-KR" dirty="0"/>
              <a:t>, </a:t>
            </a:r>
            <a:r>
              <a:rPr lang="ko-KR" altLang="en-US" dirty="0"/>
              <a:t>회복되기 전까지는 적절한 수혈 진행</a:t>
            </a:r>
            <a:r>
              <a:rPr lang="en-US" altLang="ko-KR" dirty="0"/>
              <a:t>, </a:t>
            </a:r>
            <a:r>
              <a:rPr lang="ko-KR" altLang="en-US" dirty="0"/>
              <a:t>이후의 항암치료 용량 조절 등이 필요하다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989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신경병증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b="1" dirty="0"/>
              <a:t>CIPN</a:t>
            </a:r>
            <a:r>
              <a:rPr lang="en-US" altLang="ko-KR" dirty="0"/>
              <a:t> (</a:t>
            </a:r>
            <a:r>
              <a:rPr lang="en-US" altLang="ko-KR" b="1" dirty="0"/>
              <a:t>C</a:t>
            </a:r>
            <a:r>
              <a:rPr lang="en-US" altLang="ko-KR" dirty="0"/>
              <a:t>hemotherapy-</a:t>
            </a:r>
            <a:r>
              <a:rPr lang="en-US" altLang="ko-KR" b="1" dirty="0"/>
              <a:t>I</a:t>
            </a:r>
            <a:r>
              <a:rPr lang="en-US" altLang="ko-KR" dirty="0"/>
              <a:t>nduced </a:t>
            </a:r>
            <a:r>
              <a:rPr lang="en-US" altLang="ko-KR" b="1" dirty="0"/>
              <a:t>P</a:t>
            </a:r>
            <a:r>
              <a:rPr lang="en-US" altLang="ko-KR" dirty="0"/>
              <a:t>eripheral </a:t>
            </a:r>
            <a:r>
              <a:rPr lang="en-US" altLang="ko-KR" b="1" dirty="0"/>
              <a:t>N</a:t>
            </a:r>
            <a:r>
              <a:rPr lang="en-US" altLang="ko-KR" dirty="0"/>
              <a:t>europathy) </a:t>
            </a:r>
          </a:p>
          <a:p>
            <a:pPr>
              <a:lnSpc>
                <a:spcPct val="150000"/>
              </a:lnSpc>
              <a:defRPr/>
            </a:pPr>
            <a:endParaRPr lang="en-US" altLang="ko-KR" sz="1800" dirty="0"/>
          </a:p>
          <a:p>
            <a:pPr>
              <a:lnSpc>
                <a:spcPct val="150000"/>
              </a:lnSpc>
              <a:defRPr/>
            </a:pPr>
            <a:r>
              <a:rPr lang="ko-KR" altLang="en-US" dirty="0"/>
              <a:t>항암 환자들이 흔히 호소하는 </a:t>
            </a:r>
            <a:r>
              <a:rPr lang="ko-KR" altLang="en-US" dirty="0" err="1"/>
              <a:t>손저림</a:t>
            </a:r>
            <a:r>
              <a:rPr lang="en-US" altLang="ko-KR" dirty="0"/>
              <a:t>, </a:t>
            </a:r>
            <a:r>
              <a:rPr lang="ko-KR" altLang="en-US" dirty="0" err="1"/>
              <a:t>발저림의</a:t>
            </a:r>
            <a:r>
              <a:rPr lang="ko-KR" altLang="en-US" dirty="0"/>
              <a:t> 원인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주로 손</a:t>
            </a:r>
            <a:r>
              <a:rPr lang="en-US" altLang="ko-KR" dirty="0"/>
              <a:t>/</a:t>
            </a:r>
            <a:r>
              <a:rPr lang="ko-KR" altLang="en-US" dirty="0"/>
              <a:t>발 끝이 저린 느낌으로 시작하지만 증상이 위로 타고 올라가면서 악화될 수 있다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저혈압</a:t>
            </a:r>
            <a:r>
              <a:rPr lang="en-US" altLang="ko-KR" dirty="0"/>
              <a:t>, </a:t>
            </a:r>
            <a:r>
              <a:rPr lang="ko-KR" altLang="en-US" dirty="0"/>
              <a:t>변비</a:t>
            </a:r>
            <a:r>
              <a:rPr lang="en-US" altLang="ko-KR" dirty="0"/>
              <a:t>, </a:t>
            </a:r>
            <a:r>
              <a:rPr lang="ko-KR" altLang="en-US" dirty="0"/>
              <a:t>배뇨장애 등을 발생시키거나 </a:t>
            </a:r>
            <a:r>
              <a:rPr lang="ko-KR" altLang="en-US" dirty="0" err="1"/>
              <a:t>근위약</a:t>
            </a:r>
            <a:r>
              <a:rPr lang="en-US" altLang="ko-KR" dirty="0"/>
              <a:t>, </a:t>
            </a:r>
            <a:r>
              <a:rPr lang="ko-KR" altLang="en-US" dirty="0"/>
              <a:t>균형감각 저하 등으로 걷지 못하게 될 수도 있다</a:t>
            </a: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dirty="0"/>
              <a:t>항암치료가 종료된 후에도 </a:t>
            </a:r>
            <a:r>
              <a:rPr lang="en-US" altLang="ko-KR" dirty="0"/>
              <a:t>40% </a:t>
            </a:r>
            <a:r>
              <a:rPr lang="ko-KR" altLang="en-US" dirty="0"/>
              <a:t>정도의 환자는 후유증으로 계속 남는다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1500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신경병증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 err="1"/>
              <a:t>만성질환으로서의</a:t>
            </a:r>
            <a:r>
              <a:rPr lang="ko-KR" altLang="en-US" dirty="0"/>
              <a:t> 약물치료</a:t>
            </a:r>
            <a:endParaRPr lang="en-US" altLang="ko-KR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dirty="0"/>
              <a:t>Duloxetine, Pregabalin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dirty="0"/>
              <a:t>약제 부작용으로 졸림</a:t>
            </a:r>
            <a:r>
              <a:rPr lang="en-US" altLang="ko-KR" dirty="0"/>
              <a:t>, </a:t>
            </a:r>
            <a:r>
              <a:rPr lang="ko-KR" altLang="en-US" dirty="0" err="1"/>
              <a:t>기운없음</a:t>
            </a:r>
            <a:r>
              <a:rPr lang="ko-KR" altLang="en-US" dirty="0"/>
              <a:t> 등이 있을 수 있음</a:t>
            </a:r>
            <a:endParaRPr lang="en-US" altLang="ko-KR" dirty="0"/>
          </a:p>
          <a:p>
            <a:pPr>
              <a:lnSpc>
                <a:spcPct val="150000"/>
              </a:lnSpc>
              <a:defRPr/>
            </a:pPr>
            <a:endParaRPr lang="en-US" altLang="ko-KR" dirty="0"/>
          </a:p>
          <a:p>
            <a:pPr>
              <a:lnSpc>
                <a:spcPct val="150000"/>
              </a:lnSpc>
              <a:defRPr/>
            </a:pPr>
            <a:r>
              <a:rPr lang="ko-KR" altLang="en-US" dirty="0"/>
              <a:t>약물치료로 조절되지 않는다면</a:t>
            </a:r>
            <a:r>
              <a:rPr lang="en-US" altLang="ko-KR" dirty="0"/>
              <a:t>, </a:t>
            </a:r>
            <a:r>
              <a:rPr lang="ko-KR" altLang="en-US" dirty="0"/>
              <a:t>원인이 되는 항암제의 감량 또는 중단이 필요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dirty="0"/>
              <a:t>치료 효과의 저하 및 생존 여부에도 악영향을 준다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1998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전신쇠약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체중 저하</a:t>
            </a:r>
            <a:r>
              <a:rPr lang="en-US" altLang="ko-KR" dirty="0"/>
              <a:t>, </a:t>
            </a:r>
            <a:r>
              <a:rPr lang="ko-KR" altLang="en-US" dirty="0"/>
              <a:t>피로</a:t>
            </a:r>
            <a:r>
              <a:rPr lang="en-US" altLang="ko-KR" dirty="0"/>
              <a:t>, </a:t>
            </a:r>
            <a:r>
              <a:rPr lang="ko-KR" altLang="en-US" dirty="0"/>
              <a:t>식욕 감퇴 등</a:t>
            </a:r>
            <a:r>
              <a:rPr lang="en-US" altLang="ko-KR" dirty="0"/>
              <a:t>…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ko-KR" b="1" dirty="0"/>
              <a:t>Cachexia</a:t>
            </a:r>
            <a:r>
              <a:rPr lang="en-US" altLang="ko-KR" dirty="0"/>
              <a:t> (</a:t>
            </a:r>
            <a:r>
              <a:rPr lang="ko-KR" altLang="en-US" dirty="0" err="1"/>
              <a:t>악액질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근육 손실과 대사 이상의 진행</a:t>
            </a:r>
            <a:endParaRPr lang="en-US" altLang="ko-KR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dirty="0"/>
              <a:t>암의 진행 </a:t>
            </a:r>
            <a:r>
              <a:rPr lang="en-US" altLang="ko-KR" dirty="0"/>
              <a:t>+</a:t>
            </a:r>
            <a:r>
              <a:rPr lang="ko-KR" altLang="en-US" dirty="0"/>
              <a:t> 항암제 독성이 모두 원인이 될 수 있다</a:t>
            </a:r>
            <a:endParaRPr lang="en-US" altLang="ko-KR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dirty="0"/>
              <a:t>수술이나 방사선치료에 비해 발생률이 높다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3DFC44-A22D-4C82-ACF1-F31BD819D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356992"/>
            <a:ext cx="4824536" cy="333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8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세포독성항암제와 전신쇠약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27984" y="1124744"/>
            <a:ext cx="4247059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고령 환자일수록</a:t>
            </a:r>
            <a:r>
              <a:rPr lang="en-US" altLang="ko-KR" sz="2000" dirty="0"/>
              <a:t>,</a:t>
            </a:r>
            <a:r>
              <a:rPr lang="ko-KR" altLang="en-US" sz="2000" dirty="0"/>
              <a:t> 진행된 암일수록 위험성이 크지만 젊은 나이에서도 발생한다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결과적으로 다른 부작용의 발생률과 사망률을 높인다</a:t>
            </a: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문제를 인지하고</a:t>
            </a:r>
            <a:r>
              <a:rPr lang="en-US" altLang="ko-KR" sz="2000" dirty="0"/>
              <a:t>, </a:t>
            </a:r>
            <a:r>
              <a:rPr lang="ko-KR" altLang="en-US" sz="2000" dirty="0"/>
              <a:t>영양 공급을 보조하는 것이 필요</a:t>
            </a:r>
            <a:endParaRPr lang="en-US" altLang="ko-KR" sz="20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 dirty="0"/>
              <a:t>TPN, </a:t>
            </a:r>
            <a:r>
              <a:rPr lang="ko-KR" altLang="en-US" sz="1800" dirty="0"/>
              <a:t>경구</a:t>
            </a:r>
            <a:r>
              <a:rPr lang="en-US" altLang="ko-KR" sz="1800" dirty="0"/>
              <a:t>/</a:t>
            </a:r>
            <a:r>
              <a:rPr lang="ko-KR" altLang="en-US" sz="1800" dirty="0"/>
              <a:t>경장영양 공급</a:t>
            </a:r>
            <a:endParaRPr lang="en-US" altLang="ko-KR" sz="18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800" dirty="0"/>
              <a:t>조절되지 않는다면 항암치료 지속도 어렵다</a:t>
            </a:r>
            <a:endParaRPr lang="en-US" altLang="ko-KR" sz="18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  <a:p>
            <a:pPr lvl="0">
              <a:lnSpc>
                <a:spcPct val="150000"/>
              </a:lnSpc>
              <a:defRPr/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EFFC55-35F4-4010-B344-3BC7ECDC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132856"/>
            <a:ext cx="4176464" cy="302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382905"/>
            <a:ext cx="6626225" cy="491490"/>
          </a:xfrm>
        </p:spPr>
        <p:txBody>
          <a:bodyPr/>
          <a:lstStyle/>
          <a:p>
            <a:pPr lvl="0">
              <a:defRPr/>
            </a:pPr>
            <a:r>
              <a:rPr lang="ko-KR" altLang="en-US" sz="2600" dirty="0"/>
              <a:t>세포독성항암제의 부작용들</a:t>
            </a:r>
            <a:endParaRPr lang="en-US" altLang="ko-KR" sz="2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8065443" cy="535035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세포독성항암제 </a:t>
            </a:r>
            <a:r>
              <a:rPr lang="en-US" altLang="ko-KR" dirty="0"/>
              <a:t>: </a:t>
            </a:r>
            <a:r>
              <a:rPr lang="ko-KR" altLang="en-US" dirty="0"/>
              <a:t>전신에 </a:t>
            </a:r>
            <a:r>
              <a:rPr lang="ko-KR" altLang="en-US" dirty="0" err="1"/>
              <a:t>비특이적으로</a:t>
            </a:r>
            <a:r>
              <a:rPr lang="ko-KR" altLang="en-US" dirty="0"/>
              <a:t> 작용하는 약제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/>
              <a:t>환자가 호소하는 다양한 </a:t>
            </a:r>
            <a:r>
              <a:rPr lang="ko-KR" altLang="en-US" dirty="0"/>
              <a:t>증상이 </a:t>
            </a:r>
            <a:r>
              <a:rPr lang="ko-KR" altLang="en-US"/>
              <a:t>실제로는 모두 항암제 </a:t>
            </a:r>
            <a:r>
              <a:rPr lang="ko-KR" altLang="en-US" dirty="0"/>
              <a:t>사용과 관련되어 있을 수 있다</a:t>
            </a: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dirty="0"/>
              <a:t>의료진이 빠르고 적절하게 문제를 인지해야 치명적인 부작용을 막고</a:t>
            </a:r>
            <a:r>
              <a:rPr lang="en-US" altLang="ko-KR" dirty="0"/>
              <a:t>, </a:t>
            </a:r>
            <a:r>
              <a:rPr lang="ko-KR" altLang="en-US" dirty="0"/>
              <a:t>항암치료를 더 오래 지속할 수 있다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2400" b="1" dirty="0"/>
              <a:t>환자가 더 오래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건강하게 살 수 있다</a:t>
            </a:r>
            <a:endParaRPr lang="en-US" altLang="ko-KR" sz="2400" b="1" dirty="0"/>
          </a:p>
          <a:p>
            <a:pPr lvl="0">
              <a:lnSpc>
                <a:spcPct val="150000"/>
              </a:lnSpc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5954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순천향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  <a:round/>
        </a:ln>
        <a:effectLst/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1" sz="2400" b="0" i="0" u="none" strike="noStrike" cap="none" normalizeH="0" baseline="0" smtClean="0">
            <a:solidFill>
              <a:schemeClr val="tx1"/>
            </a:solidFill>
            <a:effectLst/>
            <a:latin typeface="Times New Roman"/>
            <a:ea typeface="굴림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1" lang="ko-KR" altLang="en-US" sz="2400" b="0" i="0" u="none" strike="noStrike" cap="none" normalizeH="0" baseline="0" smtClean="0">
            <a:solidFill>
              <a:schemeClr val="tx1"/>
            </a:solidFill>
            <a:effectLst/>
            <a:latin typeface="Times New Roman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825</Words>
  <Application>Microsoft Office PowerPoint</Application>
  <PresentationFormat>화면 슬라이드 쇼(4:3)</PresentationFormat>
  <Paragraphs>149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굴림</vt:lpstr>
      <vt:lpstr>맑은 고딕</vt:lpstr>
      <vt:lpstr>Arial</vt:lpstr>
      <vt:lpstr>Wingdings</vt:lpstr>
      <vt:lpstr>순천향</vt:lpstr>
      <vt:lpstr>세포독성항암제 사용과 관련된 각종 부작용들</vt:lpstr>
      <vt:lpstr>세포독성항암제란?</vt:lpstr>
      <vt:lpstr>세포독성항암제란?</vt:lpstr>
      <vt:lpstr>세포독성항암제로 인한 Complaints…</vt:lpstr>
      <vt:lpstr>세포독성항암제와 탈모</vt:lpstr>
      <vt:lpstr>세포독성항암제와 구역 구토</vt:lpstr>
      <vt:lpstr>세포독성항암제와 구역 구토</vt:lpstr>
      <vt:lpstr>세포독성항암제와 구역 구토</vt:lpstr>
      <vt:lpstr>세포독성항암제와 호흡곤란</vt:lpstr>
      <vt:lpstr>세포독성항암제와 구내염</vt:lpstr>
      <vt:lpstr>세포독성항암제와 설사</vt:lpstr>
      <vt:lpstr>세포독성항암제와 피부</vt:lpstr>
      <vt:lpstr>세포독성항암제와 피부</vt:lpstr>
      <vt:lpstr>세포독성항암제와 혈구감소증</vt:lpstr>
      <vt:lpstr>세포독성항암제와 혈구감소증</vt:lpstr>
      <vt:lpstr>세포독성항암제와 신경병증</vt:lpstr>
      <vt:lpstr>세포독성항암제와 신경병증</vt:lpstr>
      <vt:lpstr>세포독성항암제와 전신쇠약</vt:lpstr>
      <vt:lpstr>세포독성항암제와 전신쇠약</vt:lpstr>
      <vt:lpstr>세포독성항암제의 부작용들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PRESENTATION</dc:title>
  <dc:creator>SYSTEM</dc:creator>
  <cp:lastModifiedBy>rahee</cp:lastModifiedBy>
  <cp:revision>1180</cp:revision>
  <dcterms:created xsi:type="dcterms:W3CDTF">2014-05-08T06:39:52Z</dcterms:created>
  <dcterms:modified xsi:type="dcterms:W3CDTF">2026-04-27T13:18:16Z</dcterms:modified>
  <cp:version>1000.0000.01</cp:version>
</cp:coreProperties>
</file>