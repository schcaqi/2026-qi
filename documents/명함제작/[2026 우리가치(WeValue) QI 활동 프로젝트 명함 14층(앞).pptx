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96" r:id="rId1"/>
  </p:sldMasterIdLst>
  <p:notesMasterIdLst>
    <p:notesMasterId r:id="rId8"/>
  </p:notesMasterIdLst>
  <p:sldIdLst>
    <p:sldId id="262" r:id="rId2"/>
    <p:sldId id="263" r:id="rId3"/>
    <p:sldId id="264" r:id="rId4"/>
    <p:sldId id="265" r:id="rId5"/>
    <p:sldId id="266" r:id="rId6"/>
    <p:sldId id="267" r:id="rId7"/>
  </p:sldIdLst>
  <p:sldSz cx="9144000" cy="5143500" type="screen16x9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5" orient="horz" pos="1620" userDrawn="1">
          <p15:clr>
            <a:srgbClr val="A4A3A4"/>
          </p15:clr>
        </p15:guide>
        <p15:guide id="6" orient="horz" pos="574" userDrawn="1">
          <p15:clr>
            <a:srgbClr val="A4A3A4"/>
          </p15:clr>
        </p15:guide>
        <p15:guide id="7" orient="horz" pos="2977" userDrawn="1">
          <p15:clr>
            <a:srgbClr val="A4A3A4"/>
          </p15:clr>
        </p15:guide>
        <p15:guide id="8" pos="2880" userDrawn="1">
          <p15:clr>
            <a:srgbClr val="A4A3A4"/>
          </p15:clr>
        </p15:guide>
        <p15:guide id="9" pos="371" userDrawn="1">
          <p15:clr>
            <a:srgbClr val="A4A3A4"/>
          </p15:clr>
        </p15:guide>
        <p15:guide id="10" pos="538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CC00"/>
    <a:srgbClr val="E2CFF1"/>
    <a:srgbClr val="CC00FF"/>
    <a:srgbClr val="006E99"/>
    <a:srgbClr val="009BD6"/>
    <a:srgbClr val="1E5691"/>
    <a:srgbClr val="DDF6FF"/>
    <a:srgbClr val="F58400"/>
    <a:srgbClr val="FF33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660B408-B3CF-4A94-85FC-2B1E0A45F4A2}" styleName="어두운 스타일 2 - 강조 1/강조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165" autoAdjust="0"/>
    <p:restoredTop sz="97430" autoAdjust="0"/>
  </p:normalViewPr>
  <p:slideViewPr>
    <p:cSldViewPr snapToGrid="0">
      <p:cViewPr varScale="1">
        <p:scale>
          <a:sx n="204" d="100"/>
          <a:sy n="204" d="100"/>
        </p:scale>
        <p:origin x="1134" y="180"/>
      </p:cViewPr>
      <p:guideLst>
        <p:guide orient="horz" pos="1620"/>
        <p:guide orient="horz" pos="574"/>
        <p:guide orient="horz" pos="2977"/>
        <p:guide pos="2880"/>
        <p:guide pos="371"/>
        <p:guide pos="5389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2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8" y="2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/>
          <a:lstStyle>
            <a:lvl1pPr algn="r">
              <a:defRPr sz="1300"/>
            </a:lvl1pPr>
          </a:lstStyle>
          <a:p>
            <a:fld id="{F929F65E-AEE7-45C5-814B-4468CAF1E537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44500" y="1241425"/>
            <a:ext cx="5969000" cy="3359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05" tIns="45703" rIns="91405" bIns="45703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786312"/>
            <a:ext cx="5486400" cy="3916363"/>
          </a:xfrm>
          <a:prstGeom prst="rect">
            <a:avLst/>
          </a:prstGeom>
        </p:spPr>
        <p:txBody>
          <a:bodyPr vert="horz" lIns="91405" tIns="45703" rIns="91405" bIns="45703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47215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8" y="9447215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 anchor="b"/>
          <a:lstStyle>
            <a:lvl1pPr algn="r">
              <a:defRPr sz="1300"/>
            </a:lvl1pPr>
          </a:lstStyle>
          <a:p>
            <a:fld id="{6A73BE5E-839E-45D1-B8A5-13B23A945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12117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78407" rtl="0" eaLnBrk="1" latinLnBrk="1" hangingPunct="1">
      <a:defRPr sz="629" kern="1200">
        <a:solidFill>
          <a:schemeClr val="tx1"/>
        </a:solidFill>
        <a:latin typeface="+mn-lt"/>
        <a:ea typeface="+mn-ea"/>
        <a:cs typeface="+mn-cs"/>
      </a:defRPr>
    </a:lvl1pPr>
    <a:lvl2pPr marL="239205" algn="l" defTabSz="478407" rtl="0" eaLnBrk="1" latinLnBrk="1" hangingPunct="1">
      <a:defRPr sz="629" kern="1200">
        <a:solidFill>
          <a:schemeClr val="tx1"/>
        </a:solidFill>
        <a:latin typeface="+mn-lt"/>
        <a:ea typeface="+mn-ea"/>
        <a:cs typeface="+mn-cs"/>
      </a:defRPr>
    </a:lvl2pPr>
    <a:lvl3pPr marL="478407" algn="l" defTabSz="478407" rtl="0" eaLnBrk="1" latinLnBrk="1" hangingPunct="1">
      <a:defRPr sz="629" kern="1200">
        <a:solidFill>
          <a:schemeClr val="tx1"/>
        </a:solidFill>
        <a:latin typeface="+mn-lt"/>
        <a:ea typeface="+mn-ea"/>
        <a:cs typeface="+mn-cs"/>
      </a:defRPr>
    </a:lvl3pPr>
    <a:lvl4pPr marL="717612" algn="l" defTabSz="478407" rtl="0" eaLnBrk="1" latinLnBrk="1" hangingPunct="1">
      <a:defRPr sz="629" kern="1200">
        <a:solidFill>
          <a:schemeClr val="tx1"/>
        </a:solidFill>
        <a:latin typeface="+mn-lt"/>
        <a:ea typeface="+mn-ea"/>
        <a:cs typeface="+mn-cs"/>
      </a:defRPr>
    </a:lvl4pPr>
    <a:lvl5pPr marL="956814" algn="l" defTabSz="478407" rtl="0" eaLnBrk="1" latinLnBrk="1" hangingPunct="1">
      <a:defRPr sz="629" kern="1200">
        <a:solidFill>
          <a:schemeClr val="tx1"/>
        </a:solidFill>
        <a:latin typeface="+mn-lt"/>
        <a:ea typeface="+mn-ea"/>
        <a:cs typeface="+mn-cs"/>
      </a:defRPr>
    </a:lvl5pPr>
    <a:lvl6pPr marL="1196019" algn="l" defTabSz="478407" rtl="0" eaLnBrk="1" latinLnBrk="1" hangingPunct="1">
      <a:defRPr sz="629" kern="1200">
        <a:solidFill>
          <a:schemeClr val="tx1"/>
        </a:solidFill>
        <a:latin typeface="+mn-lt"/>
        <a:ea typeface="+mn-ea"/>
        <a:cs typeface="+mn-cs"/>
      </a:defRPr>
    </a:lvl6pPr>
    <a:lvl7pPr marL="1435221" algn="l" defTabSz="478407" rtl="0" eaLnBrk="1" latinLnBrk="1" hangingPunct="1">
      <a:defRPr sz="629" kern="1200">
        <a:solidFill>
          <a:schemeClr val="tx1"/>
        </a:solidFill>
        <a:latin typeface="+mn-lt"/>
        <a:ea typeface="+mn-ea"/>
        <a:cs typeface="+mn-cs"/>
      </a:defRPr>
    </a:lvl7pPr>
    <a:lvl8pPr marL="1674426" algn="l" defTabSz="478407" rtl="0" eaLnBrk="1" latinLnBrk="1" hangingPunct="1">
      <a:defRPr sz="629" kern="1200">
        <a:solidFill>
          <a:schemeClr val="tx1"/>
        </a:solidFill>
        <a:latin typeface="+mn-lt"/>
        <a:ea typeface="+mn-ea"/>
        <a:cs typeface="+mn-cs"/>
      </a:defRPr>
    </a:lvl8pPr>
    <a:lvl9pPr marL="1913631" algn="l" defTabSz="478407" rtl="0" eaLnBrk="1" latinLnBrk="1" hangingPunct="1">
      <a:defRPr sz="62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79210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31977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11824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73026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52845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47501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1818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80598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57667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27356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15712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6" y="4"/>
            <a:ext cx="9163051" cy="514350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37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84410" y="87096"/>
            <a:ext cx="8980814" cy="49384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37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876114" y="233109"/>
            <a:ext cx="1024897" cy="58012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9BA0C91-E2D0-A166-2BE8-3501CE9BABF8}"/>
              </a:ext>
            </a:extLst>
          </p:cNvPr>
          <p:cNvSpPr txBox="1"/>
          <p:nvPr userDrawn="1"/>
        </p:nvSpPr>
        <p:spPr>
          <a:xfrm>
            <a:off x="5921635" y="4485446"/>
            <a:ext cx="3222369" cy="309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411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ko-KR" altLang="en-US" sz="1694" b="1" dirty="0">
              <a:solidFill>
                <a:srgbClr val="4472C4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40942826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6" y="4"/>
            <a:ext cx="9163051" cy="514350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37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128346" y="49983"/>
            <a:ext cx="8901360" cy="50414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37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985259" y="83528"/>
            <a:ext cx="915751" cy="216029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3256578-F800-6850-5D6B-02ED7EBACB52}"/>
              </a:ext>
            </a:extLst>
          </p:cNvPr>
          <p:cNvSpPr txBox="1"/>
          <p:nvPr userDrawn="1"/>
        </p:nvSpPr>
        <p:spPr>
          <a:xfrm>
            <a:off x="8458259" y="4819774"/>
            <a:ext cx="442750" cy="18030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286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en-US" altLang="ko-KR" sz="286" b="1" dirty="0">
              <a:solidFill>
                <a:srgbClr val="4472C4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r"/>
            <a:r>
              <a:rPr lang="ko-KR" altLang="en-US" sz="286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이비인후과</a:t>
            </a:r>
          </a:p>
        </p:txBody>
      </p:sp>
    </p:spTree>
    <p:extLst>
      <p:ext uri="{BB962C8B-B14F-4D97-AF65-F5344CB8AC3E}">
        <p14:creationId xmlns:p14="http://schemas.microsoft.com/office/powerpoint/2010/main" val="273730350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6" y="4"/>
            <a:ext cx="9163051" cy="514350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37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128346" y="49983"/>
            <a:ext cx="8901360" cy="50414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37" dirty="0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980813" y="83528"/>
            <a:ext cx="915751" cy="216029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AD82B35-E786-6435-BBDD-C02B0C93E120}"/>
              </a:ext>
            </a:extLst>
          </p:cNvPr>
          <p:cNvSpPr txBox="1"/>
          <p:nvPr userDrawn="1"/>
        </p:nvSpPr>
        <p:spPr>
          <a:xfrm>
            <a:off x="8382921" y="4877770"/>
            <a:ext cx="518091" cy="136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286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이비인후과 </a:t>
            </a:r>
            <a:r>
              <a:rPr lang="en-US" altLang="ko-KR" sz="286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131</a:t>
            </a:r>
            <a:r>
              <a:rPr lang="ko-KR" altLang="en-US" sz="286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병동</a:t>
            </a:r>
          </a:p>
        </p:txBody>
      </p:sp>
    </p:spTree>
    <p:extLst>
      <p:ext uri="{BB962C8B-B14F-4D97-AF65-F5344CB8AC3E}">
        <p14:creationId xmlns:p14="http://schemas.microsoft.com/office/powerpoint/2010/main" val="501363078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  <p15:guide id="3" orient="horz" pos="197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9F34B4-7175-41BD-B98B-2E7021201D7D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7452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7" r:id="rId1"/>
    <p:sldLayoutId id="2147483898" r:id="rId2"/>
    <p:sldLayoutId id="2147483899" r:id="rId3"/>
    <p:sldLayoutId id="2147483900" r:id="rId4"/>
    <p:sldLayoutId id="2147483901" r:id="rId5"/>
    <p:sldLayoutId id="2147483902" r:id="rId6"/>
    <p:sldLayoutId id="2147483903" r:id="rId7"/>
    <p:sldLayoutId id="2147483904" r:id="rId8"/>
    <p:sldLayoutId id="2147483905" r:id="rId9"/>
    <p:sldLayoutId id="2147483906" r:id="rId10"/>
    <p:sldLayoutId id="2147483907" r:id="rId11"/>
    <p:sldLayoutId id="2147483908" r:id="rId12"/>
    <p:sldLayoutId id="2147483790" r:id="rId13"/>
    <p:sldLayoutId id="2147483789" r:id="rId14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44891-DB0B-9038-5B25-629A4C227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EABBF7A-4383-D72B-A05E-B56FEE94992E}"/>
              </a:ext>
            </a:extLst>
          </p:cNvPr>
          <p:cNvSpPr txBox="1"/>
          <p:nvPr/>
        </p:nvSpPr>
        <p:spPr>
          <a:xfrm>
            <a:off x="101992" y="184592"/>
            <a:ext cx="3494648" cy="309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11" spc="-31" dirty="0">
                <a:latin typeface="KoPub돋움체 Light" panose="02020603020101020101" pitchFamily="18" charset="-127"/>
                <a:ea typeface="KoPub돋움체 Light" panose="02020603020101020101"/>
              </a:rPr>
              <a:t>순천향대학교 천안병원 </a:t>
            </a:r>
            <a:r>
              <a:rPr lang="en-US" altLang="ko-KR" sz="1411" spc="-31" dirty="0">
                <a:latin typeface="KoPub돋움체 Light" panose="02020603020101020101" pitchFamily="18" charset="-127"/>
                <a:ea typeface="KoPub돋움체 Light" panose="02020603020101020101"/>
              </a:rPr>
              <a:t>| </a:t>
            </a:r>
            <a:r>
              <a:rPr lang="ko-KR" altLang="en-US" sz="1411" spc="-31" dirty="0">
                <a:latin typeface="KoPub돋움체 Light" panose="02020603020101020101" pitchFamily="18" charset="-127"/>
                <a:ea typeface="KoPub돋움체 Light" panose="02020603020101020101"/>
              </a:rPr>
              <a:t>진료지원간호팀 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CE2932C1-2A00-0758-2BBA-833E022443FD}"/>
              </a:ext>
            </a:extLst>
          </p:cNvPr>
          <p:cNvSpPr/>
          <p:nvPr/>
        </p:nvSpPr>
        <p:spPr>
          <a:xfrm>
            <a:off x="3050989" y="1198923"/>
            <a:ext cx="5779400" cy="651443"/>
          </a:xfrm>
          <a:prstGeom prst="roundRect">
            <a:avLst>
              <a:gd name="adj" fmla="val 11062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1548A1BD-8723-9A88-C7D3-66F55BF5E173}"/>
              </a:ext>
            </a:extLst>
          </p:cNvPr>
          <p:cNvSpPr/>
          <p:nvPr/>
        </p:nvSpPr>
        <p:spPr>
          <a:xfrm>
            <a:off x="208326" y="1198923"/>
            <a:ext cx="2788897" cy="651443"/>
          </a:xfrm>
          <a:prstGeom prst="roundRect">
            <a:avLst>
              <a:gd name="adj" fmla="val 11062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0F75E6-5F6B-E96E-73A6-26A5843998CD}"/>
              </a:ext>
            </a:extLst>
          </p:cNvPr>
          <p:cNvSpPr txBox="1"/>
          <p:nvPr/>
        </p:nvSpPr>
        <p:spPr>
          <a:xfrm>
            <a:off x="3161347" y="1339978"/>
            <a:ext cx="5119836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Case ID :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병실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-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등록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-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성함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-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교수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-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월일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-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시간</a:t>
            </a:r>
            <a:endParaRPr lang="en-US" altLang="ko-KR" dirty="0">
              <a:solidFill>
                <a:schemeClr val="tx2">
                  <a:lumMod val="50000"/>
                </a:schemeClr>
              </a:solidFill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A07B63-4519-67D4-9E1C-D241B9FC298D}"/>
              </a:ext>
            </a:extLst>
          </p:cNvPr>
          <p:cNvSpPr txBox="1"/>
          <p:nvPr/>
        </p:nvSpPr>
        <p:spPr>
          <a:xfrm>
            <a:off x="310149" y="1339978"/>
            <a:ext cx="205216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altLang="ko-KR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[ID] Case ID </a:t>
            </a:r>
            <a:r>
              <a:rPr lang="ko-KR" altLang="en-US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표준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C32F48BA-C495-9A9B-C63F-E8A7AEFC92D4}"/>
              </a:ext>
            </a:extLst>
          </p:cNvPr>
          <p:cNvSpPr/>
          <p:nvPr/>
        </p:nvSpPr>
        <p:spPr>
          <a:xfrm>
            <a:off x="3050989" y="1961982"/>
            <a:ext cx="5779400" cy="1115349"/>
          </a:xfrm>
          <a:prstGeom prst="roundRect">
            <a:avLst>
              <a:gd name="adj" fmla="val 11062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6B78A99E-9E40-784B-95AB-E8BEFD430BA4}"/>
              </a:ext>
            </a:extLst>
          </p:cNvPr>
          <p:cNvSpPr/>
          <p:nvPr/>
        </p:nvSpPr>
        <p:spPr>
          <a:xfrm>
            <a:off x="208326" y="1961983"/>
            <a:ext cx="2788897" cy="1115349"/>
          </a:xfrm>
          <a:prstGeom prst="roundRect">
            <a:avLst>
              <a:gd name="adj" fmla="val 11062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905CC26-D0D7-0E58-1BF6-6BB32A2663D4}"/>
              </a:ext>
            </a:extLst>
          </p:cNvPr>
          <p:cNvSpPr txBox="1"/>
          <p:nvPr/>
        </p:nvSpPr>
        <p:spPr>
          <a:xfrm>
            <a:off x="3161347" y="2057991"/>
            <a:ext cx="5119836" cy="92333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[A]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보고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: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지금 상태 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/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근거 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/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요청사항 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+ 10·4·12 </a:t>
            </a:r>
          </a:p>
          <a:p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[C]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상황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: PA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조치 예정 사유 및 시간 공유 </a:t>
            </a:r>
          </a:p>
          <a:p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[D]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완료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: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결과 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/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현재 상태 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/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추후 계획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(F/U) 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57D6DD-C910-2054-C4EB-9D7E67088B09}"/>
              </a:ext>
            </a:extLst>
          </p:cNvPr>
          <p:cNvSpPr txBox="1"/>
          <p:nvPr/>
        </p:nvSpPr>
        <p:spPr>
          <a:xfrm>
            <a:off x="310149" y="2334991"/>
            <a:ext cx="245881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altLang="ko-KR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ACD </a:t>
            </a:r>
            <a:r>
              <a:rPr lang="ko-KR" altLang="en-US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루프 </a:t>
            </a:r>
            <a:r>
              <a:rPr lang="en-US" altLang="ko-KR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(</a:t>
            </a:r>
            <a:r>
              <a:rPr lang="ko-KR" altLang="en-US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소통 공식</a:t>
            </a:r>
            <a:r>
              <a:rPr lang="en-US" altLang="ko-KR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)</a:t>
            </a:r>
            <a:endParaRPr lang="ko-KR" altLang="en-US" b="1" dirty="0">
              <a:solidFill>
                <a:srgbClr val="000000"/>
              </a:solidFill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82DFC436-1063-4EC0-8D98-BDC4799C2F86}"/>
              </a:ext>
            </a:extLst>
          </p:cNvPr>
          <p:cNvSpPr/>
          <p:nvPr/>
        </p:nvSpPr>
        <p:spPr>
          <a:xfrm>
            <a:off x="3050989" y="3188946"/>
            <a:ext cx="5779400" cy="1115349"/>
          </a:xfrm>
          <a:prstGeom prst="roundRect">
            <a:avLst>
              <a:gd name="adj" fmla="val 11062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D3E48C3-10D6-461B-92DA-40EFC6B4C91E}"/>
              </a:ext>
            </a:extLst>
          </p:cNvPr>
          <p:cNvSpPr/>
          <p:nvPr/>
        </p:nvSpPr>
        <p:spPr>
          <a:xfrm>
            <a:off x="208326" y="3188946"/>
            <a:ext cx="2788897" cy="1115349"/>
          </a:xfrm>
          <a:prstGeom prst="roundRect">
            <a:avLst>
              <a:gd name="adj" fmla="val 11062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7C117C8-2C5F-42B0-8015-D651D05B1BD8}"/>
              </a:ext>
            </a:extLst>
          </p:cNvPr>
          <p:cNvSpPr txBox="1"/>
          <p:nvPr/>
        </p:nvSpPr>
        <p:spPr>
          <a:xfrm>
            <a:off x="310149" y="3561954"/>
            <a:ext cx="236154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트리아제 </a:t>
            </a:r>
            <a:r>
              <a:rPr lang="en-US" altLang="ko-KR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(</a:t>
            </a:r>
            <a:r>
              <a:rPr lang="ko-KR" altLang="en-US" b="1" dirty="0" err="1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골든타임</a:t>
            </a:r>
            <a:r>
              <a:rPr lang="en-US" altLang="ko-KR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)</a:t>
            </a:r>
            <a:endParaRPr lang="ko-KR" altLang="en-US" b="1" dirty="0">
              <a:solidFill>
                <a:srgbClr val="000000"/>
              </a:solidFill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F6CD54F-7897-4496-8903-172CACA01316}"/>
              </a:ext>
            </a:extLst>
          </p:cNvPr>
          <p:cNvSpPr/>
          <p:nvPr/>
        </p:nvSpPr>
        <p:spPr>
          <a:xfrm>
            <a:off x="3161346" y="3284955"/>
            <a:ext cx="5468122" cy="923330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r>
              <a:rPr lang="ko-KR" altLang="en-US" dirty="0">
                <a:ea typeface="KoPub돋움체 Light" panose="02020603020101020101"/>
              </a:rPr>
              <a:t>빨강 10분(응급): 환자 안전 직결 (유선 병행)</a:t>
            </a:r>
          </a:p>
          <a:p>
            <a:r>
              <a:rPr lang="ko-KR" altLang="en-US" dirty="0">
                <a:ea typeface="KoPub돋움체 Light" panose="02020603020101020101"/>
              </a:rPr>
              <a:t>초록 4시간(우선): 당일 내 우선 처리 필요</a:t>
            </a:r>
          </a:p>
          <a:p>
            <a:r>
              <a:rPr lang="ko-KR" altLang="en-US" dirty="0">
                <a:ea typeface="KoPub돋움체 Light" panose="02020603020101020101"/>
              </a:rPr>
              <a:t>노랑 12시간(루틴): 근무 흐름 내 안정적 처리</a:t>
            </a:r>
          </a:p>
        </p:txBody>
      </p:sp>
    </p:spTree>
    <p:extLst>
      <p:ext uri="{BB962C8B-B14F-4D97-AF65-F5344CB8AC3E}">
        <p14:creationId xmlns:p14="http://schemas.microsoft.com/office/powerpoint/2010/main" val="38346110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44891-DB0B-9038-5B25-629A4C227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EABBF7A-4383-D72B-A05E-B56FEE94992E}"/>
              </a:ext>
            </a:extLst>
          </p:cNvPr>
          <p:cNvSpPr txBox="1"/>
          <p:nvPr/>
        </p:nvSpPr>
        <p:spPr>
          <a:xfrm>
            <a:off x="101992" y="184592"/>
            <a:ext cx="3494648" cy="309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11" spc="-31" dirty="0">
                <a:latin typeface="KoPub돋움체 Light" panose="02020603020101020101" pitchFamily="18" charset="-127"/>
                <a:ea typeface="KoPub돋움체 Light" panose="02020603020101020101"/>
              </a:rPr>
              <a:t>순천향대학교 천안병원 </a:t>
            </a:r>
            <a:r>
              <a:rPr lang="en-US" altLang="ko-KR" sz="1411" spc="-31" dirty="0">
                <a:latin typeface="KoPub돋움체 Light" panose="02020603020101020101" pitchFamily="18" charset="-127"/>
                <a:ea typeface="KoPub돋움체 Light" panose="02020603020101020101"/>
              </a:rPr>
              <a:t>| </a:t>
            </a:r>
            <a:r>
              <a:rPr lang="ko-KR" altLang="en-US" sz="1411" spc="-31" dirty="0">
                <a:latin typeface="KoPub돋움체 Light" panose="02020603020101020101" pitchFamily="18" charset="-127"/>
                <a:ea typeface="KoPub돋움체 Light" panose="02020603020101020101"/>
              </a:rPr>
              <a:t>진료지원간호팀 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CE2932C1-2A00-0758-2BBA-833E022443FD}"/>
              </a:ext>
            </a:extLst>
          </p:cNvPr>
          <p:cNvSpPr/>
          <p:nvPr/>
        </p:nvSpPr>
        <p:spPr>
          <a:xfrm>
            <a:off x="3050989" y="1198923"/>
            <a:ext cx="5779400" cy="651443"/>
          </a:xfrm>
          <a:prstGeom prst="roundRect">
            <a:avLst>
              <a:gd name="adj" fmla="val 11062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1548A1BD-8723-9A88-C7D3-66F55BF5E173}"/>
              </a:ext>
            </a:extLst>
          </p:cNvPr>
          <p:cNvSpPr/>
          <p:nvPr/>
        </p:nvSpPr>
        <p:spPr>
          <a:xfrm>
            <a:off x="208326" y="1198923"/>
            <a:ext cx="2788897" cy="651443"/>
          </a:xfrm>
          <a:prstGeom prst="roundRect">
            <a:avLst>
              <a:gd name="adj" fmla="val 11062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0F75E6-5F6B-E96E-73A6-26A5843998CD}"/>
              </a:ext>
            </a:extLst>
          </p:cNvPr>
          <p:cNvSpPr txBox="1"/>
          <p:nvPr/>
        </p:nvSpPr>
        <p:spPr>
          <a:xfrm>
            <a:off x="3161347" y="1339978"/>
            <a:ext cx="5119836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Case ID :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병실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-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등록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-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성함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-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교수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-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월일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-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시간</a:t>
            </a:r>
            <a:endParaRPr lang="en-US" altLang="ko-KR" dirty="0">
              <a:solidFill>
                <a:schemeClr val="tx2">
                  <a:lumMod val="50000"/>
                </a:schemeClr>
              </a:solidFill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A07B63-4519-67D4-9E1C-D241B9FC298D}"/>
              </a:ext>
            </a:extLst>
          </p:cNvPr>
          <p:cNvSpPr txBox="1"/>
          <p:nvPr/>
        </p:nvSpPr>
        <p:spPr>
          <a:xfrm>
            <a:off x="310149" y="1339978"/>
            <a:ext cx="205216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altLang="ko-KR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[ID] Case ID </a:t>
            </a:r>
            <a:r>
              <a:rPr lang="ko-KR" altLang="en-US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표준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C32F48BA-C495-9A9B-C63F-E8A7AEFC92D4}"/>
              </a:ext>
            </a:extLst>
          </p:cNvPr>
          <p:cNvSpPr/>
          <p:nvPr/>
        </p:nvSpPr>
        <p:spPr>
          <a:xfrm>
            <a:off x="3050989" y="1961982"/>
            <a:ext cx="5779400" cy="1115349"/>
          </a:xfrm>
          <a:prstGeom prst="roundRect">
            <a:avLst>
              <a:gd name="adj" fmla="val 11062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6B78A99E-9E40-784B-95AB-E8BEFD430BA4}"/>
              </a:ext>
            </a:extLst>
          </p:cNvPr>
          <p:cNvSpPr/>
          <p:nvPr/>
        </p:nvSpPr>
        <p:spPr>
          <a:xfrm>
            <a:off x="208326" y="1961983"/>
            <a:ext cx="2788897" cy="1115349"/>
          </a:xfrm>
          <a:prstGeom prst="roundRect">
            <a:avLst>
              <a:gd name="adj" fmla="val 11062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905CC26-D0D7-0E58-1BF6-6BB32A2663D4}"/>
              </a:ext>
            </a:extLst>
          </p:cNvPr>
          <p:cNvSpPr txBox="1"/>
          <p:nvPr/>
        </p:nvSpPr>
        <p:spPr>
          <a:xfrm>
            <a:off x="3161347" y="2057991"/>
            <a:ext cx="5119836" cy="92333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[A]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보고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: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지금 상태 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/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근거 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/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요청사항 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+ 10·4·12 </a:t>
            </a:r>
          </a:p>
          <a:p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[C]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상황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: PA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조치 예정 사유 및 시간 공유 </a:t>
            </a:r>
          </a:p>
          <a:p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[D]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완료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: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결과 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/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현재 상태 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/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추후 계획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(F/U) 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57D6DD-C910-2054-C4EB-9D7E67088B09}"/>
              </a:ext>
            </a:extLst>
          </p:cNvPr>
          <p:cNvSpPr txBox="1"/>
          <p:nvPr/>
        </p:nvSpPr>
        <p:spPr>
          <a:xfrm>
            <a:off x="310149" y="2334991"/>
            <a:ext cx="245881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altLang="ko-KR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ACD </a:t>
            </a:r>
            <a:r>
              <a:rPr lang="ko-KR" altLang="en-US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루프 </a:t>
            </a:r>
            <a:r>
              <a:rPr lang="en-US" altLang="ko-KR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(</a:t>
            </a:r>
            <a:r>
              <a:rPr lang="ko-KR" altLang="en-US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소통 공식</a:t>
            </a:r>
            <a:r>
              <a:rPr lang="en-US" altLang="ko-KR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)</a:t>
            </a:r>
            <a:endParaRPr lang="ko-KR" altLang="en-US" b="1" dirty="0">
              <a:solidFill>
                <a:srgbClr val="000000"/>
              </a:solidFill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82DFC436-1063-4EC0-8D98-BDC4799C2F86}"/>
              </a:ext>
            </a:extLst>
          </p:cNvPr>
          <p:cNvSpPr/>
          <p:nvPr/>
        </p:nvSpPr>
        <p:spPr>
          <a:xfrm>
            <a:off x="3050989" y="3188946"/>
            <a:ext cx="5779400" cy="1115349"/>
          </a:xfrm>
          <a:prstGeom prst="roundRect">
            <a:avLst>
              <a:gd name="adj" fmla="val 11062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D3E48C3-10D6-461B-92DA-40EFC6B4C91E}"/>
              </a:ext>
            </a:extLst>
          </p:cNvPr>
          <p:cNvSpPr/>
          <p:nvPr/>
        </p:nvSpPr>
        <p:spPr>
          <a:xfrm>
            <a:off x="208326" y="3188946"/>
            <a:ext cx="2788897" cy="1115349"/>
          </a:xfrm>
          <a:prstGeom prst="roundRect">
            <a:avLst>
              <a:gd name="adj" fmla="val 11062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7C117C8-2C5F-42B0-8015-D651D05B1BD8}"/>
              </a:ext>
            </a:extLst>
          </p:cNvPr>
          <p:cNvSpPr txBox="1"/>
          <p:nvPr/>
        </p:nvSpPr>
        <p:spPr>
          <a:xfrm>
            <a:off x="310149" y="3561954"/>
            <a:ext cx="236154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트리아제 </a:t>
            </a:r>
            <a:r>
              <a:rPr lang="en-US" altLang="ko-KR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(</a:t>
            </a:r>
            <a:r>
              <a:rPr lang="ko-KR" altLang="en-US" b="1" dirty="0" err="1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골든타임</a:t>
            </a:r>
            <a:r>
              <a:rPr lang="en-US" altLang="ko-KR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)</a:t>
            </a:r>
            <a:endParaRPr lang="ko-KR" altLang="en-US" b="1" dirty="0">
              <a:solidFill>
                <a:srgbClr val="000000"/>
              </a:solidFill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F6CD54F-7897-4496-8903-172CACA01316}"/>
              </a:ext>
            </a:extLst>
          </p:cNvPr>
          <p:cNvSpPr/>
          <p:nvPr/>
        </p:nvSpPr>
        <p:spPr>
          <a:xfrm>
            <a:off x="3161346" y="3284955"/>
            <a:ext cx="5468122" cy="923330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r>
              <a:rPr lang="ko-KR" altLang="en-US" dirty="0">
                <a:ea typeface="KoPub돋움체 Light" panose="02020603020101020101"/>
              </a:rPr>
              <a:t>빨강 10분(응급): 환자 안전 직결 (유선 병행)</a:t>
            </a:r>
          </a:p>
          <a:p>
            <a:r>
              <a:rPr lang="ko-KR" altLang="en-US" dirty="0">
                <a:ea typeface="KoPub돋움체 Light" panose="02020603020101020101"/>
              </a:rPr>
              <a:t>초록 4시간(우선): 당일 내 우선 처리 필요</a:t>
            </a:r>
          </a:p>
          <a:p>
            <a:r>
              <a:rPr lang="ko-KR" altLang="en-US" dirty="0">
                <a:ea typeface="KoPub돋움체 Light" panose="02020603020101020101"/>
              </a:rPr>
              <a:t>노랑 12시간(루틴): 근무 흐름 내 안정적 처리</a:t>
            </a:r>
          </a:p>
        </p:txBody>
      </p:sp>
    </p:spTree>
    <p:extLst>
      <p:ext uri="{BB962C8B-B14F-4D97-AF65-F5344CB8AC3E}">
        <p14:creationId xmlns:p14="http://schemas.microsoft.com/office/powerpoint/2010/main" val="10219528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44891-DB0B-9038-5B25-629A4C227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EABBF7A-4383-D72B-A05E-B56FEE94992E}"/>
              </a:ext>
            </a:extLst>
          </p:cNvPr>
          <p:cNvSpPr txBox="1"/>
          <p:nvPr/>
        </p:nvSpPr>
        <p:spPr>
          <a:xfrm>
            <a:off x="101992" y="184592"/>
            <a:ext cx="3494648" cy="309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11" spc="-31" dirty="0">
                <a:latin typeface="KoPub돋움체 Light" panose="02020603020101020101" pitchFamily="18" charset="-127"/>
                <a:ea typeface="KoPub돋움체 Light" panose="02020603020101020101"/>
              </a:rPr>
              <a:t>순천향대학교 천안병원 </a:t>
            </a:r>
            <a:r>
              <a:rPr lang="en-US" altLang="ko-KR" sz="1411" spc="-31" dirty="0">
                <a:latin typeface="KoPub돋움체 Light" panose="02020603020101020101" pitchFamily="18" charset="-127"/>
                <a:ea typeface="KoPub돋움체 Light" panose="02020603020101020101"/>
              </a:rPr>
              <a:t>| </a:t>
            </a:r>
            <a:r>
              <a:rPr lang="ko-KR" altLang="en-US" sz="1411" spc="-31" dirty="0">
                <a:latin typeface="KoPub돋움체 Light" panose="02020603020101020101" pitchFamily="18" charset="-127"/>
                <a:ea typeface="KoPub돋움체 Light" panose="02020603020101020101"/>
              </a:rPr>
              <a:t>진료지원간호팀 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CE2932C1-2A00-0758-2BBA-833E022443FD}"/>
              </a:ext>
            </a:extLst>
          </p:cNvPr>
          <p:cNvSpPr/>
          <p:nvPr/>
        </p:nvSpPr>
        <p:spPr>
          <a:xfrm>
            <a:off x="3050989" y="1198923"/>
            <a:ext cx="5779400" cy="651443"/>
          </a:xfrm>
          <a:prstGeom prst="roundRect">
            <a:avLst>
              <a:gd name="adj" fmla="val 11062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1548A1BD-8723-9A88-C7D3-66F55BF5E173}"/>
              </a:ext>
            </a:extLst>
          </p:cNvPr>
          <p:cNvSpPr/>
          <p:nvPr/>
        </p:nvSpPr>
        <p:spPr>
          <a:xfrm>
            <a:off x="208326" y="1198923"/>
            <a:ext cx="2788897" cy="651443"/>
          </a:xfrm>
          <a:prstGeom prst="roundRect">
            <a:avLst>
              <a:gd name="adj" fmla="val 11062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0F75E6-5F6B-E96E-73A6-26A5843998CD}"/>
              </a:ext>
            </a:extLst>
          </p:cNvPr>
          <p:cNvSpPr txBox="1"/>
          <p:nvPr/>
        </p:nvSpPr>
        <p:spPr>
          <a:xfrm>
            <a:off x="3161347" y="1339978"/>
            <a:ext cx="5119836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Case ID :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병실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-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등록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-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성함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-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교수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-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월일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-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시간</a:t>
            </a:r>
            <a:endParaRPr lang="en-US" altLang="ko-KR" dirty="0">
              <a:solidFill>
                <a:schemeClr val="tx2">
                  <a:lumMod val="50000"/>
                </a:schemeClr>
              </a:solidFill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A07B63-4519-67D4-9E1C-D241B9FC298D}"/>
              </a:ext>
            </a:extLst>
          </p:cNvPr>
          <p:cNvSpPr txBox="1"/>
          <p:nvPr/>
        </p:nvSpPr>
        <p:spPr>
          <a:xfrm>
            <a:off x="310149" y="1339978"/>
            <a:ext cx="205216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altLang="ko-KR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[ID] Case ID </a:t>
            </a:r>
            <a:r>
              <a:rPr lang="ko-KR" altLang="en-US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표준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C32F48BA-C495-9A9B-C63F-E8A7AEFC92D4}"/>
              </a:ext>
            </a:extLst>
          </p:cNvPr>
          <p:cNvSpPr/>
          <p:nvPr/>
        </p:nvSpPr>
        <p:spPr>
          <a:xfrm>
            <a:off x="3050989" y="1961982"/>
            <a:ext cx="5779400" cy="1115349"/>
          </a:xfrm>
          <a:prstGeom prst="roundRect">
            <a:avLst>
              <a:gd name="adj" fmla="val 11062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6B78A99E-9E40-784B-95AB-E8BEFD430BA4}"/>
              </a:ext>
            </a:extLst>
          </p:cNvPr>
          <p:cNvSpPr/>
          <p:nvPr/>
        </p:nvSpPr>
        <p:spPr>
          <a:xfrm>
            <a:off x="208326" y="1961983"/>
            <a:ext cx="2788897" cy="1115349"/>
          </a:xfrm>
          <a:prstGeom prst="roundRect">
            <a:avLst>
              <a:gd name="adj" fmla="val 11062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905CC26-D0D7-0E58-1BF6-6BB32A2663D4}"/>
              </a:ext>
            </a:extLst>
          </p:cNvPr>
          <p:cNvSpPr txBox="1"/>
          <p:nvPr/>
        </p:nvSpPr>
        <p:spPr>
          <a:xfrm>
            <a:off x="3161347" y="2057991"/>
            <a:ext cx="5119836" cy="92333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[A]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보고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: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지금 상태 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/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근거 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/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요청사항 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+ 10·4·12 </a:t>
            </a:r>
          </a:p>
          <a:p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[C]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상황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: PA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조치 예정 사유 및 시간 공유 </a:t>
            </a:r>
          </a:p>
          <a:p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[D]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완료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: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결과 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/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현재 상태 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/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추후 계획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(F/U) 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57D6DD-C910-2054-C4EB-9D7E67088B09}"/>
              </a:ext>
            </a:extLst>
          </p:cNvPr>
          <p:cNvSpPr txBox="1"/>
          <p:nvPr/>
        </p:nvSpPr>
        <p:spPr>
          <a:xfrm>
            <a:off x="310149" y="2334991"/>
            <a:ext cx="245881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altLang="ko-KR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ACD </a:t>
            </a:r>
            <a:r>
              <a:rPr lang="ko-KR" altLang="en-US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루프 </a:t>
            </a:r>
            <a:r>
              <a:rPr lang="en-US" altLang="ko-KR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(</a:t>
            </a:r>
            <a:r>
              <a:rPr lang="ko-KR" altLang="en-US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소통 공식</a:t>
            </a:r>
            <a:r>
              <a:rPr lang="en-US" altLang="ko-KR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)</a:t>
            </a:r>
            <a:endParaRPr lang="ko-KR" altLang="en-US" b="1" dirty="0">
              <a:solidFill>
                <a:srgbClr val="000000"/>
              </a:solidFill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82DFC436-1063-4EC0-8D98-BDC4799C2F86}"/>
              </a:ext>
            </a:extLst>
          </p:cNvPr>
          <p:cNvSpPr/>
          <p:nvPr/>
        </p:nvSpPr>
        <p:spPr>
          <a:xfrm>
            <a:off x="3050989" y="3188946"/>
            <a:ext cx="5779400" cy="1115349"/>
          </a:xfrm>
          <a:prstGeom prst="roundRect">
            <a:avLst>
              <a:gd name="adj" fmla="val 11062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D3E48C3-10D6-461B-92DA-40EFC6B4C91E}"/>
              </a:ext>
            </a:extLst>
          </p:cNvPr>
          <p:cNvSpPr/>
          <p:nvPr/>
        </p:nvSpPr>
        <p:spPr>
          <a:xfrm>
            <a:off x="208326" y="3188946"/>
            <a:ext cx="2788897" cy="1115349"/>
          </a:xfrm>
          <a:prstGeom prst="roundRect">
            <a:avLst>
              <a:gd name="adj" fmla="val 11062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7C117C8-2C5F-42B0-8015-D651D05B1BD8}"/>
              </a:ext>
            </a:extLst>
          </p:cNvPr>
          <p:cNvSpPr txBox="1"/>
          <p:nvPr/>
        </p:nvSpPr>
        <p:spPr>
          <a:xfrm>
            <a:off x="310149" y="3561954"/>
            <a:ext cx="236154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트리아제 </a:t>
            </a:r>
            <a:r>
              <a:rPr lang="en-US" altLang="ko-KR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(</a:t>
            </a:r>
            <a:r>
              <a:rPr lang="ko-KR" altLang="en-US" b="1" dirty="0" err="1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골든타임</a:t>
            </a:r>
            <a:r>
              <a:rPr lang="en-US" altLang="ko-KR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)</a:t>
            </a:r>
            <a:endParaRPr lang="ko-KR" altLang="en-US" b="1" dirty="0">
              <a:solidFill>
                <a:srgbClr val="000000"/>
              </a:solidFill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F6CD54F-7897-4496-8903-172CACA01316}"/>
              </a:ext>
            </a:extLst>
          </p:cNvPr>
          <p:cNvSpPr/>
          <p:nvPr/>
        </p:nvSpPr>
        <p:spPr>
          <a:xfrm>
            <a:off x="3161346" y="3284955"/>
            <a:ext cx="5468122" cy="923330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r>
              <a:rPr lang="ko-KR" altLang="en-US" dirty="0">
                <a:ea typeface="KoPub돋움체 Light" panose="02020603020101020101"/>
              </a:rPr>
              <a:t>빨강 10분(응급): 환자 안전 직결 (유선 병행)</a:t>
            </a:r>
          </a:p>
          <a:p>
            <a:r>
              <a:rPr lang="ko-KR" altLang="en-US" dirty="0">
                <a:ea typeface="KoPub돋움체 Light" panose="02020603020101020101"/>
              </a:rPr>
              <a:t>초록 4시간(우선): 당일 내 우선 처리 필요</a:t>
            </a:r>
          </a:p>
          <a:p>
            <a:r>
              <a:rPr lang="ko-KR" altLang="en-US" dirty="0">
                <a:ea typeface="KoPub돋움체 Light" panose="02020603020101020101"/>
              </a:rPr>
              <a:t>노랑 12시간(루틴): 근무 흐름 내 안정적 처리</a:t>
            </a:r>
          </a:p>
        </p:txBody>
      </p:sp>
    </p:spTree>
    <p:extLst>
      <p:ext uri="{BB962C8B-B14F-4D97-AF65-F5344CB8AC3E}">
        <p14:creationId xmlns:p14="http://schemas.microsoft.com/office/powerpoint/2010/main" val="20332451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44891-DB0B-9038-5B25-629A4C227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EABBF7A-4383-D72B-A05E-B56FEE94992E}"/>
              </a:ext>
            </a:extLst>
          </p:cNvPr>
          <p:cNvSpPr txBox="1"/>
          <p:nvPr/>
        </p:nvSpPr>
        <p:spPr>
          <a:xfrm>
            <a:off x="101992" y="184592"/>
            <a:ext cx="3494648" cy="309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11" spc="-31" dirty="0">
                <a:latin typeface="KoPub돋움체 Light" panose="02020603020101020101" pitchFamily="18" charset="-127"/>
                <a:ea typeface="KoPub돋움체 Light" panose="02020603020101020101"/>
              </a:rPr>
              <a:t>순천향대학교 천안병원 </a:t>
            </a:r>
            <a:r>
              <a:rPr lang="en-US" altLang="ko-KR" sz="1411" spc="-31" dirty="0">
                <a:latin typeface="KoPub돋움체 Light" panose="02020603020101020101" pitchFamily="18" charset="-127"/>
                <a:ea typeface="KoPub돋움체 Light" panose="02020603020101020101"/>
              </a:rPr>
              <a:t>| </a:t>
            </a:r>
            <a:r>
              <a:rPr lang="ko-KR" altLang="en-US" sz="1411" spc="-31" dirty="0">
                <a:latin typeface="KoPub돋움체 Light" panose="02020603020101020101" pitchFamily="18" charset="-127"/>
                <a:ea typeface="KoPub돋움체 Light" panose="02020603020101020101"/>
              </a:rPr>
              <a:t>진료지원간호팀 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CE2932C1-2A00-0758-2BBA-833E022443FD}"/>
              </a:ext>
            </a:extLst>
          </p:cNvPr>
          <p:cNvSpPr/>
          <p:nvPr/>
        </p:nvSpPr>
        <p:spPr>
          <a:xfrm>
            <a:off x="3050989" y="1198923"/>
            <a:ext cx="5779400" cy="651443"/>
          </a:xfrm>
          <a:prstGeom prst="roundRect">
            <a:avLst>
              <a:gd name="adj" fmla="val 11062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1548A1BD-8723-9A88-C7D3-66F55BF5E173}"/>
              </a:ext>
            </a:extLst>
          </p:cNvPr>
          <p:cNvSpPr/>
          <p:nvPr/>
        </p:nvSpPr>
        <p:spPr>
          <a:xfrm>
            <a:off x="208326" y="1198923"/>
            <a:ext cx="2788897" cy="651443"/>
          </a:xfrm>
          <a:prstGeom prst="roundRect">
            <a:avLst>
              <a:gd name="adj" fmla="val 11062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0F75E6-5F6B-E96E-73A6-26A5843998CD}"/>
              </a:ext>
            </a:extLst>
          </p:cNvPr>
          <p:cNvSpPr txBox="1"/>
          <p:nvPr/>
        </p:nvSpPr>
        <p:spPr>
          <a:xfrm>
            <a:off x="3161347" y="1339978"/>
            <a:ext cx="5119836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Case ID :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병실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-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등록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-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성함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-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교수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-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월일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-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시간</a:t>
            </a:r>
            <a:endParaRPr lang="en-US" altLang="ko-KR" dirty="0">
              <a:solidFill>
                <a:schemeClr val="tx2">
                  <a:lumMod val="50000"/>
                </a:schemeClr>
              </a:solidFill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A07B63-4519-67D4-9E1C-D241B9FC298D}"/>
              </a:ext>
            </a:extLst>
          </p:cNvPr>
          <p:cNvSpPr txBox="1"/>
          <p:nvPr/>
        </p:nvSpPr>
        <p:spPr>
          <a:xfrm>
            <a:off x="310149" y="1339978"/>
            <a:ext cx="205216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altLang="ko-KR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[ID] Case ID </a:t>
            </a:r>
            <a:r>
              <a:rPr lang="ko-KR" altLang="en-US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표준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C32F48BA-C495-9A9B-C63F-E8A7AEFC92D4}"/>
              </a:ext>
            </a:extLst>
          </p:cNvPr>
          <p:cNvSpPr/>
          <p:nvPr/>
        </p:nvSpPr>
        <p:spPr>
          <a:xfrm>
            <a:off x="3050989" y="1961982"/>
            <a:ext cx="5779400" cy="1115349"/>
          </a:xfrm>
          <a:prstGeom prst="roundRect">
            <a:avLst>
              <a:gd name="adj" fmla="val 11062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6B78A99E-9E40-784B-95AB-E8BEFD430BA4}"/>
              </a:ext>
            </a:extLst>
          </p:cNvPr>
          <p:cNvSpPr/>
          <p:nvPr/>
        </p:nvSpPr>
        <p:spPr>
          <a:xfrm>
            <a:off x="208326" y="1961983"/>
            <a:ext cx="2788897" cy="1115349"/>
          </a:xfrm>
          <a:prstGeom prst="roundRect">
            <a:avLst>
              <a:gd name="adj" fmla="val 11062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905CC26-D0D7-0E58-1BF6-6BB32A2663D4}"/>
              </a:ext>
            </a:extLst>
          </p:cNvPr>
          <p:cNvSpPr txBox="1"/>
          <p:nvPr/>
        </p:nvSpPr>
        <p:spPr>
          <a:xfrm>
            <a:off x="3161347" y="2057991"/>
            <a:ext cx="5119836" cy="92333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[A]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보고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: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지금 상태 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/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근거 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/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요청사항 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+ 10·4·12 </a:t>
            </a:r>
          </a:p>
          <a:p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[C]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상황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: PA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조치 예정 사유 및 시간 공유 </a:t>
            </a:r>
          </a:p>
          <a:p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[D]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완료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: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결과 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/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현재 상태 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/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추후 계획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(F/U) 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57D6DD-C910-2054-C4EB-9D7E67088B09}"/>
              </a:ext>
            </a:extLst>
          </p:cNvPr>
          <p:cNvSpPr txBox="1"/>
          <p:nvPr/>
        </p:nvSpPr>
        <p:spPr>
          <a:xfrm>
            <a:off x="310149" y="2334991"/>
            <a:ext cx="245881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altLang="ko-KR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ACD </a:t>
            </a:r>
            <a:r>
              <a:rPr lang="ko-KR" altLang="en-US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루프 </a:t>
            </a:r>
            <a:r>
              <a:rPr lang="en-US" altLang="ko-KR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(</a:t>
            </a:r>
            <a:r>
              <a:rPr lang="ko-KR" altLang="en-US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소통 공식</a:t>
            </a:r>
            <a:r>
              <a:rPr lang="en-US" altLang="ko-KR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)</a:t>
            </a:r>
            <a:endParaRPr lang="ko-KR" altLang="en-US" b="1" dirty="0">
              <a:solidFill>
                <a:srgbClr val="000000"/>
              </a:solidFill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82DFC436-1063-4EC0-8D98-BDC4799C2F86}"/>
              </a:ext>
            </a:extLst>
          </p:cNvPr>
          <p:cNvSpPr/>
          <p:nvPr/>
        </p:nvSpPr>
        <p:spPr>
          <a:xfrm>
            <a:off x="3050989" y="3188946"/>
            <a:ext cx="5779400" cy="1115349"/>
          </a:xfrm>
          <a:prstGeom prst="roundRect">
            <a:avLst>
              <a:gd name="adj" fmla="val 11062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D3E48C3-10D6-461B-92DA-40EFC6B4C91E}"/>
              </a:ext>
            </a:extLst>
          </p:cNvPr>
          <p:cNvSpPr/>
          <p:nvPr/>
        </p:nvSpPr>
        <p:spPr>
          <a:xfrm>
            <a:off x="208326" y="3188946"/>
            <a:ext cx="2788897" cy="1115349"/>
          </a:xfrm>
          <a:prstGeom prst="roundRect">
            <a:avLst>
              <a:gd name="adj" fmla="val 11062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7C117C8-2C5F-42B0-8015-D651D05B1BD8}"/>
              </a:ext>
            </a:extLst>
          </p:cNvPr>
          <p:cNvSpPr txBox="1"/>
          <p:nvPr/>
        </p:nvSpPr>
        <p:spPr>
          <a:xfrm>
            <a:off x="310149" y="3561954"/>
            <a:ext cx="236154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트리아제 </a:t>
            </a:r>
            <a:r>
              <a:rPr lang="en-US" altLang="ko-KR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(</a:t>
            </a:r>
            <a:r>
              <a:rPr lang="ko-KR" altLang="en-US" b="1" dirty="0" err="1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골든타임</a:t>
            </a:r>
            <a:r>
              <a:rPr lang="en-US" altLang="ko-KR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)</a:t>
            </a:r>
            <a:endParaRPr lang="ko-KR" altLang="en-US" b="1" dirty="0">
              <a:solidFill>
                <a:srgbClr val="000000"/>
              </a:solidFill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F6CD54F-7897-4496-8903-172CACA01316}"/>
              </a:ext>
            </a:extLst>
          </p:cNvPr>
          <p:cNvSpPr/>
          <p:nvPr/>
        </p:nvSpPr>
        <p:spPr>
          <a:xfrm>
            <a:off x="3161346" y="3284955"/>
            <a:ext cx="5468122" cy="923330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r>
              <a:rPr lang="ko-KR" altLang="en-US" dirty="0">
                <a:ea typeface="KoPub돋움체 Light" panose="02020603020101020101"/>
              </a:rPr>
              <a:t>빨강 10분(응급): 환자 안전 직결 (유선 병행)</a:t>
            </a:r>
          </a:p>
          <a:p>
            <a:r>
              <a:rPr lang="ko-KR" altLang="en-US" dirty="0">
                <a:ea typeface="KoPub돋움체 Light" panose="02020603020101020101"/>
              </a:rPr>
              <a:t>초록 4시간(우선): 당일 내 우선 처리 필요</a:t>
            </a:r>
          </a:p>
          <a:p>
            <a:r>
              <a:rPr lang="ko-KR" altLang="en-US" dirty="0">
                <a:ea typeface="KoPub돋움체 Light" panose="02020603020101020101"/>
              </a:rPr>
              <a:t>노랑 12시간(루틴): 근무 흐름 내 안정적 처리</a:t>
            </a:r>
          </a:p>
        </p:txBody>
      </p:sp>
    </p:spTree>
    <p:extLst>
      <p:ext uri="{BB962C8B-B14F-4D97-AF65-F5344CB8AC3E}">
        <p14:creationId xmlns:p14="http://schemas.microsoft.com/office/powerpoint/2010/main" val="436192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44891-DB0B-9038-5B25-629A4C227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EABBF7A-4383-D72B-A05E-B56FEE94992E}"/>
              </a:ext>
            </a:extLst>
          </p:cNvPr>
          <p:cNvSpPr txBox="1"/>
          <p:nvPr/>
        </p:nvSpPr>
        <p:spPr>
          <a:xfrm>
            <a:off x="101992" y="184592"/>
            <a:ext cx="3494648" cy="309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11" spc="-31" dirty="0">
                <a:latin typeface="KoPub돋움체 Light" panose="02020603020101020101" pitchFamily="18" charset="-127"/>
                <a:ea typeface="KoPub돋움체 Light" panose="02020603020101020101"/>
              </a:rPr>
              <a:t>순천향대학교 천안병원 </a:t>
            </a:r>
            <a:r>
              <a:rPr lang="en-US" altLang="ko-KR" sz="1411" spc="-31" dirty="0">
                <a:latin typeface="KoPub돋움체 Light" panose="02020603020101020101" pitchFamily="18" charset="-127"/>
                <a:ea typeface="KoPub돋움체 Light" panose="02020603020101020101"/>
              </a:rPr>
              <a:t>| </a:t>
            </a:r>
            <a:r>
              <a:rPr lang="ko-KR" altLang="en-US" sz="1411" spc="-31" dirty="0">
                <a:latin typeface="KoPub돋움체 Light" panose="02020603020101020101" pitchFamily="18" charset="-127"/>
                <a:ea typeface="KoPub돋움체 Light" panose="02020603020101020101"/>
              </a:rPr>
              <a:t>진료지원간호팀 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CE2932C1-2A00-0758-2BBA-833E022443FD}"/>
              </a:ext>
            </a:extLst>
          </p:cNvPr>
          <p:cNvSpPr/>
          <p:nvPr/>
        </p:nvSpPr>
        <p:spPr>
          <a:xfrm>
            <a:off x="3050989" y="1198923"/>
            <a:ext cx="5779400" cy="651443"/>
          </a:xfrm>
          <a:prstGeom prst="roundRect">
            <a:avLst>
              <a:gd name="adj" fmla="val 11062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1548A1BD-8723-9A88-C7D3-66F55BF5E173}"/>
              </a:ext>
            </a:extLst>
          </p:cNvPr>
          <p:cNvSpPr/>
          <p:nvPr/>
        </p:nvSpPr>
        <p:spPr>
          <a:xfrm>
            <a:off x="208326" y="1198923"/>
            <a:ext cx="2788897" cy="651443"/>
          </a:xfrm>
          <a:prstGeom prst="roundRect">
            <a:avLst>
              <a:gd name="adj" fmla="val 11062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0F75E6-5F6B-E96E-73A6-26A5843998CD}"/>
              </a:ext>
            </a:extLst>
          </p:cNvPr>
          <p:cNvSpPr txBox="1"/>
          <p:nvPr/>
        </p:nvSpPr>
        <p:spPr>
          <a:xfrm>
            <a:off x="3161347" y="1339978"/>
            <a:ext cx="5119836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Case ID :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병실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-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등록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-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성함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-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교수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-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월일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-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시간</a:t>
            </a:r>
            <a:endParaRPr lang="en-US" altLang="ko-KR" dirty="0">
              <a:solidFill>
                <a:schemeClr val="tx2">
                  <a:lumMod val="50000"/>
                </a:schemeClr>
              </a:solidFill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A07B63-4519-67D4-9E1C-D241B9FC298D}"/>
              </a:ext>
            </a:extLst>
          </p:cNvPr>
          <p:cNvSpPr txBox="1"/>
          <p:nvPr/>
        </p:nvSpPr>
        <p:spPr>
          <a:xfrm>
            <a:off x="310149" y="1339978"/>
            <a:ext cx="205216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altLang="ko-KR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[ID] Case ID </a:t>
            </a:r>
            <a:r>
              <a:rPr lang="ko-KR" altLang="en-US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표준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C32F48BA-C495-9A9B-C63F-E8A7AEFC92D4}"/>
              </a:ext>
            </a:extLst>
          </p:cNvPr>
          <p:cNvSpPr/>
          <p:nvPr/>
        </p:nvSpPr>
        <p:spPr>
          <a:xfrm>
            <a:off x="3050989" y="1961982"/>
            <a:ext cx="5779400" cy="1115349"/>
          </a:xfrm>
          <a:prstGeom prst="roundRect">
            <a:avLst>
              <a:gd name="adj" fmla="val 11062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6B78A99E-9E40-784B-95AB-E8BEFD430BA4}"/>
              </a:ext>
            </a:extLst>
          </p:cNvPr>
          <p:cNvSpPr/>
          <p:nvPr/>
        </p:nvSpPr>
        <p:spPr>
          <a:xfrm>
            <a:off x="208326" y="1961983"/>
            <a:ext cx="2788897" cy="1115349"/>
          </a:xfrm>
          <a:prstGeom prst="roundRect">
            <a:avLst>
              <a:gd name="adj" fmla="val 11062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905CC26-D0D7-0E58-1BF6-6BB32A2663D4}"/>
              </a:ext>
            </a:extLst>
          </p:cNvPr>
          <p:cNvSpPr txBox="1"/>
          <p:nvPr/>
        </p:nvSpPr>
        <p:spPr>
          <a:xfrm>
            <a:off x="3161347" y="2057991"/>
            <a:ext cx="5119836" cy="92333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[A]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보고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: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지금 상태 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/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근거 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/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요청사항 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+ 10·4·12 </a:t>
            </a:r>
          </a:p>
          <a:p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[C]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상황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: PA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조치 예정 사유 및 시간 공유 </a:t>
            </a:r>
          </a:p>
          <a:p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[D]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완료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: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결과 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/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현재 상태 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/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추후 계획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(F/U) 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57D6DD-C910-2054-C4EB-9D7E67088B09}"/>
              </a:ext>
            </a:extLst>
          </p:cNvPr>
          <p:cNvSpPr txBox="1"/>
          <p:nvPr/>
        </p:nvSpPr>
        <p:spPr>
          <a:xfrm>
            <a:off x="310149" y="2334991"/>
            <a:ext cx="245881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altLang="ko-KR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ACD </a:t>
            </a:r>
            <a:r>
              <a:rPr lang="ko-KR" altLang="en-US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루프 </a:t>
            </a:r>
            <a:r>
              <a:rPr lang="en-US" altLang="ko-KR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(</a:t>
            </a:r>
            <a:r>
              <a:rPr lang="ko-KR" altLang="en-US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소통 공식</a:t>
            </a:r>
            <a:r>
              <a:rPr lang="en-US" altLang="ko-KR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)</a:t>
            </a:r>
            <a:endParaRPr lang="ko-KR" altLang="en-US" b="1" dirty="0">
              <a:solidFill>
                <a:srgbClr val="000000"/>
              </a:solidFill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82DFC436-1063-4EC0-8D98-BDC4799C2F86}"/>
              </a:ext>
            </a:extLst>
          </p:cNvPr>
          <p:cNvSpPr/>
          <p:nvPr/>
        </p:nvSpPr>
        <p:spPr>
          <a:xfrm>
            <a:off x="3050989" y="3188946"/>
            <a:ext cx="5779400" cy="1115349"/>
          </a:xfrm>
          <a:prstGeom prst="roundRect">
            <a:avLst>
              <a:gd name="adj" fmla="val 11062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D3E48C3-10D6-461B-92DA-40EFC6B4C91E}"/>
              </a:ext>
            </a:extLst>
          </p:cNvPr>
          <p:cNvSpPr/>
          <p:nvPr/>
        </p:nvSpPr>
        <p:spPr>
          <a:xfrm>
            <a:off x="208326" y="3188946"/>
            <a:ext cx="2788897" cy="1115349"/>
          </a:xfrm>
          <a:prstGeom prst="roundRect">
            <a:avLst>
              <a:gd name="adj" fmla="val 11062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7C117C8-2C5F-42B0-8015-D651D05B1BD8}"/>
              </a:ext>
            </a:extLst>
          </p:cNvPr>
          <p:cNvSpPr txBox="1"/>
          <p:nvPr/>
        </p:nvSpPr>
        <p:spPr>
          <a:xfrm>
            <a:off x="310149" y="3561954"/>
            <a:ext cx="236154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트리아제 </a:t>
            </a:r>
            <a:r>
              <a:rPr lang="en-US" altLang="ko-KR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(</a:t>
            </a:r>
            <a:r>
              <a:rPr lang="ko-KR" altLang="en-US" b="1" dirty="0" err="1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골든타임</a:t>
            </a:r>
            <a:r>
              <a:rPr lang="en-US" altLang="ko-KR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)</a:t>
            </a:r>
            <a:endParaRPr lang="ko-KR" altLang="en-US" b="1" dirty="0">
              <a:solidFill>
                <a:srgbClr val="000000"/>
              </a:solidFill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F6CD54F-7897-4496-8903-172CACA01316}"/>
              </a:ext>
            </a:extLst>
          </p:cNvPr>
          <p:cNvSpPr/>
          <p:nvPr/>
        </p:nvSpPr>
        <p:spPr>
          <a:xfrm>
            <a:off x="3161346" y="3284955"/>
            <a:ext cx="5468122" cy="923330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r>
              <a:rPr lang="ko-KR" altLang="en-US" dirty="0">
                <a:ea typeface="KoPub돋움체 Light" panose="02020603020101020101"/>
              </a:rPr>
              <a:t>빨강 10분(응급): 환자 안전 직결 (유선 병행)</a:t>
            </a:r>
          </a:p>
          <a:p>
            <a:r>
              <a:rPr lang="ko-KR" altLang="en-US" dirty="0">
                <a:ea typeface="KoPub돋움체 Light" panose="02020603020101020101"/>
              </a:rPr>
              <a:t>초록 4시간(우선): 당일 내 우선 처리 필요</a:t>
            </a:r>
          </a:p>
          <a:p>
            <a:r>
              <a:rPr lang="ko-KR" altLang="en-US" dirty="0">
                <a:ea typeface="KoPub돋움체 Light" panose="02020603020101020101"/>
              </a:rPr>
              <a:t>노랑 12시간(루틴): 근무 흐름 내 안정적 처리</a:t>
            </a:r>
          </a:p>
        </p:txBody>
      </p:sp>
    </p:spTree>
    <p:extLst>
      <p:ext uri="{BB962C8B-B14F-4D97-AF65-F5344CB8AC3E}">
        <p14:creationId xmlns:p14="http://schemas.microsoft.com/office/powerpoint/2010/main" val="20583233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44891-DB0B-9038-5B25-629A4C227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EABBF7A-4383-D72B-A05E-B56FEE94992E}"/>
              </a:ext>
            </a:extLst>
          </p:cNvPr>
          <p:cNvSpPr txBox="1"/>
          <p:nvPr/>
        </p:nvSpPr>
        <p:spPr>
          <a:xfrm>
            <a:off x="101992" y="184592"/>
            <a:ext cx="3494648" cy="309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11" spc="-31" dirty="0">
                <a:latin typeface="KoPub돋움체 Light" panose="02020603020101020101" pitchFamily="18" charset="-127"/>
                <a:ea typeface="KoPub돋움체 Light" panose="02020603020101020101"/>
              </a:rPr>
              <a:t>순천향대학교 천안병원 </a:t>
            </a:r>
            <a:r>
              <a:rPr lang="en-US" altLang="ko-KR" sz="1411" spc="-31" dirty="0">
                <a:latin typeface="KoPub돋움체 Light" panose="02020603020101020101" pitchFamily="18" charset="-127"/>
                <a:ea typeface="KoPub돋움체 Light" panose="02020603020101020101"/>
              </a:rPr>
              <a:t>| </a:t>
            </a:r>
            <a:r>
              <a:rPr lang="ko-KR" altLang="en-US" sz="1411" spc="-31" dirty="0">
                <a:latin typeface="KoPub돋움체 Light" panose="02020603020101020101" pitchFamily="18" charset="-127"/>
                <a:ea typeface="KoPub돋움체 Light" panose="02020603020101020101"/>
              </a:rPr>
              <a:t>진료지원간호팀 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CE2932C1-2A00-0758-2BBA-833E022443FD}"/>
              </a:ext>
            </a:extLst>
          </p:cNvPr>
          <p:cNvSpPr/>
          <p:nvPr/>
        </p:nvSpPr>
        <p:spPr>
          <a:xfrm>
            <a:off x="3050989" y="1198923"/>
            <a:ext cx="5779400" cy="651443"/>
          </a:xfrm>
          <a:prstGeom prst="roundRect">
            <a:avLst>
              <a:gd name="adj" fmla="val 11062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1548A1BD-8723-9A88-C7D3-66F55BF5E173}"/>
              </a:ext>
            </a:extLst>
          </p:cNvPr>
          <p:cNvSpPr/>
          <p:nvPr/>
        </p:nvSpPr>
        <p:spPr>
          <a:xfrm>
            <a:off x="208326" y="1198923"/>
            <a:ext cx="2788897" cy="651443"/>
          </a:xfrm>
          <a:prstGeom prst="roundRect">
            <a:avLst>
              <a:gd name="adj" fmla="val 11062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0F75E6-5F6B-E96E-73A6-26A5843998CD}"/>
              </a:ext>
            </a:extLst>
          </p:cNvPr>
          <p:cNvSpPr txBox="1"/>
          <p:nvPr/>
        </p:nvSpPr>
        <p:spPr>
          <a:xfrm>
            <a:off x="3161347" y="1339978"/>
            <a:ext cx="5119836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Case ID :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병실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-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등록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-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성함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-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교수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-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월일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-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시간</a:t>
            </a:r>
            <a:endParaRPr lang="en-US" altLang="ko-KR" dirty="0">
              <a:solidFill>
                <a:schemeClr val="tx2">
                  <a:lumMod val="50000"/>
                </a:schemeClr>
              </a:solidFill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A07B63-4519-67D4-9E1C-D241B9FC298D}"/>
              </a:ext>
            </a:extLst>
          </p:cNvPr>
          <p:cNvSpPr txBox="1"/>
          <p:nvPr/>
        </p:nvSpPr>
        <p:spPr>
          <a:xfrm>
            <a:off x="310149" y="1339978"/>
            <a:ext cx="205216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altLang="ko-KR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[ID] Case ID </a:t>
            </a:r>
            <a:r>
              <a:rPr lang="ko-KR" altLang="en-US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표준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C32F48BA-C495-9A9B-C63F-E8A7AEFC92D4}"/>
              </a:ext>
            </a:extLst>
          </p:cNvPr>
          <p:cNvSpPr/>
          <p:nvPr/>
        </p:nvSpPr>
        <p:spPr>
          <a:xfrm>
            <a:off x="3050989" y="1961982"/>
            <a:ext cx="5779400" cy="1115349"/>
          </a:xfrm>
          <a:prstGeom prst="roundRect">
            <a:avLst>
              <a:gd name="adj" fmla="val 11062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6B78A99E-9E40-784B-95AB-E8BEFD430BA4}"/>
              </a:ext>
            </a:extLst>
          </p:cNvPr>
          <p:cNvSpPr/>
          <p:nvPr/>
        </p:nvSpPr>
        <p:spPr>
          <a:xfrm>
            <a:off x="208326" y="1961983"/>
            <a:ext cx="2788897" cy="1115349"/>
          </a:xfrm>
          <a:prstGeom prst="roundRect">
            <a:avLst>
              <a:gd name="adj" fmla="val 11062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905CC26-D0D7-0E58-1BF6-6BB32A2663D4}"/>
              </a:ext>
            </a:extLst>
          </p:cNvPr>
          <p:cNvSpPr txBox="1"/>
          <p:nvPr/>
        </p:nvSpPr>
        <p:spPr>
          <a:xfrm>
            <a:off x="3161347" y="2057991"/>
            <a:ext cx="5119836" cy="92333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[A]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보고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: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지금 상태 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/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근거 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/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요청사항 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+ 10·4·12 </a:t>
            </a:r>
          </a:p>
          <a:p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[C]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상황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: PA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조치 예정 사유 및 시간 공유 </a:t>
            </a:r>
          </a:p>
          <a:p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[D]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완료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: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결과 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/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현재 상태 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/ </a:t>
            </a:r>
            <a:r>
              <a:rPr lang="ko-KR" altLang="en-US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추후 계획</a:t>
            </a:r>
            <a:r>
              <a:rPr lang="en-US" altLang="ko-KR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(F/U) 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57D6DD-C910-2054-C4EB-9D7E67088B09}"/>
              </a:ext>
            </a:extLst>
          </p:cNvPr>
          <p:cNvSpPr txBox="1"/>
          <p:nvPr/>
        </p:nvSpPr>
        <p:spPr>
          <a:xfrm>
            <a:off x="310149" y="2334991"/>
            <a:ext cx="245881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altLang="ko-KR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ACD </a:t>
            </a:r>
            <a:r>
              <a:rPr lang="ko-KR" altLang="en-US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루프 </a:t>
            </a:r>
            <a:r>
              <a:rPr lang="en-US" altLang="ko-KR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(</a:t>
            </a:r>
            <a:r>
              <a:rPr lang="ko-KR" altLang="en-US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소통 공식</a:t>
            </a:r>
            <a:r>
              <a:rPr lang="en-US" altLang="ko-KR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)</a:t>
            </a:r>
            <a:endParaRPr lang="ko-KR" altLang="en-US" b="1" dirty="0">
              <a:solidFill>
                <a:srgbClr val="000000"/>
              </a:solidFill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82DFC436-1063-4EC0-8D98-BDC4799C2F86}"/>
              </a:ext>
            </a:extLst>
          </p:cNvPr>
          <p:cNvSpPr/>
          <p:nvPr/>
        </p:nvSpPr>
        <p:spPr>
          <a:xfrm>
            <a:off x="3050989" y="3188946"/>
            <a:ext cx="5779400" cy="1115349"/>
          </a:xfrm>
          <a:prstGeom prst="roundRect">
            <a:avLst>
              <a:gd name="adj" fmla="val 11062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D3E48C3-10D6-461B-92DA-40EFC6B4C91E}"/>
              </a:ext>
            </a:extLst>
          </p:cNvPr>
          <p:cNvSpPr/>
          <p:nvPr/>
        </p:nvSpPr>
        <p:spPr>
          <a:xfrm>
            <a:off x="208326" y="3188946"/>
            <a:ext cx="2788897" cy="1115349"/>
          </a:xfrm>
          <a:prstGeom prst="roundRect">
            <a:avLst>
              <a:gd name="adj" fmla="val 11062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5080"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7C117C8-2C5F-42B0-8015-D651D05B1BD8}"/>
              </a:ext>
            </a:extLst>
          </p:cNvPr>
          <p:cNvSpPr txBox="1"/>
          <p:nvPr/>
        </p:nvSpPr>
        <p:spPr>
          <a:xfrm>
            <a:off x="310149" y="3561954"/>
            <a:ext cx="236154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트리아제 </a:t>
            </a:r>
            <a:r>
              <a:rPr lang="en-US" altLang="ko-KR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(</a:t>
            </a:r>
            <a:r>
              <a:rPr lang="ko-KR" altLang="en-US" b="1" dirty="0" err="1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골든타임</a:t>
            </a:r>
            <a:r>
              <a:rPr lang="en-US" altLang="ko-KR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Light" panose="02020603020101020101"/>
              </a:rPr>
              <a:t>)</a:t>
            </a:r>
            <a:endParaRPr lang="ko-KR" altLang="en-US" b="1" dirty="0">
              <a:solidFill>
                <a:srgbClr val="000000"/>
              </a:solidFill>
              <a:latin typeface="KoPub돋움체 Medium" panose="02020603020101020101" pitchFamily="18" charset="-127"/>
              <a:ea typeface="KoPub돋움체 Light" panose="02020603020101020101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F6CD54F-7897-4496-8903-172CACA01316}"/>
              </a:ext>
            </a:extLst>
          </p:cNvPr>
          <p:cNvSpPr/>
          <p:nvPr/>
        </p:nvSpPr>
        <p:spPr>
          <a:xfrm>
            <a:off x="3161346" y="3284955"/>
            <a:ext cx="5468122" cy="923330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r>
              <a:rPr lang="ko-KR" altLang="en-US" dirty="0">
                <a:ea typeface="KoPub돋움체 Light" panose="02020603020101020101"/>
              </a:rPr>
              <a:t>빨강 10분(응급): 환자 안전 직결 (유선 병행)</a:t>
            </a:r>
          </a:p>
          <a:p>
            <a:r>
              <a:rPr lang="ko-KR" altLang="en-US" dirty="0">
                <a:ea typeface="KoPub돋움체 Light" panose="02020603020101020101"/>
              </a:rPr>
              <a:t>초록 4시간(우선): 당일 내 우선 처리 필요</a:t>
            </a:r>
          </a:p>
          <a:p>
            <a:r>
              <a:rPr lang="ko-KR" altLang="en-US" dirty="0">
                <a:ea typeface="KoPub돋움체 Light" panose="02020603020101020101"/>
              </a:rPr>
              <a:t>노랑 12시간(루틴): 근무 흐름 내 안정적 처리</a:t>
            </a:r>
          </a:p>
        </p:txBody>
      </p:sp>
    </p:spTree>
    <p:extLst>
      <p:ext uri="{BB962C8B-B14F-4D97-AF65-F5344CB8AC3E}">
        <p14:creationId xmlns:p14="http://schemas.microsoft.com/office/powerpoint/2010/main" val="39934576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3413</TotalTime>
  <Words>666</Words>
  <Application>Microsoft Office PowerPoint</Application>
  <PresentationFormat>화면 슬라이드 쇼(16:9)</PresentationFormat>
  <Paragraphs>66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4" baseType="lpstr">
      <vt:lpstr>KoPub돋움체 Bold</vt:lpstr>
      <vt:lpstr>KoPub돋움체 Light</vt:lpstr>
      <vt:lpstr>KoPub돋움체 Medium</vt:lpstr>
      <vt:lpstr>맑은 고딕</vt:lpstr>
      <vt:lpstr>Arial</vt:lpstr>
      <vt:lpstr>Calibri</vt:lpstr>
      <vt:lpstr>Calibri Light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라희 임</dc:creator>
  <cp:lastModifiedBy>rahee</cp:lastModifiedBy>
  <cp:revision>2318</cp:revision>
  <cp:lastPrinted>2026-03-02T14:34:17Z</cp:lastPrinted>
  <dcterms:created xsi:type="dcterms:W3CDTF">2025-05-04T13:56:03Z</dcterms:created>
  <dcterms:modified xsi:type="dcterms:W3CDTF">2026-03-10T15:36:46Z</dcterms:modified>
</cp:coreProperties>
</file>