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3" r:id="rId1"/>
  </p:sldMasterIdLst>
  <p:notesMasterIdLst>
    <p:notesMasterId r:id="rId8"/>
  </p:notesMasterIdLst>
  <p:sldIdLst>
    <p:sldId id="265" r:id="rId2"/>
    <p:sldId id="266" r:id="rId3"/>
    <p:sldId id="267" r:id="rId4"/>
    <p:sldId id="268" r:id="rId5"/>
    <p:sldId id="269" r:id="rId6"/>
    <p:sldId id="270" r:id="rId7"/>
  </p:sldIdLst>
  <p:sldSz cx="3203575" cy="1800225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567" userDrawn="1">
          <p15:clr>
            <a:srgbClr val="A4A3A4"/>
          </p15:clr>
        </p15:guide>
        <p15:guide id="6" orient="horz" pos="201" userDrawn="1">
          <p15:clr>
            <a:srgbClr val="A4A3A4"/>
          </p15:clr>
        </p15:guide>
        <p15:guide id="7" orient="horz" pos="1042" userDrawn="1">
          <p15:clr>
            <a:srgbClr val="A4A3A4"/>
          </p15:clr>
        </p15:guide>
        <p15:guide id="8" pos="1009" userDrawn="1">
          <p15:clr>
            <a:srgbClr val="A4A3A4"/>
          </p15:clr>
        </p15:guide>
        <p15:guide id="9" pos="131" userDrawn="1">
          <p15:clr>
            <a:srgbClr val="A4A3A4"/>
          </p15:clr>
        </p15:guide>
        <p15:guide id="10" pos="188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E2CFF1"/>
    <a:srgbClr val="CC00FF"/>
    <a:srgbClr val="006E99"/>
    <a:srgbClr val="009BD6"/>
    <a:srgbClr val="1E5691"/>
    <a:srgbClr val="DDF6FF"/>
    <a:srgbClr val="F58400"/>
    <a:srgbClr val="FF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69" autoAdjust="0"/>
    <p:restoredTop sz="97430" autoAdjust="0"/>
  </p:normalViewPr>
  <p:slideViewPr>
    <p:cSldViewPr snapToGrid="0">
      <p:cViewPr varScale="1">
        <p:scale>
          <a:sx n="400" d="100"/>
          <a:sy n="400" d="100"/>
        </p:scale>
        <p:origin x="2946" y="1176"/>
      </p:cViewPr>
      <p:guideLst>
        <p:guide orient="horz" pos="567"/>
        <p:guide orient="horz" pos="201"/>
        <p:guide orient="horz" pos="1042"/>
        <p:guide pos="1009"/>
        <p:guide pos="131"/>
        <p:guide pos="188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8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41325" y="1241425"/>
            <a:ext cx="597535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786312"/>
            <a:ext cx="5486400" cy="3916363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47215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8" y="9447215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1pPr>
    <a:lvl2pPr marL="8372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2pPr>
    <a:lvl3pPr marL="16744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3pPr>
    <a:lvl4pPr marL="25116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4pPr>
    <a:lvl5pPr marL="33489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5pPr>
    <a:lvl6pPr marL="41861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6pPr>
    <a:lvl7pPr marL="50233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7pPr>
    <a:lvl8pPr marL="58605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8pPr>
    <a:lvl9pPr marL="669781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0447" y="294620"/>
            <a:ext cx="2402681" cy="626745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0447" y="945535"/>
            <a:ext cx="2402681" cy="434638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911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4552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577" y="448807"/>
            <a:ext cx="2763083" cy="748843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8577" y="1204734"/>
            <a:ext cx="2763083" cy="393799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4110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0246" y="479227"/>
            <a:ext cx="1361519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21810" y="479227"/>
            <a:ext cx="1361519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8339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95846"/>
            <a:ext cx="2763083" cy="347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663" y="441305"/>
            <a:ext cx="1355262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663" y="657582"/>
            <a:ext cx="1355262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21810" y="441305"/>
            <a:ext cx="1361937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21810" y="657582"/>
            <a:ext cx="1361937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853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9415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6941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120015"/>
            <a:ext cx="1033236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61937" y="259199"/>
            <a:ext cx="1621810" cy="1279327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663" y="540067"/>
            <a:ext cx="1033236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6254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663" y="120015"/>
            <a:ext cx="1033236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1937" y="259199"/>
            <a:ext cx="1621810" cy="1279327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0663" y="540067"/>
            <a:ext cx="1033236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1906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0442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92558" y="95846"/>
            <a:ext cx="690771" cy="152560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0246" y="95846"/>
            <a:ext cx="2032268" cy="15256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06799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29572" y="30483"/>
            <a:ext cx="3146404" cy="17284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59375" y="81588"/>
            <a:ext cx="359069" cy="2030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BA0C91-E2D0-A166-2BE8-3501CE9BABF8}"/>
              </a:ext>
            </a:extLst>
          </p:cNvPr>
          <p:cNvSpPr txBox="1"/>
          <p:nvPr userDrawn="1"/>
        </p:nvSpPr>
        <p:spPr>
          <a:xfrm>
            <a:off x="2074628" y="1569906"/>
            <a:ext cx="1128948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6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202070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>
          <p15:clr>
            <a:srgbClr val="FBAE40"/>
          </p15:clr>
        </p15:guide>
        <p15:guide id="2" pos="10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4965" y="17494"/>
            <a:ext cx="3118567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7613" y="29235"/>
            <a:ext cx="320831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2855230" y="1686921"/>
            <a:ext cx="263214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1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09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1"/>
            <a:ext cx="3210250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4965" y="17494"/>
            <a:ext cx="3118567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6055" y="29235"/>
            <a:ext cx="320831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2827979" y="1707219"/>
            <a:ext cx="290465" cy="1077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09" userDrawn="1">
          <p15:clr>
            <a:srgbClr val="FBAE40"/>
          </p15:clr>
        </p15:guide>
        <p15:guide id="3" orient="horz" pos="6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0246" y="95846"/>
            <a:ext cx="2763083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0246" y="479227"/>
            <a:ext cx="2763083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0246" y="1668542"/>
            <a:ext cx="720804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1184" y="1668542"/>
            <a:ext cx="1081207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62525" y="1668542"/>
            <a:ext cx="720804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1041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4" r:id="rId1"/>
    <p:sldLayoutId id="2147483885" r:id="rId2"/>
    <p:sldLayoutId id="2147483886" r:id="rId3"/>
    <p:sldLayoutId id="2147483887" r:id="rId4"/>
    <p:sldLayoutId id="2147483888" r:id="rId5"/>
    <p:sldLayoutId id="2147483889" r:id="rId6"/>
    <p:sldLayoutId id="2147483890" r:id="rId7"/>
    <p:sldLayoutId id="2147483891" r:id="rId8"/>
    <p:sldLayoutId id="2147483892" r:id="rId9"/>
    <p:sldLayoutId id="2147483893" r:id="rId10"/>
    <p:sldLayoutId id="2147483894" r:id="rId11"/>
    <p:sldLayoutId id="2147483895" r:id="rId12"/>
    <p:sldLayoutId id="2147483790" r:id="rId13"/>
    <p:sldLayoutId id="2147483789" r:id="rId14"/>
  </p:sldLayoutIdLst>
  <p:txStyles>
    <p:titleStyle>
      <a:lvl1pPr algn="l" defTabSz="240030" rtl="0" eaLnBrk="1" latinLnBrk="1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1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67" userDrawn="1">
          <p15:clr>
            <a:srgbClr val="F26B43"/>
          </p15:clr>
        </p15:guide>
        <p15:guide id="2" pos="100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E3E193-F1E8-6947-F01D-A96C1A9F6D0E}"/>
              </a:ext>
            </a:extLst>
          </p:cNvPr>
          <p:cNvSpPr txBox="1"/>
          <p:nvPr/>
        </p:nvSpPr>
        <p:spPr>
          <a:xfrm>
            <a:off x="25241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 </a:t>
            </a:r>
            <a:r>
              <a:rPr lang="en-US" altLang="ko-KR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| </a:t>
            </a:r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진료지원간호팀 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CD23336-35E2-7BBF-742C-67D82BDC7617}"/>
              </a:ext>
            </a:extLst>
          </p:cNvPr>
          <p:cNvGrpSpPr/>
          <p:nvPr/>
        </p:nvGrpSpPr>
        <p:grpSpPr>
          <a:xfrm>
            <a:off x="2050303" y="549443"/>
            <a:ext cx="854822" cy="76638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40C63F4C-30AB-6EF2-23BA-1233104A9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B242B433-4D06-F840-EA3E-7FA7766D184C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37DD2CDD-BF9D-CD6A-CC77-30C00DF7A8EA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DD20813D-7C4F-9420-E012-EB09FDC9059E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F58D7B-1E2F-7C1C-29C2-3CBAF321313E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60DDF2E-2289-473B-B5F6-77027118C993}"/>
              </a:ext>
            </a:extLst>
          </p:cNvPr>
          <p:cNvGrpSpPr/>
          <p:nvPr/>
        </p:nvGrpSpPr>
        <p:grpSpPr>
          <a:xfrm>
            <a:off x="113069" y="274768"/>
            <a:ext cx="1755833" cy="425416"/>
            <a:chOff x="614240" y="226472"/>
            <a:chExt cx="1755833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0C02A7-D766-DD14-548E-2AE7955534F4}"/>
                </a:ext>
              </a:extLst>
            </p:cNvPr>
            <p:cNvSpPr txBox="1"/>
            <p:nvPr/>
          </p:nvSpPr>
          <p:spPr>
            <a:xfrm>
              <a:off x="646605" y="226472"/>
              <a:ext cx="1681935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b="1" dirty="0" err="1">
                  <a:solidFill>
                    <a:srgbClr val="00B0F0"/>
                  </a:solidFill>
                  <a:latin typeface="Noto Sans KR Black" panose="020B0200000000000000" pitchFamily="50" charset="-127"/>
                  <a:ea typeface="Noto Sans KR Black" panose="020B0200000000000000" pitchFamily="50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bg2">
                      <a:lumMod val="1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bg2">
                    <a:lumMod val="1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5F3C248-44C4-9D7A-C464-62D68C9890DC}"/>
                </a:ext>
              </a:extLst>
            </p:cNvPr>
            <p:cNvSpPr txBox="1"/>
            <p:nvPr/>
          </p:nvSpPr>
          <p:spPr>
            <a:xfrm>
              <a:off x="622591" y="451833"/>
              <a:ext cx="1729962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 가치를 만드는 공간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, </a:t>
              </a:r>
              <a:r>
                <a:rPr lang="ko-KR" altLang="en-US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허브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B1E9046-9340-4D3D-AA23-F89851FB0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FCD9B137-9F07-4052-B76C-36D6AED25D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222659" y="276730"/>
              <a:ext cx="147414" cy="128728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B2D700B-07E0-4E28-A7D2-0F4C62846EE3}"/>
              </a:ext>
            </a:extLst>
          </p:cNvPr>
          <p:cNvGrpSpPr/>
          <p:nvPr/>
        </p:nvGrpSpPr>
        <p:grpSpPr>
          <a:xfrm>
            <a:off x="205429" y="781187"/>
            <a:ext cx="1731561" cy="784830"/>
            <a:chOff x="796295" y="778765"/>
            <a:chExt cx="1731561" cy="78483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1921C24-9018-417C-966E-E56980F41166}"/>
                </a:ext>
              </a:extLst>
            </p:cNvPr>
            <p:cNvSpPr txBox="1"/>
            <p:nvPr/>
          </p:nvSpPr>
          <p:spPr>
            <a:xfrm>
              <a:off x="1495201" y="778765"/>
              <a:ext cx="1032655" cy="7848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함께하는 즐거움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“</a:t>
              </a: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명확한 약속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한눈에 보는 실무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현장 밀착형 지원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변화의 체감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2EAB35A-296C-468C-BCA0-D585048BF4E9}"/>
                </a:ext>
              </a:extLst>
            </p:cNvPr>
            <p:cNvSpPr txBox="1"/>
            <p:nvPr/>
          </p:nvSpPr>
          <p:spPr>
            <a:xfrm>
              <a:off x="796295" y="778765"/>
              <a:ext cx="813043" cy="7848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소통의 광장</a:t>
              </a:r>
              <a:endParaRPr lang="en-US" altLang="ko-KR" sz="900" b="1" dirty="0"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업무 기준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교육자료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요청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지표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6204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B1853-D86F-AE10-543F-BAABA72B3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6A23A21-E568-0342-3A20-FA8182BCF8D6}"/>
              </a:ext>
            </a:extLst>
          </p:cNvPr>
          <p:cNvSpPr txBox="1"/>
          <p:nvPr/>
        </p:nvSpPr>
        <p:spPr>
          <a:xfrm>
            <a:off x="25241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 </a:t>
            </a:r>
            <a:r>
              <a:rPr lang="en-US" altLang="ko-KR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| </a:t>
            </a:r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진료지원간호팀 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9217828-C16C-7429-AC1A-2C8AAFD9F0BE}"/>
              </a:ext>
            </a:extLst>
          </p:cNvPr>
          <p:cNvGrpSpPr/>
          <p:nvPr/>
        </p:nvGrpSpPr>
        <p:grpSpPr>
          <a:xfrm>
            <a:off x="2050303" y="549443"/>
            <a:ext cx="854822" cy="76638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BA461494-ABB8-F5DB-BA43-AD168AB94C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F536F961-28D9-0E9B-4EA6-A7858F4C75B2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976B8771-FC7D-5649-DF68-BB076A834F2A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11289191-0401-B8EC-355E-FD5A93C57126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4A757402-69EE-78AA-363F-5A95E0E396E0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FC97A71-578A-2057-ADB8-52F77F11B4DD}"/>
              </a:ext>
            </a:extLst>
          </p:cNvPr>
          <p:cNvGrpSpPr/>
          <p:nvPr/>
        </p:nvGrpSpPr>
        <p:grpSpPr>
          <a:xfrm>
            <a:off x="113069" y="274768"/>
            <a:ext cx="1755833" cy="425416"/>
            <a:chOff x="614240" y="226472"/>
            <a:chExt cx="1755833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BE50D3-21BE-AB1A-4F05-A3BFEB8126C7}"/>
                </a:ext>
              </a:extLst>
            </p:cNvPr>
            <p:cNvSpPr txBox="1"/>
            <p:nvPr/>
          </p:nvSpPr>
          <p:spPr>
            <a:xfrm>
              <a:off x="646605" y="226472"/>
              <a:ext cx="1681935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b="1" dirty="0" err="1">
                  <a:solidFill>
                    <a:srgbClr val="00B0F0"/>
                  </a:solidFill>
                  <a:latin typeface="Noto Sans KR Black" panose="020B0200000000000000" pitchFamily="50" charset="-127"/>
                  <a:ea typeface="Noto Sans KR Black" panose="020B0200000000000000" pitchFamily="50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bg2">
                      <a:lumMod val="1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bg2">
                    <a:lumMod val="1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A824919-9EC1-560E-A7F8-0280B081097A}"/>
                </a:ext>
              </a:extLst>
            </p:cNvPr>
            <p:cNvSpPr txBox="1"/>
            <p:nvPr/>
          </p:nvSpPr>
          <p:spPr>
            <a:xfrm>
              <a:off x="622591" y="451833"/>
              <a:ext cx="1729962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 가치를 만드는 공간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, </a:t>
              </a:r>
              <a:r>
                <a:rPr lang="ko-KR" altLang="en-US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허브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068AAB0D-7BD0-E425-9368-9A2068744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10CB1D78-7715-1EE6-6680-17E5EC69E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222659" y="276730"/>
              <a:ext cx="147414" cy="128728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7F2EA6B-BAA9-8379-0FD3-123EB46A73D7}"/>
              </a:ext>
            </a:extLst>
          </p:cNvPr>
          <p:cNvGrpSpPr/>
          <p:nvPr/>
        </p:nvGrpSpPr>
        <p:grpSpPr>
          <a:xfrm>
            <a:off x="205429" y="781187"/>
            <a:ext cx="1731561" cy="784830"/>
            <a:chOff x="796295" y="778765"/>
            <a:chExt cx="1731561" cy="78483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0E844D0-1902-E7CC-6AAD-D7774E0E783E}"/>
                </a:ext>
              </a:extLst>
            </p:cNvPr>
            <p:cNvSpPr txBox="1"/>
            <p:nvPr/>
          </p:nvSpPr>
          <p:spPr>
            <a:xfrm>
              <a:off x="1495201" y="778765"/>
              <a:ext cx="1032655" cy="7848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함께하는 즐거움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“</a:t>
              </a: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명확한 약속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한눈에 보는 실무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현장 밀착형 지원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변화의 체감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914B991-3807-A5A2-B334-DDB3A749557D}"/>
                </a:ext>
              </a:extLst>
            </p:cNvPr>
            <p:cNvSpPr txBox="1"/>
            <p:nvPr/>
          </p:nvSpPr>
          <p:spPr>
            <a:xfrm>
              <a:off x="796295" y="778765"/>
              <a:ext cx="813043" cy="7848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소통의 광장</a:t>
              </a:r>
              <a:endParaRPr lang="en-US" altLang="ko-KR" sz="900" b="1" dirty="0"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업무 기준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교육자료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요청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지표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9290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C4CB3-D484-55AD-2D47-C7731F6E7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712F7A-4500-BD7B-AD47-DBD71D7E4C0F}"/>
              </a:ext>
            </a:extLst>
          </p:cNvPr>
          <p:cNvSpPr txBox="1"/>
          <p:nvPr/>
        </p:nvSpPr>
        <p:spPr>
          <a:xfrm>
            <a:off x="25241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 </a:t>
            </a:r>
            <a:r>
              <a:rPr lang="en-US" altLang="ko-KR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| </a:t>
            </a:r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진료지원간호팀 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324A43C-5A16-3C83-6CC6-731138303B15}"/>
              </a:ext>
            </a:extLst>
          </p:cNvPr>
          <p:cNvGrpSpPr/>
          <p:nvPr/>
        </p:nvGrpSpPr>
        <p:grpSpPr>
          <a:xfrm>
            <a:off x="2050303" y="549443"/>
            <a:ext cx="854822" cy="76638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01AFEF5B-0E09-5DEE-D44E-F299334AB2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6E223C1A-B58A-ADF6-4BAB-B1C335BF35E1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5BFC87D6-5AB1-D6FD-3102-1403635A1605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27EB9129-FF30-6798-5018-047599149146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427F43E1-A221-4034-D075-2A7106A33686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E9950BAF-BFB0-A528-BEAF-D107987A505F}"/>
              </a:ext>
            </a:extLst>
          </p:cNvPr>
          <p:cNvGrpSpPr/>
          <p:nvPr/>
        </p:nvGrpSpPr>
        <p:grpSpPr>
          <a:xfrm>
            <a:off x="113069" y="274768"/>
            <a:ext cx="1755833" cy="425416"/>
            <a:chOff x="614240" y="226472"/>
            <a:chExt cx="1755833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BFCD9E6-ACFA-0E1D-9750-CA2D46B36CBA}"/>
                </a:ext>
              </a:extLst>
            </p:cNvPr>
            <p:cNvSpPr txBox="1"/>
            <p:nvPr/>
          </p:nvSpPr>
          <p:spPr>
            <a:xfrm>
              <a:off x="646605" y="226472"/>
              <a:ext cx="1681935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b="1" dirty="0" err="1">
                  <a:solidFill>
                    <a:srgbClr val="00B0F0"/>
                  </a:solidFill>
                  <a:latin typeface="Noto Sans KR Black" panose="020B0200000000000000" pitchFamily="50" charset="-127"/>
                  <a:ea typeface="Noto Sans KR Black" panose="020B0200000000000000" pitchFamily="50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bg2">
                      <a:lumMod val="1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bg2">
                    <a:lumMod val="1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ADF9BD8-5CD3-2331-7586-8EEBC649B151}"/>
                </a:ext>
              </a:extLst>
            </p:cNvPr>
            <p:cNvSpPr txBox="1"/>
            <p:nvPr/>
          </p:nvSpPr>
          <p:spPr>
            <a:xfrm>
              <a:off x="622591" y="451833"/>
              <a:ext cx="1729962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 가치를 만드는 공간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, </a:t>
              </a:r>
              <a:r>
                <a:rPr lang="ko-KR" altLang="en-US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허브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FFC51E42-A20D-3601-5EC0-5A57057F68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A1B5D57C-C9A0-E9AC-AA70-B663BB2BC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222659" y="276730"/>
              <a:ext cx="147414" cy="128728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0509C176-318C-45B9-896A-51F69D5D6BD3}"/>
              </a:ext>
            </a:extLst>
          </p:cNvPr>
          <p:cNvGrpSpPr/>
          <p:nvPr/>
        </p:nvGrpSpPr>
        <p:grpSpPr>
          <a:xfrm>
            <a:off x="205429" y="781187"/>
            <a:ext cx="1731561" cy="784830"/>
            <a:chOff x="796295" y="778765"/>
            <a:chExt cx="1731561" cy="78483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13C02A4-8A38-8C34-FE4B-9A367D69BBFD}"/>
                </a:ext>
              </a:extLst>
            </p:cNvPr>
            <p:cNvSpPr txBox="1"/>
            <p:nvPr/>
          </p:nvSpPr>
          <p:spPr>
            <a:xfrm>
              <a:off x="1495201" y="778765"/>
              <a:ext cx="1032655" cy="7848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함께하는 즐거움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“</a:t>
              </a: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명확한 약속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한눈에 보는 실무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현장 밀착형 지원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변화의 체감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DE5EE10-3C8C-0C0B-5394-75A3F0DAECC2}"/>
                </a:ext>
              </a:extLst>
            </p:cNvPr>
            <p:cNvSpPr txBox="1"/>
            <p:nvPr/>
          </p:nvSpPr>
          <p:spPr>
            <a:xfrm>
              <a:off x="796295" y="778765"/>
              <a:ext cx="813043" cy="7848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소통의 광장</a:t>
              </a:r>
              <a:endParaRPr lang="en-US" altLang="ko-KR" sz="900" b="1" dirty="0"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업무 기준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교육자료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요청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지표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02695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8F81F-DD39-B704-B1CA-976885241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BE4E7CB-81CC-B3BB-D56F-145F10CF5B36}"/>
              </a:ext>
            </a:extLst>
          </p:cNvPr>
          <p:cNvSpPr txBox="1"/>
          <p:nvPr/>
        </p:nvSpPr>
        <p:spPr>
          <a:xfrm>
            <a:off x="25241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 </a:t>
            </a:r>
            <a:r>
              <a:rPr lang="en-US" altLang="ko-KR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| </a:t>
            </a:r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진료지원간호팀 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125C3CF-F798-5F75-3183-7595D9D757B2}"/>
              </a:ext>
            </a:extLst>
          </p:cNvPr>
          <p:cNvGrpSpPr/>
          <p:nvPr/>
        </p:nvGrpSpPr>
        <p:grpSpPr>
          <a:xfrm>
            <a:off x="2050303" y="549443"/>
            <a:ext cx="854822" cy="76638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E2251FC-88AB-EB43-156C-DBB20D3DB2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1FAEBB29-0292-91EF-B0B7-C809EC64DEF1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25103396-4D15-EF30-76AE-6AF474D3B446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DB50FEB4-6AF4-4E96-361F-332B2F87B0B9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538418CE-B6C8-5FEE-4001-E56E4072C3BF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D24772E5-8340-6DD7-A008-F3AC60AF9C88}"/>
              </a:ext>
            </a:extLst>
          </p:cNvPr>
          <p:cNvGrpSpPr/>
          <p:nvPr/>
        </p:nvGrpSpPr>
        <p:grpSpPr>
          <a:xfrm>
            <a:off x="113069" y="274768"/>
            <a:ext cx="1755833" cy="425416"/>
            <a:chOff x="614240" y="226472"/>
            <a:chExt cx="1755833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2BAAE5-10B5-777B-4FDD-66A8F820AD8A}"/>
                </a:ext>
              </a:extLst>
            </p:cNvPr>
            <p:cNvSpPr txBox="1"/>
            <p:nvPr/>
          </p:nvSpPr>
          <p:spPr>
            <a:xfrm>
              <a:off x="646605" y="226472"/>
              <a:ext cx="1681935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b="1" dirty="0" err="1">
                  <a:solidFill>
                    <a:srgbClr val="00B0F0"/>
                  </a:solidFill>
                  <a:latin typeface="Noto Sans KR Black" panose="020B0200000000000000" pitchFamily="50" charset="-127"/>
                  <a:ea typeface="Noto Sans KR Black" panose="020B0200000000000000" pitchFamily="50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bg2">
                      <a:lumMod val="1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bg2">
                    <a:lumMod val="1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CAD2A9C-08F1-F08F-BDCA-A8AF71174D6C}"/>
                </a:ext>
              </a:extLst>
            </p:cNvPr>
            <p:cNvSpPr txBox="1"/>
            <p:nvPr/>
          </p:nvSpPr>
          <p:spPr>
            <a:xfrm>
              <a:off x="622591" y="451833"/>
              <a:ext cx="1729962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 가치를 만드는 공간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, </a:t>
              </a:r>
              <a:r>
                <a:rPr lang="ko-KR" altLang="en-US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허브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37D3769E-34B8-9299-368C-3BC0DD861D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D2B42E41-536A-E90D-9990-EBB646D46B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222659" y="276730"/>
              <a:ext cx="147414" cy="128728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075B029C-5DD9-8C32-5D0A-C8F0E2710BC9}"/>
              </a:ext>
            </a:extLst>
          </p:cNvPr>
          <p:cNvGrpSpPr/>
          <p:nvPr/>
        </p:nvGrpSpPr>
        <p:grpSpPr>
          <a:xfrm>
            <a:off x="205429" y="781187"/>
            <a:ext cx="1731561" cy="784830"/>
            <a:chOff x="796295" y="778765"/>
            <a:chExt cx="1731561" cy="78483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E24F3CF-5916-6FFE-7F3F-AF32043D6C07}"/>
                </a:ext>
              </a:extLst>
            </p:cNvPr>
            <p:cNvSpPr txBox="1"/>
            <p:nvPr/>
          </p:nvSpPr>
          <p:spPr>
            <a:xfrm>
              <a:off x="1495201" y="778765"/>
              <a:ext cx="1032655" cy="7848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함께하는 즐거움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“</a:t>
              </a: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명확한 약속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한눈에 보는 실무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현장 밀착형 지원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변화의 체감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A6F8B63-BAF2-7E60-DC6E-15496E6EE29A}"/>
                </a:ext>
              </a:extLst>
            </p:cNvPr>
            <p:cNvSpPr txBox="1"/>
            <p:nvPr/>
          </p:nvSpPr>
          <p:spPr>
            <a:xfrm>
              <a:off x="796295" y="778765"/>
              <a:ext cx="813043" cy="7848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소통의 광장</a:t>
              </a:r>
              <a:endParaRPr lang="en-US" altLang="ko-KR" sz="900" b="1" dirty="0"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업무 기준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교육자료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요청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지표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47244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C5126-4A2A-FC7F-106F-3232C6E34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F6BB92C-2F83-0CAF-C723-2C777E5443B0}"/>
              </a:ext>
            </a:extLst>
          </p:cNvPr>
          <p:cNvSpPr txBox="1"/>
          <p:nvPr/>
        </p:nvSpPr>
        <p:spPr>
          <a:xfrm>
            <a:off x="25241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 </a:t>
            </a:r>
            <a:r>
              <a:rPr lang="en-US" altLang="ko-KR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| </a:t>
            </a:r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진료지원간호팀 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31747F1F-5AA5-4C16-077D-B861466B2D43}"/>
              </a:ext>
            </a:extLst>
          </p:cNvPr>
          <p:cNvGrpSpPr/>
          <p:nvPr/>
        </p:nvGrpSpPr>
        <p:grpSpPr>
          <a:xfrm>
            <a:off x="2050303" y="549443"/>
            <a:ext cx="854822" cy="76638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DB8CF0D-9269-F125-ED00-9978E3CC1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C30D1DB0-202E-8A8C-451C-56E69056FE32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9B1B619C-7AC8-1C11-F1F4-40D8C3499AC2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05A0CF51-7028-B639-37F2-D38D64043ABE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7731C4B1-1D06-ABE8-5F52-FD7374069060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ECB13761-177B-0572-6CB1-A6E6EAE4B2AF}"/>
              </a:ext>
            </a:extLst>
          </p:cNvPr>
          <p:cNvGrpSpPr/>
          <p:nvPr/>
        </p:nvGrpSpPr>
        <p:grpSpPr>
          <a:xfrm>
            <a:off x="113069" y="274768"/>
            <a:ext cx="1755833" cy="425416"/>
            <a:chOff x="614240" y="226472"/>
            <a:chExt cx="1755833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5278631-70F3-056F-6686-C30116B50BC0}"/>
                </a:ext>
              </a:extLst>
            </p:cNvPr>
            <p:cNvSpPr txBox="1"/>
            <p:nvPr/>
          </p:nvSpPr>
          <p:spPr>
            <a:xfrm>
              <a:off x="646605" y="226472"/>
              <a:ext cx="1681935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b="1" dirty="0" err="1">
                  <a:solidFill>
                    <a:srgbClr val="00B0F0"/>
                  </a:solidFill>
                  <a:latin typeface="Noto Sans KR Black" panose="020B0200000000000000" pitchFamily="50" charset="-127"/>
                  <a:ea typeface="Noto Sans KR Black" panose="020B0200000000000000" pitchFamily="50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bg2">
                      <a:lumMod val="1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bg2">
                    <a:lumMod val="1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161F65D-7CC1-469C-B77B-E5625B2EADDF}"/>
                </a:ext>
              </a:extLst>
            </p:cNvPr>
            <p:cNvSpPr txBox="1"/>
            <p:nvPr/>
          </p:nvSpPr>
          <p:spPr>
            <a:xfrm>
              <a:off x="622591" y="451833"/>
              <a:ext cx="1729962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 가치를 만드는 공간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, </a:t>
              </a:r>
              <a:r>
                <a:rPr lang="ko-KR" altLang="en-US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허브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815DF3D9-F3D9-85D9-62F4-90DB3DF4F6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C1B02909-B1FD-0935-9187-EB951A16C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222659" y="276730"/>
              <a:ext cx="147414" cy="128728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E4BF5A46-07A1-C67D-7FDD-6FFD49F0A241}"/>
              </a:ext>
            </a:extLst>
          </p:cNvPr>
          <p:cNvGrpSpPr/>
          <p:nvPr/>
        </p:nvGrpSpPr>
        <p:grpSpPr>
          <a:xfrm>
            <a:off x="205429" y="781187"/>
            <a:ext cx="1731561" cy="784830"/>
            <a:chOff x="796295" y="778765"/>
            <a:chExt cx="1731561" cy="78483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21C3F74-278E-4E5B-6A87-08D0B226889B}"/>
                </a:ext>
              </a:extLst>
            </p:cNvPr>
            <p:cNvSpPr txBox="1"/>
            <p:nvPr/>
          </p:nvSpPr>
          <p:spPr>
            <a:xfrm>
              <a:off x="1495201" y="778765"/>
              <a:ext cx="1032655" cy="7848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함께하는 즐거움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“</a:t>
              </a: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명확한 약속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한눈에 보는 실무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현장 밀착형 지원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변화의 체감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30B983-8173-319F-0183-7FA781C1A7A0}"/>
                </a:ext>
              </a:extLst>
            </p:cNvPr>
            <p:cNvSpPr txBox="1"/>
            <p:nvPr/>
          </p:nvSpPr>
          <p:spPr>
            <a:xfrm>
              <a:off x="796295" y="778765"/>
              <a:ext cx="813043" cy="7848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소통의 광장</a:t>
              </a:r>
              <a:endParaRPr lang="en-US" altLang="ko-KR" sz="900" b="1" dirty="0"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업무 기준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교육자료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요청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지표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91184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2820A-B4D2-E46D-10B9-F8ED4B428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4FF95E4-3D72-A57A-28CB-829BED66AB1C}"/>
              </a:ext>
            </a:extLst>
          </p:cNvPr>
          <p:cNvSpPr txBox="1"/>
          <p:nvPr/>
        </p:nvSpPr>
        <p:spPr>
          <a:xfrm>
            <a:off x="25241" y="63223"/>
            <a:ext cx="14035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순천향대학교 천안병원 </a:t>
            </a:r>
            <a:r>
              <a:rPr lang="en-US" altLang="ko-KR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| </a:t>
            </a:r>
            <a:r>
              <a:rPr lang="ko-KR" altLang="en-US" sz="600" b="1" spc="-11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진료지원간호팀 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B3D8C7F-6FAC-B2DC-F1E3-BA0BD38482A2}"/>
              </a:ext>
            </a:extLst>
          </p:cNvPr>
          <p:cNvGrpSpPr/>
          <p:nvPr/>
        </p:nvGrpSpPr>
        <p:grpSpPr>
          <a:xfrm>
            <a:off x="2050303" y="549443"/>
            <a:ext cx="854822" cy="76638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53D5053F-7959-FCD3-E4C2-5F1B3CE133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F8B23C62-224A-6389-C092-78BA09772905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BA7C650D-15DD-13DD-9936-06010436CE31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07C75194-149D-5FE0-5335-0B6A1DE322B5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904EBC0D-29A8-ACE4-0B30-55DDD97618AE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66D0ED8-EF19-E284-C6AC-2510E8CE63D9}"/>
              </a:ext>
            </a:extLst>
          </p:cNvPr>
          <p:cNvGrpSpPr/>
          <p:nvPr/>
        </p:nvGrpSpPr>
        <p:grpSpPr>
          <a:xfrm>
            <a:off x="113069" y="274768"/>
            <a:ext cx="1755833" cy="425416"/>
            <a:chOff x="614240" y="226472"/>
            <a:chExt cx="1755833" cy="42541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2897FB5-7AB8-9E90-B425-8548637A93C5}"/>
                </a:ext>
              </a:extLst>
            </p:cNvPr>
            <p:cNvSpPr txBox="1"/>
            <p:nvPr/>
          </p:nvSpPr>
          <p:spPr>
            <a:xfrm>
              <a:off x="646605" y="226472"/>
              <a:ext cx="1681935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400" b="1" dirty="0" err="1">
                  <a:solidFill>
                    <a:srgbClr val="00B0F0"/>
                  </a:solidFill>
                  <a:latin typeface="Noto Sans KR Black" panose="020B0200000000000000" pitchFamily="50" charset="-127"/>
                  <a:ea typeface="Noto Sans KR Black" panose="020B0200000000000000" pitchFamily="50" charset="-127"/>
                </a:rPr>
                <a:t>우리가치</a:t>
              </a:r>
              <a:r>
                <a:rPr lang="ko-KR" altLang="en-US" sz="14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400" dirty="0" err="1">
                  <a:solidFill>
                    <a:schemeClr val="accent1">
                      <a:lumMod val="50000"/>
                    </a:schemeClr>
                  </a:solidFill>
                  <a:latin typeface="Franklin Gothic Heavy" panose="020B0903020102020204" pitchFamily="34" charset="0"/>
                  <a:ea typeface="KoPub돋움체 Bold" panose="02020603020101020101" pitchFamily="18" charset="-127"/>
                </a:rPr>
                <a:t>WeValue</a:t>
              </a:r>
              <a:endParaRPr lang="en-US" altLang="ko-KR" sz="1400" dirty="0">
                <a:solidFill>
                  <a:schemeClr val="accent1">
                    <a:lumMod val="50000"/>
                  </a:schemeClr>
                </a:solidFill>
                <a:latin typeface="Franklin Gothic Heavy" panose="020B0903020102020204" pitchFamily="34" charset="0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4C445C6-7A9C-6F31-BE91-E3F66A510177}"/>
                </a:ext>
              </a:extLst>
            </p:cNvPr>
            <p:cNvSpPr txBox="1"/>
            <p:nvPr/>
          </p:nvSpPr>
          <p:spPr>
            <a:xfrm>
              <a:off x="622591" y="451833"/>
              <a:ext cx="1729962" cy="20005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[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 가치를 만드는 공간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, </a:t>
              </a:r>
              <a:r>
                <a:rPr lang="ko-KR" altLang="en-US" sz="700" b="1" dirty="0" err="1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우리가치</a:t>
              </a:r>
              <a:r>
                <a:rPr lang="ko-KR" altLang="en-US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허브</a:t>
              </a:r>
              <a:r>
                <a:rPr lang="en-US" altLang="ko-KR" sz="7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]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CBAF3D6C-A41F-BE3C-3C2A-A78F89FDF1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240" y="271322"/>
              <a:ext cx="147416" cy="128728"/>
            </a:xfrm>
            <a:prstGeom prst="rect">
              <a:avLst/>
            </a:prstGeom>
          </p:spPr>
        </p:pic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591357B3-E42D-AA88-F0C8-196DDE389A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2222659" y="276730"/>
              <a:ext cx="147414" cy="128728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76EDDA3-0179-EE4D-B001-73D6EA954789}"/>
              </a:ext>
            </a:extLst>
          </p:cNvPr>
          <p:cNvGrpSpPr/>
          <p:nvPr/>
        </p:nvGrpSpPr>
        <p:grpSpPr>
          <a:xfrm>
            <a:off x="205429" y="781187"/>
            <a:ext cx="1731561" cy="784830"/>
            <a:chOff x="796295" y="778765"/>
            <a:chExt cx="1731561" cy="78483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8DF4D13-C70B-2F32-B5F3-B6EB82F96C1B}"/>
                </a:ext>
              </a:extLst>
            </p:cNvPr>
            <p:cNvSpPr txBox="1"/>
            <p:nvPr/>
          </p:nvSpPr>
          <p:spPr>
            <a:xfrm>
              <a:off x="1495201" y="778765"/>
              <a:ext cx="1032655" cy="7848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함께하는 즐거움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“</a:t>
              </a: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명확한 약속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한눈에 보는 실무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현장 밀착형 지원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  <a:p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r>
                <a:rPr lang="ko-KR" altLang="en-US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변화의 체감</a:t>
              </a:r>
              <a:r>
                <a:rPr lang="en-US" altLang="ko-KR" sz="900" dirty="0">
                  <a:latin typeface="KoPub돋움체 Light" panose="00000300000000000000" pitchFamily="2" charset="-127"/>
                  <a:ea typeface="KoPub돋움체 Light" panose="00000300000000000000" pitchFamily="2" charset="-127"/>
                </a:rPr>
                <a:t>"</a:t>
              </a:r>
              <a:endParaRPr lang="ko-KR" altLang="en-US" sz="900" dirty="0">
                <a:latin typeface="KoPub돋움체 Light" panose="00000300000000000000" pitchFamily="2" charset="-127"/>
                <a:ea typeface="KoPub돋움체 Light" panose="000003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25BF914-A40D-9720-C2CE-C62A45D9DB8B}"/>
                </a:ext>
              </a:extLst>
            </p:cNvPr>
            <p:cNvSpPr txBox="1"/>
            <p:nvPr/>
          </p:nvSpPr>
          <p:spPr>
            <a:xfrm>
              <a:off x="796295" y="778765"/>
              <a:ext cx="813043" cy="7848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소통의 광장</a:t>
              </a:r>
              <a:endParaRPr lang="en-US" altLang="ko-KR" sz="900" b="1" dirty="0"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업무 기준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교육자료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요청</a:t>
              </a:r>
            </a:p>
            <a:p>
              <a:pPr marL="88900" indent="-88900">
                <a:buClr>
                  <a:srgbClr val="00B0F0"/>
                </a:buClr>
                <a:buFont typeface="Arial" panose="020B0604020202020204" pitchFamily="34" charset="0"/>
                <a:buChar char="•"/>
              </a:pPr>
              <a:r>
                <a:rPr lang="ko-KR" altLang="en-US" sz="900" b="1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지표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5286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3444</TotalTime>
  <Words>264</Words>
  <Application>Microsoft Office PowerPoint</Application>
  <PresentationFormat>사용자 지정</PresentationFormat>
  <Paragraphs>78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5" baseType="lpstr">
      <vt:lpstr>KoPub돋움체 Bold</vt:lpstr>
      <vt:lpstr>KoPub돋움체 Light</vt:lpstr>
      <vt:lpstr>Noto Sans KR Black</vt:lpstr>
      <vt:lpstr>맑은 고딕</vt:lpstr>
      <vt:lpstr>Arial</vt:lpstr>
      <vt:lpstr>Calibri</vt:lpstr>
      <vt:lpstr>Calibri Light</vt:lpstr>
      <vt:lpstr>Franklin Gothic Heavy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라희 임</dc:creator>
  <cp:lastModifiedBy>성민 임</cp:lastModifiedBy>
  <cp:revision>2285</cp:revision>
  <cp:lastPrinted>2026-05-14T09:58:40Z</cp:lastPrinted>
  <dcterms:created xsi:type="dcterms:W3CDTF">2025-05-04T13:56:03Z</dcterms:created>
  <dcterms:modified xsi:type="dcterms:W3CDTF">2026-05-14T10:06:37Z</dcterms:modified>
</cp:coreProperties>
</file>