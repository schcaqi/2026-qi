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3" r:id="rId1"/>
  </p:sldMasterIdLst>
  <p:notesMasterIdLst>
    <p:notesMasterId r:id="rId8"/>
  </p:notesMasterIdLst>
  <p:sldIdLst>
    <p:sldId id="265" r:id="rId2"/>
    <p:sldId id="266" r:id="rId3"/>
    <p:sldId id="267" r:id="rId4"/>
    <p:sldId id="268" r:id="rId5"/>
    <p:sldId id="269" r:id="rId6"/>
    <p:sldId id="270" r:id="rId7"/>
  </p:sldIdLst>
  <p:sldSz cx="3203575" cy="1800225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orient="horz" pos="567" userDrawn="1">
          <p15:clr>
            <a:srgbClr val="A4A3A4"/>
          </p15:clr>
        </p15:guide>
        <p15:guide id="6" orient="horz" pos="201" userDrawn="1">
          <p15:clr>
            <a:srgbClr val="A4A3A4"/>
          </p15:clr>
        </p15:guide>
        <p15:guide id="7" orient="horz" pos="1042" userDrawn="1">
          <p15:clr>
            <a:srgbClr val="A4A3A4"/>
          </p15:clr>
        </p15:guide>
        <p15:guide id="8" pos="1009" userDrawn="1">
          <p15:clr>
            <a:srgbClr val="A4A3A4"/>
          </p15:clr>
        </p15:guide>
        <p15:guide id="9" pos="131" userDrawn="1">
          <p15:clr>
            <a:srgbClr val="A4A3A4"/>
          </p15:clr>
        </p15:guide>
        <p15:guide id="10" pos="188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CFF1"/>
    <a:srgbClr val="CC00FF"/>
    <a:srgbClr val="006E99"/>
    <a:srgbClr val="009BD6"/>
    <a:srgbClr val="1E5691"/>
    <a:srgbClr val="DDF6FF"/>
    <a:srgbClr val="F58400"/>
    <a:srgbClr val="FF3300"/>
    <a:srgbClr val="FFFFFF"/>
    <a:srgbClr val="0084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69" autoAdjust="0"/>
    <p:restoredTop sz="97430" autoAdjust="0"/>
  </p:normalViewPr>
  <p:slideViewPr>
    <p:cSldViewPr snapToGrid="0">
      <p:cViewPr varScale="1">
        <p:scale>
          <a:sx n="400" d="100"/>
          <a:sy n="400" d="100"/>
        </p:scale>
        <p:origin x="2946" y="1200"/>
      </p:cViewPr>
      <p:guideLst>
        <p:guide orient="horz" pos="567"/>
        <p:guide orient="horz" pos="201"/>
        <p:guide orient="horz" pos="1042"/>
        <p:guide pos="1009"/>
        <p:guide pos="131"/>
        <p:guide pos="188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8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r">
              <a:defRPr sz="1300"/>
            </a:lvl1pPr>
          </a:lstStyle>
          <a:p>
            <a:fld id="{F929F65E-AEE7-45C5-814B-4468CAF1E537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41325" y="1241425"/>
            <a:ext cx="597535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5" tIns="45703" rIns="91405" bIns="4570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786312"/>
            <a:ext cx="5486400" cy="3916363"/>
          </a:xfrm>
          <a:prstGeom prst="rect">
            <a:avLst/>
          </a:prstGeom>
        </p:spPr>
        <p:txBody>
          <a:bodyPr vert="horz" lIns="91405" tIns="45703" rIns="91405" bIns="45703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47215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8" y="9447215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r">
              <a:defRPr sz="1300"/>
            </a:lvl1pPr>
          </a:lstStyle>
          <a:p>
            <a:fld id="{6A73BE5E-839E-45D1-B8A5-13B23A945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211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1pPr>
    <a:lvl2pPr marL="8372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2pPr>
    <a:lvl3pPr marL="16744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3pPr>
    <a:lvl4pPr marL="25116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4pPr>
    <a:lvl5pPr marL="33489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5pPr>
    <a:lvl6pPr marL="41861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6pPr>
    <a:lvl7pPr marL="50233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7pPr>
    <a:lvl8pPr marL="58605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8pPr>
    <a:lvl9pPr marL="669781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0447" y="294620"/>
            <a:ext cx="2402681" cy="626745"/>
          </a:xfrm>
        </p:spPr>
        <p:txBody>
          <a:bodyPr anchor="b"/>
          <a:lstStyle>
            <a:lvl1pPr algn="ctr"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0447" y="945535"/>
            <a:ext cx="2402681" cy="434638"/>
          </a:xfrm>
        </p:spPr>
        <p:txBody>
          <a:bodyPr/>
          <a:lstStyle>
            <a:lvl1pPr marL="0" indent="0" algn="ctr">
              <a:buNone/>
              <a:defRPr sz="630"/>
            </a:lvl1pPr>
            <a:lvl2pPr marL="120015" indent="0" algn="ctr">
              <a:buNone/>
              <a:defRPr sz="525"/>
            </a:lvl2pPr>
            <a:lvl3pPr marL="240030" indent="0" algn="ctr">
              <a:buNone/>
              <a:defRPr sz="472"/>
            </a:lvl3pPr>
            <a:lvl4pPr marL="360045" indent="0" algn="ctr">
              <a:buNone/>
              <a:defRPr sz="420"/>
            </a:lvl4pPr>
            <a:lvl5pPr marL="480060" indent="0" algn="ctr">
              <a:buNone/>
              <a:defRPr sz="420"/>
            </a:lvl5pPr>
            <a:lvl6pPr marL="600075" indent="0" algn="ctr">
              <a:buNone/>
              <a:defRPr sz="420"/>
            </a:lvl6pPr>
            <a:lvl7pPr marL="720090" indent="0" algn="ctr">
              <a:buNone/>
              <a:defRPr sz="420"/>
            </a:lvl7pPr>
            <a:lvl8pPr marL="840105" indent="0" algn="ctr">
              <a:buNone/>
              <a:defRPr sz="420"/>
            </a:lvl8pPr>
            <a:lvl9pPr marL="960120" indent="0" algn="ctr">
              <a:buNone/>
              <a:defRPr sz="42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1911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4552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577" y="448807"/>
            <a:ext cx="2763083" cy="748843"/>
          </a:xfrm>
        </p:spPr>
        <p:txBody>
          <a:bodyPr anchor="b"/>
          <a:lstStyle>
            <a:lvl1pPr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8577" y="1204734"/>
            <a:ext cx="2763083" cy="393799"/>
          </a:xfrm>
        </p:spPr>
        <p:txBody>
          <a:bodyPr/>
          <a:lstStyle>
            <a:lvl1pPr marL="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1pPr>
            <a:lvl2pPr marL="120015" indent="0">
              <a:buNone/>
              <a:defRPr sz="525">
                <a:solidFill>
                  <a:schemeClr val="tx1">
                    <a:tint val="75000"/>
                  </a:schemeClr>
                </a:solidFill>
              </a:defRPr>
            </a:lvl2pPr>
            <a:lvl3pPr marL="240030" indent="0">
              <a:buNone/>
              <a:defRPr sz="472">
                <a:solidFill>
                  <a:schemeClr val="tx1">
                    <a:tint val="75000"/>
                  </a:schemeClr>
                </a:solidFill>
              </a:defRPr>
            </a:lvl3pPr>
            <a:lvl4pPr marL="36004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4pPr>
            <a:lvl5pPr marL="48006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5pPr>
            <a:lvl6pPr marL="60007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6pPr>
            <a:lvl7pPr marL="72009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7pPr>
            <a:lvl8pPr marL="84010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8pPr>
            <a:lvl9pPr marL="96012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4110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0246" y="479227"/>
            <a:ext cx="1361519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21810" y="479227"/>
            <a:ext cx="1361519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8339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95846"/>
            <a:ext cx="2763083" cy="34796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663" y="441305"/>
            <a:ext cx="1355262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663" y="657582"/>
            <a:ext cx="1355262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21810" y="441305"/>
            <a:ext cx="1361937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21810" y="657582"/>
            <a:ext cx="1361937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853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94154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69416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120015"/>
            <a:ext cx="1033236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61937" y="259199"/>
            <a:ext cx="1621810" cy="1279327"/>
          </a:xfrm>
        </p:spPr>
        <p:txBody>
          <a:bodyPr/>
          <a:lstStyle>
            <a:lvl1pPr>
              <a:defRPr sz="840"/>
            </a:lvl1pPr>
            <a:lvl2pPr>
              <a:defRPr sz="735"/>
            </a:lvl2pPr>
            <a:lvl3pPr>
              <a:defRPr sz="630"/>
            </a:lvl3pPr>
            <a:lvl4pPr>
              <a:defRPr sz="525"/>
            </a:lvl4pPr>
            <a:lvl5pPr>
              <a:defRPr sz="525"/>
            </a:lvl5pPr>
            <a:lvl6pPr>
              <a:defRPr sz="525"/>
            </a:lvl6pPr>
            <a:lvl7pPr>
              <a:defRPr sz="525"/>
            </a:lvl7pPr>
            <a:lvl8pPr>
              <a:defRPr sz="525"/>
            </a:lvl8pPr>
            <a:lvl9pPr>
              <a:defRPr sz="52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663" y="540067"/>
            <a:ext cx="1033236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6254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120015"/>
            <a:ext cx="1033236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61937" y="259199"/>
            <a:ext cx="1621810" cy="1279327"/>
          </a:xfrm>
        </p:spPr>
        <p:txBody>
          <a:bodyPr anchor="t"/>
          <a:lstStyle>
            <a:lvl1pPr marL="0" indent="0">
              <a:buNone/>
              <a:defRPr sz="840"/>
            </a:lvl1pPr>
            <a:lvl2pPr marL="120015" indent="0">
              <a:buNone/>
              <a:defRPr sz="735"/>
            </a:lvl2pPr>
            <a:lvl3pPr marL="240030" indent="0">
              <a:buNone/>
              <a:defRPr sz="630"/>
            </a:lvl3pPr>
            <a:lvl4pPr marL="360045" indent="0">
              <a:buNone/>
              <a:defRPr sz="525"/>
            </a:lvl4pPr>
            <a:lvl5pPr marL="480060" indent="0">
              <a:buNone/>
              <a:defRPr sz="525"/>
            </a:lvl5pPr>
            <a:lvl6pPr marL="600075" indent="0">
              <a:buNone/>
              <a:defRPr sz="525"/>
            </a:lvl6pPr>
            <a:lvl7pPr marL="720090" indent="0">
              <a:buNone/>
              <a:defRPr sz="525"/>
            </a:lvl7pPr>
            <a:lvl8pPr marL="840105" indent="0">
              <a:buNone/>
              <a:defRPr sz="525"/>
            </a:lvl8pPr>
            <a:lvl9pPr marL="960120" indent="0">
              <a:buNone/>
              <a:defRPr sz="525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663" y="540067"/>
            <a:ext cx="1033236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19066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0442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92558" y="95846"/>
            <a:ext cx="690771" cy="152560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0246" y="95846"/>
            <a:ext cx="2032268" cy="15256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06799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1"/>
            <a:ext cx="3210250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29572" y="30483"/>
            <a:ext cx="3146404" cy="17284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59375" y="81588"/>
            <a:ext cx="359069" cy="20304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BA0C91-E2D0-A166-2BE8-3501CE9BABF8}"/>
              </a:ext>
            </a:extLst>
          </p:cNvPr>
          <p:cNvSpPr txBox="1"/>
          <p:nvPr userDrawn="1"/>
        </p:nvSpPr>
        <p:spPr>
          <a:xfrm>
            <a:off x="2074628" y="1569906"/>
            <a:ext cx="1128948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5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6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202070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>
          <p15:clr>
            <a:srgbClr val="FBAE40"/>
          </p15:clr>
        </p15:guide>
        <p15:guide id="2" pos="100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1"/>
            <a:ext cx="3210250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4965" y="17494"/>
            <a:ext cx="3118567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7613" y="29235"/>
            <a:ext cx="320831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256578-F800-6850-5D6B-02ED7EBACB52}"/>
              </a:ext>
            </a:extLst>
          </p:cNvPr>
          <p:cNvSpPr txBox="1"/>
          <p:nvPr userDrawn="1"/>
        </p:nvSpPr>
        <p:spPr>
          <a:xfrm>
            <a:off x="2855230" y="1686921"/>
            <a:ext cx="263214" cy="1231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en-US" altLang="ko-KR" sz="1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</a:t>
            </a:r>
          </a:p>
        </p:txBody>
      </p:sp>
    </p:spTree>
    <p:extLst>
      <p:ext uri="{BB962C8B-B14F-4D97-AF65-F5344CB8AC3E}">
        <p14:creationId xmlns:p14="http://schemas.microsoft.com/office/powerpoint/2010/main" val="2737303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09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1"/>
            <a:ext cx="3210250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4965" y="17494"/>
            <a:ext cx="3118567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6055" y="29235"/>
            <a:ext cx="320831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D82B35-E786-6435-BBDD-C02B0C93E120}"/>
              </a:ext>
            </a:extLst>
          </p:cNvPr>
          <p:cNvSpPr txBox="1"/>
          <p:nvPr userDrawn="1"/>
        </p:nvSpPr>
        <p:spPr>
          <a:xfrm>
            <a:off x="2827979" y="1707219"/>
            <a:ext cx="290465" cy="1077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 </a:t>
            </a:r>
            <a:r>
              <a:rPr lang="en-US" altLang="ko-KR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131</a:t>
            </a:r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병동</a:t>
            </a:r>
          </a:p>
        </p:txBody>
      </p:sp>
    </p:spTree>
    <p:extLst>
      <p:ext uri="{BB962C8B-B14F-4D97-AF65-F5344CB8AC3E}">
        <p14:creationId xmlns:p14="http://schemas.microsoft.com/office/powerpoint/2010/main" val="5013630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09" userDrawn="1">
          <p15:clr>
            <a:srgbClr val="FBAE40"/>
          </p15:clr>
        </p15:guide>
        <p15:guide id="3" orient="horz" pos="6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0246" y="95846"/>
            <a:ext cx="2763083" cy="347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246" y="479227"/>
            <a:ext cx="2763083" cy="1142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0246" y="1668542"/>
            <a:ext cx="720804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F34B4-7175-41BD-B98B-2E7021201D7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1184" y="1668542"/>
            <a:ext cx="1081207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62525" y="1668542"/>
            <a:ext cx="720804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1041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4" r:id="rId1"/>
    <p:sldLayoutId id="2147483885" r:id="rId2"/>
    <p:sldLayoutId id="2147483886" r:id="rId3"/>
    <p:sldLayoutId id="2147483887" r:id="rId4"/>
    <p:sldLayoutId id="2147483888" r:id="rId5"/>
    <p:sldLayoutId id="2147483889" r:id="rId6"/>
    <p:sldLayoutId id="2147483890" r:id="rId7"/>
    <p:sldLayoutId id="2147483891" r:id="rId8"/>
    <p:sldLayoutId id="2147483892" r:id="rId9"/>
    <p:sldLayoutId id="2147483893" r:id="rId10"/>
    <p:sldLayoutId id="2147483894" r:id="rId11"/>
    <p:sldLayoutId id="2147483895" r:id="rId12"/>
    <p:sldLayoutId id="2147483790" r:id="rId13"/>
    <p:sldLayoutId id="2147483789" r:id="rId14"/>
  </p:sldLayoutIdLst>
  <p:txStyles>
    <p:titleStyle>
      <a:lvl1pPr algn="l" defTabSz="240030" rtl="0" eaLnBrk="1" latinLnBrk="1" hangingPunct="1">
        <a:lnSpc>
          <a:spcPct val="90000"/>
        </a:lnSpc>
        <a:spcBef>
          <a:spcPct val="0"/>
        </a:spcBef>
        <a:buNone/>
        <a:defRPr sz="11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008" indent="-60008" algn="l" defTabSz="240030" rtl="0" eaLnBrk="1" latinLnBrk="1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1pPr>
      <a:lvl2pPr marL="18002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2pPr>
      <a:lvl3pPr marL="30003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3pPr>
      <a:lvl4pPr marL="42005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54006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6008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8009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90011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102012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1pPr>
      <a:lvl2pPr marL="12001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3pPr>
      <a:lvl4pPr marL="36004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48006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0007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2009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84010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96012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67" userDrawn="1">
          <p15:clr>
            <a:srgbClr val="F26B43"/>
          </p15:clr>
        </p15:guide>
        <p15:guide id="2" pos="100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E3E193-F1E8-6947-F01D-A96C1A9F6D0E}"/>
              </a:ext>
            </a:extLst>
          </p:cNvPr>
          <p:cNvSpPr txBox="1"/>
          <p:nvPr/>
        </p:nvSpPr>
        <p:spPr>
          <a:xfrm>
            <a:off x="25241" y="63223"/>
            <a:ext cx="140350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순천향대학교 천안병원 </a:t>
            </a:r>
            <a:r>
              <a:rPr lang="en-US" altLang="ko-KR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| </a:t>
            </a:r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진료지원간호팀 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CCD23336-35E2-7BBF-742C-67D82BDC7617}"/>
              </a:ext>
            </a:extLst>
          </p:cNvPr>
          <p:cNvGrpSpPr/>
          <p:nvPr/>
        </p:nvGrpSpPr>
        <p:grpSpPr>
          <a:xfrm>
            <a:off x="589938" y="838920"/>
            <a:ext cx="634026" cy="568432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40C63F4C-30AB-6EF2-23BA-1233104A9D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B242B433-4D06-F840-EA3E-7FA7766D184C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37DD2CDD-BF9D-CD6A-CC77-30C00DF7A8EA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DD20813D-7C4F-9420-E012-EB09FDC9059E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C2F58D7B-1E2F-7C1C-29C2-3CBAF321313E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60DDF2E-2289-473B-B5F6-77027118C993}"/>
              </a:ext>
            </a:extLst>
          </p:cNvPr>
          <p:cNvGrpSpPr/>
          <p:nvPr/>
        </p:nvGrpSpPr>
        <p:grpSpPr>
          <a:xfrm>
            <a:off x="113069" y="274768"/>
            <a:ext cx="1746464" cy="425416"/>
            <a:chOff x="614240" y="226472"/>
            <a:chExt cx="1746464" cy="42541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F0C02A7-D766-DD14-548E-2AE7955534F4}"/>
                </a:ext>
              </a:extLst>
            </p:cNvPr>
            <p:cNvSpPr txBox="1"/>
            <p:nvPr/>
          </p:nvSpPr>
          <p:spPr>
            <a:xfrm>
              <a:off x="685077" y="226472"/>
              <a:ext cx="1604991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400" dirty="0" err="1">
                  <a:solidFill>
                    <a:srgbClr val="00B0F0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우리가치</a:t>
              </a:r>
              <a:r>
                <a:rPr lang="ko-KR" altLang="en-US" sz="14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400" dirty="0" err="1">
                  <a:solidFill>
                    <a:schemeClr val="accent1">
                      <a:lumMod val="50000"/>
                    </a:schemeClr>
                  </a:solidFill>
                  <a:latin typeface="Franklin Gothic Heavy" panose="020B0903020102020204" pitchFamily="34" charset="0"/>
                  <a:ea typeface="KoPub돋움체 Bold" panose="02020603020101020101" pitchFamily="18" charset="-127"/>
                </a:rPr>
                <a:t>WeValue</a:t>
              </a:r>
              <a:endParaRPr lang="en-US" altLang="ko-KR" sz="1400" dirty="0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5F3C248-44C4-9D7A-C464-62D68C9890DC}"/>
                </a:ext>
              </a:extLst>
            </p:cNvPr>
            <p:cNvSpPr txBox="1"/>
            <p:nvPr/>
          </p:nvSpPr>
          <p:spPr>
            <a:xfrm>
              <a:off x="622591" y="451833"/>
              <a:ext cx="1729962" cy="20005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[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 가치를 만드는 공간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, </a:t>
              </a:r>
              <a:r>
                <a:rPr lang="ko-KR" altLang="en-US" sz="700" b="1" dirty="0" err="1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우리가치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허브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]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EB1E9046-9340-4D3D-AA23-F89851FB0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240" y="271322"/>
              <a:ext cx="147416" cy="128728"/>
            </a:xfrm>
            <a:prstGeom prst="rect">
              <a:avLst/>
            </a:prstGeom>
          </p:spPr>
        </p:pic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799E618A-B635-413C-90D6-9BBB5F48E4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181315" y="257361"/>
              <a:ext cx="179389" cy="156650"/>
            </a:xfrm>
            <a:prstGeom prst="rect">
              <a:avLst/>
            </a:pr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FCD9B137-9F07-4052-B76C-36D6AED25D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197302" y="276730"/>
              <a:ext cx="147414" cy="128728"/>
            </a:xfrm>
            <a:prstGeom prst="rect">
              <a:avLst/>
            </a:prstGeom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B2D700B-07E0-4E28-A7D2-0F4C62846EE3}"/>
              </a:ext>
            </a:extLst>
          </p:cNvPr>
          <p:cNvGrpSpPr/>
          <p:nvPr/>
        </p:nvGrpSpPr>
        <p:grpSpPr>
          <a:xfrm>
            <a:off x="1488355" y="772187"/>
            <a:ext cx="1564409" cy="707886"/>
            <a:chOff x="796295" y="778765"/>
            <a:chExt cx="1564409" cy="707886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1921C24-9018-417C-966E-E56980F41166}"/>
                </a:ext>
              </a:extLst>
            </p:cNvPr>
            <p:cNvSpPr txBox="1"/>
            <p:nvPr/>
          </p:nvSpPr>
          <p:spPr>
            <a:xfrm>
              <a:off x="1422627" y="778765"/>
              <a:ext cx="938077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함께하는 즐거움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“</a:t>
              </a: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명확한 약속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한눈에 보는 실무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현장 밀착형 지원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변화의 체감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2EAB35A-296C-468C-BCA0-D585048BF4E9}"/>
                </a:ext>
              </a:extLst>
            </p:cNvPr>
            <p:cNvSpPr txBox="1"/>
            <p:nvPr/>
          </p:nvSpPr>
          <p:spPr>
            <a:xfrm>
              <a:off x="796295" y="778765"/>
              <a:ext cx="75373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소통의 광장</a:t>
              </a:r>
              <a:endPara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업무 기준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교육자료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요청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지표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56204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E3E193-F1E8-6947-F01D-A96C1A9F6D0E}"/>
              </a:ext>
            </a:extLst>
          </p:cNvPr>
          <p:cNvSpPr txBox="1"/>
          <p:nvPr/>
        </p:nvSpPr>
        <p:spPr>
          <a:xfrm>
            <a:off x="25241" y="63223"/>
            <a:ext cx="140350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순천향대학교 천안병원 </a:t>
            </a:r>
            <a:r>
              <a:rPr lang="en-US" altLang="ko-KR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| </a:t>
            </a:r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진료지원간호팀 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CCD23336-35E2-7BBF-742C-67D82BDC7617}"/>
              </a:ext>
            </a:extLst>
          </p:cNvPr>
          <p:cNvGrpSpPr/>
          <p:nvPr/>
        </p:nvGrpSpPr>
        <p:grpSpPr>
          <a:xfrm>
            <a:off x="589938" y="838920"/>
            <a:ext cx="634026" cy="568432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40C63F4C-30AB-6EF2-23BA-1233104A9D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B242B433-4D06-F840-EA3E-7FA7766D184C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37DD2CDD-BF9D-CD6A-CC77-30C00DF7A8EA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DD20813D-7C4F-9420-E012-EB09FDC9059E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C2F58D7B-1E2F-7C1C-29C2-3CBAF321313E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60DDF2E-2289-473B-B5F6-77027118C993}"/>
              </a:ext>
            </a:extLst>
          </p:cNvPr>
          <p:cNvGrpSpPr/>
          <p:nvPr/>
        </p:nvGrpSpPr>
        <p:grpSpPr>
          <a:xfrm>
            <a:off x="113069" y="274768"/>
            <a:ext cx="1746464" cy="425416"/>
            <a:chOff x="614240" y="226472"/>
            <a:chExt cx="1746464" cy="42541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F0C02A7-D766-DD14-548E-2AE7955534F4}"/>
                </a:ext>
              </a:extLst>
            </p:cNvPr>
            <p:cNvSpPr txBox="1"/>
            <p:nvPr/>
          </p:nvSpPr>
          <p:spPr>
            <a:xfrm>
              <a:off x="685077" y="226472"/>
              <a:ext cx="1604991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400" dirty="0" err="1">
                  <a:solidFill>
                    <a:srgbClr val="00B0F0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우리가치</a:t>
              </a:r>
              <a:r>
                <a:rPr lang="ko-KR" altLang="en-US" sz="14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400" dirty="0" err="1">
                  <a:solidFill>
                    <a:schemeClr val="accent1">
                      <a:lumMod val="50000"/>
                    </a:schemeClr>
                  </a:solidFill>
                  <a:latin typeface="Franklin Gothic Heavy" panose="020B0903020102020204" pitchFamily="34" charset="0"/>
                  <a:ea typeface="KoPub돋움체 Bold" panose="02020603020101020101" pitchFamily="18" charset="-127"/>
                </a:rPr>
                <a:t>WeValue</a:t>
              </a:r>
              <a:endParaRPr lang="en-US" altLang="ko-KR" sz="1400" dirty="0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5F3C248-44C4-9D7A-C464-62D68C9890DC}"/>
                </a:ext>
              </a:extLst>
            </p:cNvPr>
            <p:cNvSpPr txBox="1"/>
            <p:nvPr/>
          </p:nvSpPr>
          <p:spPr>
            <a:xfrm>
              <a:off x="622591" y="451833"/>
              <a:ext cx="1729962" cy="20005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[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 가치를 만드는 공간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, </a:t>
              </a:r>
              <a:r>
                <a:rPr lang="ko-KR" altLang="en-US" sz="700" b="1" dirty="0" err="1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우리가치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허브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]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EB1E9046-9340-4D3D-AA23-F89851FB0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240" y="271322"/>
              <a:ext cx="147416" cy="128728"/>
            </a:xfrm>
            <a:prstGeom prst="rect">
              <a:avLst/>
            </a:prstGeom>
          </p:spPr>
        </p:pic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799E618A-B635-413C-90D6-9BBB5F48E4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181315" y="257361"/>
              <a:ext cx="179389" cy="156650"/>
            </a:xfrm>
            <a:prstGeom prst="rect">
              <a:avLst/>
            </a:pr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FCD9B137-9F07-4052-B76C-36D6AED25D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197302" y="276730"/>
              <a:ext cx="147414" cy="128728"/>
            </a:xfrm>
            <a:prstGeom prst="rect">
              <a:avLst/>
            </a:prstGeom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B2D700B-07E0-4E28-A7D2-0F4C62846EE3}"/>
              </a:ext>
            </a:extLst>
          </p:cNvPr>
          <p:cNvGrpSpPr/>
          <p:nvPr/>
        </p:nvGrpSpPr>
        <p:grpSpPr>
          <a:xfrm>
            <a:off x="1488355" y="772187"/>
            <a:ext cx="1564409" cy="707886"/>
            <a:chOff x="796295" y="778765"/>
            <a:chExt cx="1564409" cy="707886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1921C24-9018-417C-966E-E56980F41166}"/>
                </a:ext>
              </a:extLst>
            </p:cNvPr>
            <p:cNvSpPr txBox="1"/>
            <p:nvPr/>
          </p:nvSpPr>
          <p:spPr>
            <a:xfrm>
              <a:off x="1422627" y="778765"/>
              <a:ext cx="938077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함께하는 즐거움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“</a:t>
              </a: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명확한 약속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한눈에 보는 실무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현장 밀착형 지원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변화의 체감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2EAB35A-296C-468C-BCA0-D585048BF4E9}"/>
                </a:ext>
              </a:extLst>
            </p:cNvPr>
            <p:cNvSpPr txBox="1"/>
            <p:nvPr/>
          </p:nvSpPr>
          <p:spPr>
            <a:xfrm>
              <a:off x="796295" y="778765"/>
              <a:ext cx="75373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소통의 광장</a:t>
              </a:r>
              <a:endPara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업무 기준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교육자료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요청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지표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8433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E3E193-F1E8-6947-F01D-A96C1A9F6D0E}"/>
              </a:ext>
            </a:extLst>
          </p:cNvPr>
          <p:cNvSpPr txBox="1"/>
          <p:nvPr/>
        </p:nvSpPr>
        <p:spPr>
          <a:xfrm>
            <a:off x="25241" y="63223"/>
            <a:ext cx="140350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순천향대학교 천안병원 </a:t>
            </a:r>
            <a:r>
              <a:rPr lang="en-US" altLang="ko-KR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| </a:t>
            </a:r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진료지원간호팀 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CCD23336-35E2-7BBF-742C-67D82BDC7617}"/>
              </a:ext>
            </a:extLst>
          </p:cNvPr>
          <p:cNvGrpSpPr/>
          <p:nvPr/>
        </p:nvGrpSpPr>
        <p:grpSpPr>
          <a:xfrm>
            <a:off x="589938" y="838920"/>
            <a:ext cx="634026" cy="568432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40C63F4C-30AB-6EF2-23BA-1233104A9D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B242B433-4D06-F840-EA3E-7FA7766D184C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37DD2CDD-BF9D-CD6A-CC77-30C00DF7A8EA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DD20813D-7C4F-9420-E012-EB09FDC9059E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C2F58D7B-1E2F-7C1C-29C2-3CBAF321313E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60DDF2E-2289-473B-B5F6-77027118C993}"/>
              </a:ext>
            </a:extLst>
          </p:cNvPr>
          <p:cNvGrpSpPr/>
          <p:nvPr/>
        </p:nvGrpSpPr>
        <p:grpSpPr>
          <a:xfrm>
            <a:off x="113069" y="274768"/>
            <a:ext cx="1746464" cy="425416"/>
            <a:chOff x="614240" y="226472"/>
            <a:chExt cx="1746464" cy="42541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F0C02A7-D766-DD14-548E-2AE7955534F4}"/>
                </a:ext>
              </a:extLst>
            </p:cNvPr>
            <p:cNvSpPr txBox="1"/>
            <p:nvPr/>
          </p:nvSpPr>
          <p:spPr>
            <a:xfrm>
              <a:off x="685077" y="226472"/>
              <a:ext cx="1604991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400" dirty="0" err="1">
                  <a:solidFill>
                    <a:srgbClr val="00B0F0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우리가치</a:t>
              </a:r>
              <a:r>
                <a:rPr lang="ko-KR" altLang="en-US" sz="14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400" dirty="0" err="1">
                  <a:solidFill>
                    <a:schemeClr val="accent1">
                      <a:lumMod val="50000"/>
                    </a:schemeClr>
                  </a:solidFill>
                  <a:latin typeface="Franklin Gothic Heavy" panose="020B0903020102020204" pitchFamily="34" charset="0"/>
                  <a:ea typeface="KoPub돋움체 Bold" panose="02020603020101020101" pitchFamily="18" charset="-127"/>
                </a:rPr>
                <a:t>WeValue</a:t>
              </a:r>
              <a:endParaRPr lang="en-US" altLang="ko-KR" sz="1400" dirty="0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5F3C248-44C4-9D7A-C464-62D68C9890DC}"/>
                </a:ext>
              </a:extLst>
            </p:cNvPr>
            <p:cNvSpPr txBox="1"/>
            <p:nvPr/>
          </p:nvSpPr>
          <p:spPr>
            <a:xfrm>
              <a:off x="622591" y="451833"/>
              <a:ext cx="1729962" cy="20005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[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 가치를 만드는 공간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, </a:t>
              </a:r>
              <a:r>
                <a:rPr lang="ko-KR" altLang="en-US" sz="700" b="1" dirty="0" err="1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우리가치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허브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]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EB1E9046-9340-4D3D-AA23-F89851FB0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240" y="271322"/>
              <a:ext cx="147416" cy="128728"/>
            </a:xfrm>
            <a:prstGeom prst="rect">
              <a:avLst/>
            </a:prstGeom>
          </p:spPr>
        </p:pic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799E618A-B635-413C-90D6-9BBB5F48E4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181315" y="257361"/>
              <a:ext cx="179389" cy="156650"/>
            </a:xfrm>
            <a:prstGeom prst="rect">
              <a:avLst/>
            </a:pr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FCD9B137-9F07-4052-B76C-36D6AED25D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197302" y="276730"/>
              <a:ext cx="147414" cy="128728"/>
            </a:xfrm>
            <a:prstGeom prst="rect">
              <a:avLst/>
            </a:prstGeom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B2D700B-07E0-4E28-A7D2-0F4C62846EE3}"/>
              </a:ext>
            </a:extLst>
          </p:cNvPr>
          <p:cNvGrpSpPr/>
          <p:nvPr/>
        </p:nvGrpSpPr>
        <p:grpSpPr>
          <a:xfrm>
            <a:off x="1488355" y="772187"/>
            <a:ext cx="1564409" cy="707886"/>
            <a:chOff x="796295" y="778765"/>
            <a:chExt cx="1564409" cy="707886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1921C24-9018-417C-966E-E56980F41166}"/>
                </a:ext>
              </a:extLst>
            </p:cNvPr>
            <p:cNvSpPr txBox="1"/>
            <p:nvPr/>
          </p:nvSpPr>
          <p:spPr>
            <a:xfrm>
              <a:off x="1422627" y="778765"/>
              <a:ext cx="938077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함께하는 즐거움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“</a:t>
              </a: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명확한 약속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한눈에 보는 실무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현장 밀착형 지원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변화의 체감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2EAB35A-296C-468C-BCA0-D585048BF4E9}"/>
                </a:ext>
              </a:extLst>
            </p:cNvPr>
            <p:cNvSpPr txBox="1"/>
            <p:nvPr/>
          </p:nvSpPr>
          <p:spPr>
            <a:xfrm>
              <a:off x="796295" y="778765"/>
              <a:ext cx="75373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소통의 광장</a:t>
              </a:r>
              <a:endPara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업무 기준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교육자료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요청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지표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70984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E3E193-F1E8-6947-F01D-A96C1A9F6D0E}"/>
              </a:ext>
            </a:extLst>
          </p:cNvPr>
          <p:cNvSpPr txBox="1"/>
          <p:nvPr/>
        </p:nvSpPr>
        <p:spPr>
          <a:xfrm>
            <a:off x="25241" y="63223"/>
            <a:ext cx="140350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순천향대학교 천안병원 </a:t>
            </a:r>
            <a:r>
              <a:rPr lang="en-US" altLang="ko-KR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| </a:t>
            </a:r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진료지원간호팀 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CCD23336-35E2-7BBF-742C-67D82BDC7617}"/>
              </a:ext>
            </a:extLst>
          </p:cNvPr>
          <p:cNvGrpSpPr/>
          <p:nvPr/>
        </p:nvGrpSpPr>
        <p:grpSpPr>
          <a:xfrm>
            <a:off x="589938" y="838920"/>
            <a:ext cx="634026" cy="568432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40C63F4C-30AB-6EF2-23BA-1233104A9D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B242B433-4D06-F840-EA3E-7FA7766D184C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37DD2CDD-BF9D-CD6A-CC77-30C00DF7A8EA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DD20813D-7C4F-9420-E012-EB09FDC9059E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C2F58D7B-1E2F-7C1C-29C2-3CBAF321313E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60DDF2E-2289-473B-B5F6-77027118C993}"/>
              </a:ext>
            </a:extLst>
          </p:cNvPr>
          <p:cNvGrpSpPr/>
          <p:nvPr/>
        </p:nvGrpSpPr>
        <p:grpSpPr>
          <a:xfrm>
            <a:off x="113069" y="274768"/>
            <a:ext cx="1746464" cy="425416"/>
            <a:chOff x="614240" y="226472"/>
            <a:chExt cx="1746464" cy="42541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F0C02A7-D766-DD14-548E-2AE7955534F4}"/>
                </a:ext>
              </a:extLst>
            </p:cNvPr>
            <p:cNvSpPr txBox="1"/>
            <p:nvPr/>
          </p:nvSpPr>
          <p:spPr>
            <a:xfrm>
              <a:off x="685077" y="226472"/>
              <a:ext cx="1604991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400" dirty="0" err="1">
                  <a:solidFill>
                    <a:srgbClr val="00B0F0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우리가치</a:t>
              </a:r>
              <a:r>
                <a:rPr lang="ko-KR" altLang="en-US" sz="14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400" dirty="0" err="1">
                  <a:solidFill>
                    <a:schemeClr val="accent1">
                      <a:lumMod val="50000"/>
                    </a:schemeClr>
                  </a:solidFill>
                  <a:latin typeface="Franklin Gothic Heavy" panose="020B0903020102020204" pitchFamily="34" charset="0"/>
                  <a:ea typeface="KoPub돋움체 Bold" panose="02020603020101020101" pitchFamily="18" charset="-127"/>
                </a:rPr>
                <a:t>WeValue</a:t>
              </a:r>
              <a:endParaRPr lang="en-US" altLang="ko-KR" sz="1400" dirty="0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5F3C248-44C4-9D7A-C464-62D68C9890DC}"/>
                </a:ext>
              </a:extLst>
            </p:cNvPr>
            <p:cNvSpPr txBox="1"/>
            <p:nvPr/>
          </p:nvSpPr>
          <p:spPr>
            <a:xfrm>
              <a:off x="622591" y="451833"/>
              <a:ext cx="1729962" cy="20005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[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 가치를 만드는 공간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, </a:t>
              </a:r>
              <a:r>
                <a:rPr lang="ko-KR" altLang="en-US" sz="700" b="1" dirty="0" err="1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우리가치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허브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]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EB1E9046-9340-4D3D-AA23-F89851FB0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240" y="271322"/>
              <a:ext cx="147416" cy="128728"/>
            </a:xfrm>
            <a:prstGeom prst="rect">
              <a:avLst/>
            </a:prstGeom>
          </p:spPr>
        </p:pic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799E618A-B635-413C-90D6-9BBB5F48E4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181315" y="257361"/>
              <a:ext cx="179389" cy="156650"/>
            </a:xfrm>
            <a:prstGeom prst="rect">
              <a:avLst/>
            </a:pr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FCD9B137-9F07-4052-B76C-36D6AED25D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197302" y="276730"/>
              <a:ext cx="147414" cy="128728"/>
            </a:xfrm>
            <a:prstGeom prst="rect">
              <a:avLst/>
            </a:prstGeom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B2D700B-07E0-4E28-A7D2-0F4C62846EE3}"/>
              </a:ext>
            </a:extLst>
          </p:cNvPr>
          <p:cNvGrpSpPr/>
          <p:nvPr/>
        </p:nvGrpSpPr>
        <p:grpSpPr>
          <a:xfrm>
            <a:off x="1488355" y="772187"/>
            <a:ext cx="1564409" cy="707886"/>
            <a:chOff x="796295" y="778765"/>
            <a:chExt cx="1564409" cy="707886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1921C24-9018-417C-966E-E56980F41166}"/>
                </a:ext>
              </a:extLst>
            </p:cNvPr>
            <p:cNvSpPr txBox="1"/>
            <p:nvPr/>
          </p:nvSpPr>
          <p:spPr>
            <a:xfrm>
              <a:off x="1422627" y="778765"/>
              <a:ext cx="938077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함께하는 즐거움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“</a:t>
              </a: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명확한 약속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한눈에 보는 실무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현장 밀착형 지원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변화의 체감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2EAB35A-296C-468C-BCA0-D585048BF4E9}"/>
                </a:ext>
              </a:extLst>
            </p:cNvPr>
            <p:cNvSpPr txBox="1"/>
            <p:nvPr/>
          </p:nvSpPr>
          <p:spPr>
            <a:xfrm>
              <a:off x="796295" y="778765"/>
              <a:ext cx="75373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소통의 광장</a:t>
              </a:r>
              <a:endPara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업무 기준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교육자료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요청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지표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171738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E3E193-F1E8-6947-F01D-A96C1A9F6D0E}"/>
              </a:ext>
            </a:extLst>
          </p:cNvPr>
          <p:cNvSpPr txBox="1"/>
          <p:nvPr/>
        </p:nvSpPr>
        <p:spPr>
          <a:xfrm>
            <a:off x="25241" y="63223"/>
            <a:ext cx="140350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순천향대학교 천안병원 </a:t>
            </a:r>
            <a:r>
              <a:rPr lang="en-US" altLang="ko-KR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| </a:t>
            </a:r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진료지원간호팀 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CCD23336-35E2-7BBF-742C-67D82BDC7617}"/>
              </a:ext>
            </a:extLst>
          </p:cNvPr>
          <p:cNvGrpSpPr/>
          <p:nvPr/>
        </p:nvGrpSpPr>
        <p:grpSpPr>
          <a:xfrm>
            <a:off x="589938" y="838920"/>
            <a:ext cx="634026" cy="568432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40C63F4C-30AB-6EF2-23BA-1233104A9D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B242B433-4D06-F840-EA3E-7FA7766D184C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37DD2CDD-BF9D-CD6A-CC77-30C00DF7A8EA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DD20813D-7C4F-9420-E012-EB09FDC9059E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C2F58D7B-1E2F-7C1C-29C2-3CBAF321313E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60DDF2E-2289-473B-B5F6-77027118C993}"/>
              </a:ext>
            </a:extLst>
          </p:cNvPr>
          <p:cNvGrpSpPr/>
          <p:nvPr/>
        </p:nvGrpSpPr>
        <p:grpSpPr>
          <a:xfrm>
            <a:off x="113069" y="274768"/>
            <a:ext cx="1746464" cy="425416"/>
            <a:chOff x="614240" y="226472"/>
            <a:chExt cx="1746464" cy="42541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F0C02A7-D766-DD14-548E-2AE7955534F4}"/>
                </a:ext>
              </a:extLst>
            </p:cNvPr>
            <p:cNvSpPr txBox="1"/>
            <p:nvPr/>
          </p:nvSpPr>
          <p:spPr>
            <a:xfrm>
              <a:off x="685077" y="226472"/>
              <a:ext cx="1604991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400" dirty="0" err="1">
                  <a:solidFill>
                    <a:srgbClr val="00B0F0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우리가치</a:t>
              </a:r>
              <a:r>
                <a:rPr lang="ko-KR" altLang="en-US" sz="14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400" dirty="0" err="1">
                  <a:solidFill>
                    <a:schemeClr val="accent1">
                      <a:lumMod val="50000"/>
                    </a:schemeClr>
                  </a:solidFill>
                  <a:latin typeface="Franklin Gothic Heavy" panose="020B0903020102020204" pitchFamily="34" charset="0"/>
                  <a:ea typeface="KoPub돋움체 Bold" panose="02020603020101020101" pitchFamily="18" charset="-127"/>
                </a:rPr>
                <a:t>WeValue</a:t>
              </a:r>
              <a:endParaRPr lang="en-US" altLang="ko-KR" sz="1400" dirty="0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5F3C248-44C4-9D7A-C464-62D68C9890DC}"/>
                </a:ext>
              </a:extLst>
            </p:cNvPr>
            <p:cNvSpPr txBox="1"/>
            <p:nvPr/>
          </p:nvSpPr>
          <p:spPr>
            <a:xfrm>
              <a:off x="622591" y="451833"/>
              <a:ext cx="1729962" cy="20005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[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 가치를 만드는 공간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, </a:t>
              </a:r>
              <a:r>
                <a:rPr lang="ko-KR" altLang="en-US" sz="700" b="1" dirty="0" err="1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우리가치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허브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]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EB1E9046-9340-4D3D-AA23-F89851FB0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240" y="271322"/>
              <a:ext cx="147416" cy="128728"/>
            </a:xfrm>
            <a:prstGeom prst="rect">
              <a:avLst/>
            </a:prstGeom>
          </p:spPr>
        </p:pic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799E618A-B635-413C-90D6-9BBB5F48E4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181315" y="257361"/>
              <a:ext cx="179389" cy="156650"/>
            </a:xfrm>
            <a:prstGeom prst="rect">
              <a:avLst/>
            </a:pr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FCD9B137-9F07-4052-B76C-36D6AED25D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197302" y="276730"/>
              <a:ext cx="147414" cy="128728"/>
            </a:xfrm>
            <a:prstGeom prst="rect">
              <a:avLst/>
            </a:prstGeom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B2D700B-07E0-4E28-A7D2-0F4C62846EE3}"/>
              </a:ext>
            </a:extLst>
          </p:cNvPr>
          <p:cNvGrpSpPr/>
          <p:nvPr/>
        </p:nvGrpSpPr>
        <p:grpSpPr>
          <a:xfrm>
            <a:off x="1488355" y="772187"/>
            <a:ext cx="1564409" cy="707886"/>
            <a:chOff x="796295" y="778765"/>
            <a:chExt cx="1564409" cy="707886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1921C24-9018-417C-966E-E56980F41166}"/>
                </a:ext>
              </a:extLst>
            </p:cNvPr>
            <p:cNvSpPr txBox="1"/>
            <p:nvPr/>
          </p:nvSpPr>
          <p:spPr>
            <a:xfrm>
              <a:off x="1422627" y="778765"/>
              <a:ext cx="938077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함께하는 즐거움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“</a:t>
              </a: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명확한 약속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한눈에 보는 실무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현장 밀착형 지원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변화의 체감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2EAB35A-296C-468C-BCA0-D585048BF4E9}"/>
                </a:ext>
              </a:extLst>
            </p:cNvPr>
            <p:cNvSpPr txBox="1"/>
            <p:nvPr/>
          </p:nvSpPr>
          <p:spPr>
            <a:xfrm>
              <a:off x="796295" y="778765"/>
              <a:ext cx="75373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소통의 광장</a:t>
              </a:r>
              <a:endPara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업무 기준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교육자료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요청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지표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37608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E3E193-F1E8-6947-F01D-A96C1A9F6D0E}"/>
              </a:ext>
            </a:extLst>
          </p:cNvPr>
          <p:cNvSpPr txBox="1"/>
          <p:nvPr/>
        </p:nvSpPr>
        <p:spPr>
          <a:xfrm>
            <a:off x="25241" y="63223"/>
            <a:ext cx="140350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순천향대학교 천안병원 </a:t>
            </a:r>
            <a:r>
              <a:rPr lang="en-US" altLang="ko-KR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| </a:t>
            </a:r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진료지원간호팀 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CCD23336-35E2-7BBF-742C-67D82BDC7617}"/>
              </a:ext>
            </a:extLst>
          </p:cNvPr>
          <p:cNvGrpSpPr/>
          <p:nvPr/>
        </p:nvGrpSpPr>
        <p:grpSpPr>
          <a:xfrm>
            <a:off x="589938" y="838920"/>
            <a:ext cx="634026" cy="568432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40C63F4C-30AB-6EF2-23BA-1233104A9D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B242B433-4D06-F840-EA3E-7FA7766D184C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37DD2CDD-BF9D-CD6A-CC77-30C00DF7A8EA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DD20813D-7C4F-9420-E012-EB09FDC9059E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C2F58D7B-1E2F-7C1C-29C2-3CBAF321313E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60DDF2E-2289-473B-B5F6-77027118C993}"/>
              </a:ext>
            </a:extLst>
          </p:cNvPr>
          <p:cNvGrpSpPr/>
          <p:nvPr/>
        </p:nvGrpSpPr>
        <p:grpSpPr>
          <a:xfrm>
            <a:off x="113069" y="274768"/>
            <a:ext cx="1746464" cy="425416"/>
            <a:chOff x="614240" y="226472"/>
            <a:chExt cx="1746464" cy="42541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F0C02A7-D766-DD14-548E-2AE7955534F4}"/>
                </a:ext>
              </a:extLst>
            </p:cNvPr>
            <p:cNvSpPr txBox="1"/>
            <p:nvPr/>
          </p:nvSpPr>
          <p:spPr>
            <a:xfrm>
              <a:off x="685077" y="226472"/>
              <a:ext cx="1604991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400" dirty="0" err="1">
                  <a:solidFill>
                    <a:srgbClr val="00B0F0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우리가치</a:t>
              </a:r>
              <a:r>
                <a:rPr lang="ko-KR" altLang="en-US" sz="14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400" dirty="0" err="1">
                  <a:solidFill>
                    <a:schemeClr val="accent1">
                      <a:lumMod val="50000"/>
                    </a:schemeClr>
                  </a:solidFill>
                  <a:latin typeface="Franklin Gothic Heavy" panose="020B0903020102020204" pitchFamily="34" charset="0"/>
                  <a:ea typeface="KoPub돋움체 Bold" panose="02020603020101020101" pitchFamily="18" charset="-127"/>
                </a:rPr>
                <a:t>WeValue</a:t>
              </a:r>
              <a:endParaRPr lang="en-US" altLang="ko-KR" sz="1400" dirty="0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5F3C248-44C4-9D7A-C464-62D68C9890DC}"/>
                </a:ext>
              </a:extLst>
            </p:cNvPr>
            <p:cNvSpPr txBox="1"/>
            <p:nvPr/>
          </p:nvSpPr>
          <p:spPr>
            <a:xfrm>
              <a:off x="622591" y="451833"/>
              <a:ext cx="1729962" cy="20005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[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 가치를 만드는 공간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, </a:t>
              </a:r>
              <a:r>
                <a:rPr lang="ko-KR" altLang="en-US" sz="700" b="1" dirty="0" err="1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우리가치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허브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]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EB1E9046-9340-4D3D-AA23-F89851FB0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240" y="271322"/>
              <a:ext cx="147416" cy="128728"/>
            </a:xfrm>
            <a:prstGeom prst="rect">
              <a:avLst/>
            </a:prstGeom>
          </p:spPr>
        </p:pic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799E618A-B635-413C-90D6-9BBB5F48E4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181315" y="257361"/>
              <a:ext cx="179389" cy="156650"/>
            </a:xfrm>
            <a:prstGeom prst="rect">
              <a:avLst/>
            </a:pr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FCD9B137-9F07-4052-B76C-36D6AED25D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197302" y="276730"/>
              <a:ext cx="147414" cy="128728"/>
            </a:xfrm>
            <a:prstGeom prst="rect">
              <a:avLst/>
            </a:prstGeom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B2D700B-07E0-4E28-A7D2-0F4C62846EE3}"/>
              </a:ext>
            </a:extLst>
          </p:cNvPr>
          <p:cNvGrpSpPr/>
          <p:nvPr/>
        </p:nvGrpSpPr>
        <p:grpSpPr>
          <a:xfrm>
            <a:off x="1488355" y="772187"/>
            <a:ext cx="1564409" cy="707886"/>
            <a:chOff x="796295" y="778765"/>
            <a:chExt cx="1564409" cy="707886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1921C24-9018-417C-966E-E56980F41166}"/>
                </a:ext>
              </a:extLst>
            </p:cNvPr>
            <p:cNvSpPr txBox="1"/>
            <p:nvPr/>
          </p:nvSpPr>
          <p:spPr>
            <a:xfrm>
              <a:off x="1422627" y="778765"/>
              <a:ext cx="938077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함께하는 즐거움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“</a:t>
              </a: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명확한 약속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한눈에 보는 실무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현장 밀착형 지원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변화의 체감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2EAB35A-296C-468C-BCA0-D585048BF4E9}"/>
                </a:ext>
              </a:extLst>
            </p:cNvPr>
            <p:cNvSpPr txBox="1"/>
            <p:nvPr/>
          </p:nvSpPr>
          <p:spPr>
            <a:xfrm>
              <a:off x="796295" y="778765"/>
              <a:ext cx="75373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소통의 광장</a:t>
              </a:r>
              <a:endPara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업무 기준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교육자료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요청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지표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751832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3435</TotalTime>
  <Words>264</Words>
  <Application>Microsoft Office PowerPoint</Application>
  <PresentationFormat>사용자 지정</PresentationFormat>
  <Paragraphs>78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4" baseType="lpstr">
      <vt:lpstr>KoPub돋움체 Bold</vt:lpstr>
      <vt:lpstr>KoPub돋움체 Light</vt:lpstr>
      <vt:lpstr>맑은 고딕</vt:lpstr>
      <vt:lpstr>Arial</vt:lpstr>
      <vt:lpstr>Calibri</vt:lpstr>
      <vt:lpstr>Calibri Light</vt:lpstr>
      <vt:lpstr>Franklin Gothic Heavy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라희 임</dc:creator>
  <cp:lastModifiedBy>rahee</cp:lastModifiedBy>
  <cp:revision>2271</cp:revision>
  <cp:lastPrinted>2026-04-09T12:01:44Z</cp:lastPrinted>
  <dcterms:created xsi:type="dcterms:W3CDTF">2025-05-04T13:56:03Z</dcterms:created>
  <dcterms:modified xsi:type="dcterms:W3CDTF">2026-04-28T17:19:57Z</dcterms:modified>
</cp:coreProperties>
</file>