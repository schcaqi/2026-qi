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70" r:id="rId1"/>
  </p:sldMasterIdLst>
  <p:notesMasterIdLst>
    <p:notesMasterId r:id="rId6"/>
  </p:notesMasterIdLst>
  <p:sldIdLst>
    <p:sldId id="257" r:id="rId2"/>
    <p:sldId id="297" r:id="rId3"/>
    <p:sldId id="262" r:id="rId4"/>
    <p:sldId id="300" r:id="rId5"/>
  </p:sldIdLst>
  <p:sldSz cx="3240088" cy="1800225"/>
  <p:notesSz cx="6858000" cy="994568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5" orient="horz" pos="567" userDrawn="1">
          <p15:clr>
            <a:srgbClr val="A4A3A4"/>
          </p15:clr>
        </p15:guide>
        <p15:guide id="6" orient="horz" pos="201" userDrawn="1">
          <p15:clr>
            <a:srgbClr val="A4A3A4"/>
          </p15:clr>
        </p15:guide>
        <p15:guide id="7" orient="horz" pos="1042" userDrawn="1">
          <p15:clr>
            <a:srgbClr val="A4A3A4"/>
          </p15:clr>
        </p15:guide>
        <p15:guide id="8" pos="1021" userDrawn="1">
          <p15:clr>
            <a:srgbClr val="A4A3A4"/>
          </p15:clr>
        </p15:guide>
        <p15:guide id="9" pos="132" userDrawn="1">
          <p15:clr>
            <a:srgbClr val="A4A3A4"/>
          </p15:clr>
        </p15:guide>
        <p15:guide id="10" pos="190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CC00"/>
    <a:srgbClr val="E2CFF1"/>
    <a:srgbClr val="CC00FF"/>
    <a:srgbClr val="006E99"/>
    <a:srgbClr val="009BD6"/>
    <a:srgbClr val="1E5691"/>
    <a:srgbClr val="DDF6FF"/>
    <a:srgbClr val="F58400"/>
    <a:srgbClr val="FF3300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8EC20E35-A176-4012-BC5E-935CFFF8708E}" styleName="보통 스타일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660B408-B3CF-4A94-85FC-2B1E0A45F4A2}" styleName="어두운 스타일 2 - 강조 1/강조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569" autoAdjust="0"/>
    <p:restoredTop sz="97430" autoAdjust="0"/>
  </p:normalViewPr>
  <p:slideViewPr>
    <p:cSldViewPr snapToGrid="0">
      <p:cViewPr varScale="1">
        <p:scale>
          <a:sx n="196" d="100"/>
          <a:sy n="196" d="100"/>
        </p:scale>
        <p:origin x="1320" y="144"/>
      </p:cViewPr>
      <p:guideLst>
        <p:guide orient="horz" pos="567"/>
        <p:guide orient="horz" pos="201"/>
        <p:guide orient="horz" pos="1042"/>
        <p:guide pos="1021"/>
        <p:guide pos="132"/>
        <p:guide pos="1909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3" y="2"/>
            <a:ext cx="2971800" cy="498476"/>
          </a:xfrm>
          <a:prstGeom prst="rect">
            <a:avLst/>
          </a:prstGeom>
        </p:spPr>
        <p:txBody>
          <a:bodyPr vert="horz" lIns="91405" tIns="45703" rIns="91405" bIns="45703" rtlCol="0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8" y="2"/>
            <a:ext cx="2971800" cy="498476"/>
          </a:xfrm>
          <a:prstGeom prst="rect">
            <a:avLst/>
          </a:prstGeom>
        </p:spPr>
        <p:txBody>
          <a:bodyPr vert="horz" lIns="91405" tIns="45703" rIns="91405" bIns="45703" rtlCol="0"/>
          <a:lstStyle>
            <a:lvl1pPr algn="r">
              <a:defRPr sz="1300"/>
            </a:lvl1pPr>
          </a:lstStyle>
          <a:p>
            <a:fld id="{F929F65E-AEE7-45C5-814B-4468CAF1E537}" type="datetimeFigureOut">
              <a:rPr lang="ko-KR" altLang="en-US" smtClean="0"/>
              <a:t>2026-03-08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407988" y="1241425"/>
            <a:ext cx="6042025" cy="335756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05" tIns="45703" rIns="91405" bIns="45703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786311"/>
            <a:ext cx="5486400" cy="3916364"/>
          </a:xfrm>
          <a:prstGeom prst="rect">
            <a:avLst/>
          </a:prstGeom>
        </p:spPr>
        <p:txBody>
          <a:bodyPr vert="horz" lIns="91405" tIns="45703" rIns="91405" bIns="45703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3" y="9447214"/>
            <a:ext cx="2971800" cy="498476"/>
          </a:xfrm>
          <a:prstGeom prst="rect">
            <a:avLst/>
          </a:prstGeom>
        </p:spPr>
        <p:txBody>
          <a:bodyPr vert="horz" lIns="91405" tIns="45703" rIns="91405" bIns="45703" rtlCol="0" anchor="b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8" y="9447214"/>
            <a:ext cx="2971800" cy="498476"/>
          </a:xfrm>
          <a:prstGeom prst="rect">
            <a:avLst/>
          </a:prstGeom>
        </p:spPr>
        <p:txBody>
          <a:bodyPr vert="horz" lIns="91405" tIns="45703" rIns="91405" bIns="45703" rtlCol="0" anchor="b"/>
          <a:lstStyle>
            <a:lvl1pPr algn="r">
              <a:defRPr sz="1300"/>
            </a:lvl1pPr>
          </a:lstStyle>
          <a:p>
            <a:fld id="{6A73BE5E-839E-45D1-B8A5-13B23A9454A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12117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1pPr>
    <a:lvl2pPr marL="83723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2pPr>
    <a:lvl3pPr marL="167445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3pPr>
    <a:lvl4pPr marL="251168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4pPr>
    <a:lvl5pPr marL="334890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5pPr>
    <a:lvl6pPr marL="418613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6pPr>
    <a:lvl7pPr marL="502335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7pPr>
    <a:lvl8pPr marL="586058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8pPr>
    <a:lvl9pPr marL="669781" algn="l" defTabSz="167445" rtl="0" eaLnBrk="1" latinLnBrk="1" hangingPunct="1">
      <a:defRPr sz="22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05011" y="294620"/>
            <a:ext cx="2430066" cy="626745"/>
          </a:xfrm>
        </p:spPr>
        <p:txBody>
          <a:bodyPr anchor="b"/>
          <a:lstStyle>
            <a:lvl1pPr algn="ctr">
              <a:defRPr sz="1575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05011" y="945535"/>
            <a:ext cx="2430066" cy="434638"/>
          </a:xfrm>
        </p:spPr>
        <p:txBody>
          <a:bodyPr/>
          <a:lstStyle>
            <a:lvl1pPr marL="0" indent="0" algn="ctr">
              <a:buNone/>
              <a:defRPr sz="630"/>
            </a:lvl1pPr>
            <a:lvl2pPr marL="120015" indent="0" algn="ctr">
              <a:buNone/>
              <a:defRPr sz="525"/>
            </a:lvl2pPr>
            <a:lvl3pPr marL="240030" indent="0" algn="ctr">
              <a:buNone/>
              <a:defRPr sz="472"/>
            </a:lvl3pPr>
            <a:lvl4pPr marL="360045" indent="0" algn="ctr">
              <a:buNone/>
              <a:defRPr sz="420"/>
            </a:lvl4pPr>
            <a:lvl5pPr marL="480060" indent="0" algn="ctr">
              <a:buNone/>
              <a:defRPr sz="420"/>
            </a:lvl5pPr>
            <a:lvl6pPr marL="600075" indent="0" algn="ctr">
              <a:buNone/>
              <a:defRPr sz="420"/>
            </a:lvl6pPr>
            <a:lvl7pPr marL="720090" indent="0" algn="ctr">
              <a:buNone/>
              <a:defRPr sz="420"/>
            </a:lvl7pPr>
            <a:lvl8pPr marL="840105" indent="0" algn="ctr">
              <a:buNone/>
              <a:defRPr sz="420"/>
            </a:lvl8pPr>
            <a:lvl9pPr marL="960120" indent="0" algn="ctr">
              <a:buNone/>
              <a:defRPr sz="42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2026-03-08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533758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2026-03-08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340034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1068" y="448807"/>
            <a:ext cx="2794576" cy="748843"/>
          </a:xfrm>
        </p:spPr>
        <p:txBody>
          <a:bodyPr anchor="b"/>
          <a:lstStyle>
            <a:lvl1pPr>
              <a:defRPr sz="1575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1068" y="1204734"/>
            <a:ext cx="2794576" cy="393799"/>
          </a:xfrm>
        </p:spPr>
        <p:txBody>
          <a:bodyPr/>
          <a:lstStyle>
            <a:lvl1pPr marL="0" indent="0">
              <a:buNone/>
              <a:defRPr sz="630">
                <a:solidFill>
                  <a:schemeClr val="tx1">
                    <a:tint val="75000"/>
                  </a:schemeClr>
                </a:solidFill>
              </a:defRPr>
            </a:lvl1pPr>
            <a:lvl2pPr marL="120015" indent="0">
              <a:buNone/>
              <a:defRPr sz="525">
                <a:solidFill>
                  <a:schemeClr val="tx1">
                    <a:tint val="75000"/>
                  </a:schemeClr>
                </a:solidFill>
              </a:defRPr>
            </a:lvl2pPr>
            <a:lvl3pPr marL="240030" indent="0">
              <a:buNone/>
              <a:defRPr sz="472">
                <a:solidFill>
                  <a:schemeClr val="tx1">
                    <a:tint val="75000"/>
                  </a:schemeClr>
                </a:solidFill>
              </a:defRPr>
            </a:lvl3pPr>
            <a:lvl4pPr marL="360045" indent="0">
              <a:buNone/>
              <a:defRPr sz="420">
                <a:solidFill>
                  <a:schemeClr val="tx1">
                    <a:tint val="75000"/>
                  </a:schemeClr>
                </a:solidFill>
              </a:defRPr>
            </a:lvl4pPr>
            <a:lvl5pPr marL="480060" indent="0">
              <a:buNone/>
              <a:defRPr sz="420">
                <a:solidFill>
                  <a:schemeClr val="tx1">
                    <a:tint val="75000"/>
                  </a:schemeClr>
                </a:solidFill>
              </a:defRPr>
            </a:lvl5pPr>
            <a:lvl6pPr marL="600075" indent="0">
              <a:buNone/>
              <a:defRPr sz="420">
                <a:solidFill>
                  <a:schemeClr val="tx1">
                    <a:tint val="75000"/>
                  </a:schemeClr>
                </a:solidFill>
              </a:defRPr>
            </a:lvl6pPr>
            <a:lvl7pPr marL="720090" indent="0">
              <a:buNone/>
              <a:defRPr sz="420">
                <a:solidFill>
                  <a:schemeClr val="tx1">
                    <a:tint val="75000"/>
                  </a:schemeClr>
                </a:solidFill>
              </a:defRPr>
            </a:lvl7pPr>
            <a:lvl8pPr marL="840105" indent="0">
              <a:buNone/>
              <a:defRPr sz="420">
                <a:solidFill>
                  <a:schemeClr val="tx1">
                    <a:tint val="75000"/>
                  </a:schemeClr>
                </a:solidFill>
              </a:defRPr>
            </a:lvl8pPr>
            <a:lvl9pPr marL="960120" indent="0">
              <a:buNone/>
              <a:defRPr sz="42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2026-03-08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348713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2756" y="479227"/>
            <a:ext cx="1377037" cy="114222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640295" y="479227"/>
            <a:ext cx="1377037" cy="114222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2026-03-08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659103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3178" y="95846"/>
            <a:ext cx="2794576" cy="347960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178" y="441305"/>
            <a:ext cx="1370709" cy="216277"/>
          </a:xfrm>
        </p:spPr>
        <p:txBody>
          <a:bodyPr anchor="b"/>
          <a:lstStyle>
            <a:lvl1pPr marL="0" indent="0">
              <a:buNone/>
              <a:defRPr sz="630" b="1"/>
            </a:lvl1pPr>
            <a:lvl2pPr marL="120015" indent="0">
              <a:buNone/>
              <a:defRPr sz="525" b="1"/>
            </a:lvl2pPr>
            <a:lvl3pPr marL="240030" indent="0">
              <a:buNone/>
              <a:defRPr sz="472" b="1"/>
            </a:lvl3pPr>
            <a:lvl4pPr marL="360045" indent="0">
              <a:buNone/>
              <a:defRPr sz="420" b="1"/>
            </a:lvl4pPr>
            <a:lvl5pPr marL="480060" indent="0">
              <a:buNone/>
              <a:defRPr sz="420" b="1"/>
            </a:lvl5pPr>
            <a:lvl6pPr marL="600075" indent="0">
              <a:buNone/>
              <a:defRPr sz="420" b="1"/>
            </a:lvl6pPr>
            <a:lvl7pPr marL="720090" indent="0">
              <a:buNone/>
              <a:defRPr sz="420" b="1"/>
            </a:lvl7pPr>
            <a:lvl8pPr marL="840105" indent="0">
              <a:buNone/>
              <a:defRPr sz="420" b="1"/>
            </a:lvl8pPr>
            <a:lvl9pPr marL="960120" indent="0">
              <a:buNone/>
              <a:defRPr sz="42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23178" y="657582"/>
            <a:ext cx="1370709" cy="96720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640295" y="441305"/>
            <a:ext cx="1377459" cy="216277"/>
          </a:xfrm>
        </p:spPr>
        <p:txBody>
          <a:bodyPr anchor="b"/>
          <a:lstStyle>
            <a:lvl1pPr marL="0" indent="0">
              <a:buNone/>
              <a:defRPr sz="630" b="1"/>
            </a:lvl1pPr>
            <a:lvl2pPr marL="120015" indent="0">
              <a:buNone/>
              <a:defRPr sz="525" b="1"/>
            </a:lvl2pPr>
            <a:lvl3pPr marL="240030" indent="0">
              <a:buNone/>
              <a:defRPr sz="472" b="1"/>
            </a:lvl3pPr>
            <a:lvl4pPr marL="360045" indent="0">
              <a:buNone/>
              <a:defRPr sz="420" b="1"/>
            </a:lvl4pPr>
            <a:lvl5pPr marL="480060" indent="0">
              <a:buNone/>
              <a:defRPr sz="420" b="1"/>
            </a:lvl5pPr>
            <a:lvl6pPr marL="600075" indent="0">
              <a:buNone/>
              <a:defRPr sz="420" b="1"/>
            </a:lvl6pPr>
            <a:lvl7pPr marL="720090" indent="0">
              <a:buNone/>
              <a:defRPr sz="420" b="1"/>
            </a:lvl7pPr>
            <a:lvl8pPr marL="840105" indent="0">
              <a:buNone/>
              <a:defRPr sz="420" b="1"/>
            </a:lvl8pPr>
            <a:lvl9pPr marL="960120" indent="0">
              <a:buNone/>
              <a:defRPr sz="42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640295" y="657582"/>
            <a:ext cx="1377459" cy="96720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2026-03-08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640502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2026-03-08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63434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2026-03-08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957383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3178" y="120015"/>
            <a:ext cx="1045013" cy="420053"/>
          </a:xfrm>
        </p:spPr>
        <p:txBody>
          <a:bodyPr anchor="b"/>
          <a:lstStyle>
            <a:lvl1pPr>
              <a:defRPr sz="84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77459" y="259199"/>
            <a:ext cx="1640295" cy="1279327"/>
          </a:xfrm>
        </p:spPr>
        <p:txBody>
          <a:bodyPr/>
          <a:lstStyle>
            <a:lvl1pPr>
              <a:defRPr sz="840"/>
            </a:lvl1pPr>
            <a:lvl2pPr>
              <a:defRPr sz="735"/>
            </a:lvl2pPr>
            <a:lvl3pPr>
              <a:defRPr sz="630"/>
            </a:lvl3pPr>
            <a:lvl4pPr>
              <a:defRPr sz="525"/>
            </a:lvl4pPr>
            <a:lvl5pPr>
              <a:defRPr sz="525"/>
            </a:lvl5pPr>
            <a:lvl6pPr>
              <a:defRPr sz="525"/>
            </a:lvl6pPr>
            <a:lvl7pPr>
              <a:defRPr sz="525"/>
            </a:lvl7pPr>
            <a:lvl8pPr>
              <a:defRPr sz="525"/>
            </a:lvl8pPr>
            <a:lvl9pPr>
              <a:defRPr sz="525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23178" y="540067"/>
            <a:ext cx="1045013" cy="1000542"/>
          </a:xfrm>
        </p:spPr>
        <p:txBody>
          <a:bodyPr/>
          <a:lstStyle>
            <a:lvl1pPr marL="0" indent="0">
              <a:buNone/>
              <a:defRPr sz="420"/>
            </a:lvl1pPr>
            <a:lvl2pPr marL="120015" indent="0">
              <a:buNone/>
              <a:defRPr sz="368"/>
            </a:lvl2pPr>
            <a:lvl3pPr marL="240030" indent="0">
              <a:buNone/>
              <a:defRPr sz="315"/>
            </a:lvl3pPr>
            <a:lvl4pPr marL="360045" indent="0">
              <a:buNone/>
              <a:defRPr sz="263"/>
            </a:lvl4pPr>
            <a:lvl5pPr marL="480060" indent="0">
              <a:buNone/>
              <a:defRPr sz="263"/>
            </a:lvl5pPr>
            <a:lvl6pPr marL="600075" indent="0">
              <a:buNone/>
              <a:defRPr sz="263"/>
            </a:lvl6pPr>
            <a:lvl7pPr marL="720090" indent="0">
              <a:buNone/>
              <a:defRPr sz="263"/>
            </a:lvl7pPr>
            <a:lvl8pPr marL="840105" indent="0">
              <a:buNone/>
              <a:defRPr sz="263"/>
            </a:lvl8pPr>
            <a:lvl9pPr marL="960120" indent="0">
              <a:buNone/>
              <a:defRPr sz="263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2026-03-08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356585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3178" y="120015"/>
            <a:ext cx="1045013" cy="420053"/>
          </a:xfrm>
        </p:spPr>
        <p:txBody>
          <a:bodyPr anchor="b"/>
          <a:lstStyle>
            <a:lvl1pPr>
              <a:defRPr sz="84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377459" y="259199"/>
            <a:ext cx="1640295" cy="1279327"/>
          </a:xfrm>
        </p:spPr>
        <p:txBody>
          <a:bodyPr anchor="t"/>
          <a:lstStyle>
            <a:lvl1pPr marL="0" indent="0">
              <a:buNone/>
              <a:defRPr sz="840"/>
            </a:lvl1pPr>
            <a:lvl2pPr marL="120015" indent="0">
              <a:buNone/>
              <a:defRPr sz="735"/>
            </a:lvl2pPr>
            <a:lvl3pPr marL="240030" indent="0">
              <a:buNone/>
              <a:defRPr sz="630"/>
            </a:lvl3pPr>
            <a:lvl4pPr marL="360045" indent="0">
              <a:buNone/>
              <a:defRPr sz="525"/>
            </a:lvl4pPr>
            <a:lvl5pPr marL="480060" indent="0">
              <a:buNone/>
              <a:defRPr sz="525"/>
            </a:lvl5pPr>
            <a:lvl6pPr marL="600075" indent="0">
              <a:buNone/>
              <a:defRPr sz="525"/>
            </a:lvl6pPr>
            <a:lvl7pPr marL="720090" indent="0">
              <a:buNone/>
              <a:defRPr sz="525"/>
            </a:lvl7pPr>
            <a:lvl8pPr marL="840105" indent="0">
              <a:buNone/>
              <a:defRPr sz="525"/>
            </a:lvl8pPr>
            <a:lvl9pPr marL="960120" indent="0">
              <a:buNone/>
              <a:defRPr sz="525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23178" y="540067"/>
            <a:ext cx="1045013" cy="1000542"/>
          </a:xfrm>
        </p:spPr>
        <p:txBody>
          <a:bodyPr/>
          <a:lstStyle>
            <a:lvl1pPr marL="0" indent="0">
              <a:buNone/>
              <a:defRPr sz="420"/>
            </a:lvl1pPr>
            <a:lvl2pPr marL="120015" indent="0">
              <a:buNone/>
              <a:defRPr sz="368"/>
            </a:lvl2pPr>
            <a:lvl3pPr marL="240030" indent="0">
              <a:buNone/>
              <a:defRPr sz="315"/>
            </a:lvl3pPr>
            <a:lvl4pPr marL="360045" indent="0">
              <a:buNone/>
              <a:defRPr sz="263"/>
            </a:lvl4pPr>
            <a:lvl5pPr marL="480060" indent="0">
              <a:buNone/>
              <a:defRPr sz="263"/>
            </a:lvl5pPr>
            <a:lvl6pPr marL="600075" indent="0">
              <a:buNone/>
              <a:defRPr sz="263"/>
            </a:lvl6pPr>
            <a:lvl7pPr marL="720090" indent="0">
              <a:buNone/>
              <a:defRPr sz="263"/>
            </a:lvl7pPr>
            <a:lvl8pPr marL="840105" indent="0">
              <a:buNone/>
              <a:defRPr sz="263"/>
            </a:lvl8pPr>
            <a:lvl9pPr marL="960120" indent="0">
              <a:buNone/>
              <a:defRPr sz="263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2026-03-08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452496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2026-03-08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500279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318688" y="95846"/>
            <a:ext cx="698644" cy="152560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2756" y="95846"/>
            <a:ext cx="2055431" cy="152560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F34B4-7175-41BD-B98B-2E7021201D7D}" type="datetimeFigureOut">
              <a:rPr lang="ko-KR" altLang="en-US" smtClean="0"/>
              <a:t>2026-03-08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153960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3E62ED5C-FF61-A53B-4625-47CAC86DF448}"/>
              </a:ext>
            </a:extLst>
          </p:cNvPr>
          <p:cNvSpPr/>
          <p:nvPr userDrawn="1"/>
        </p:nvSpPr>
        <p:spPr>
          <a:xfrm>
            <a:off x="1" y="0"/>
            <a:ext cx="3246839" cy="1800225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9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10793EE-E7D0-EF83-74D1-BEF25BB9304F}"/>
              </a:ext>
            </a:extLst>
          </p:cNvPr>
          <p:cNvSpPr/>
          <p:nvPr userDrawn="1"/>
        </p:nvSpPr>
        <p:spPr>
          <a:xfrm>
            <a:off x="29909" y="30482"/>
            <a:ext cx="3182265" cy="172846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9"/>
          </a:p>
        </p:txBody>
      </p:sp>
      <p:pic>
        <p:nvPicPr>
          <p:cNvPr id="9" name="Picture 1">
            <a:extLst>
              <a:ext uri="{FF2B5EF4-FFF2-40B4-BE49-F238E27FC236}">
                <a16:creationId xmlns:a16="http://schemas.microsoft.com/office/drawing/2014/main" id="{5C76C7A1-71AE-1C7D-2C36-7DEA1D47FF0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790825" y="81588"/>
            <a:ext cx="363162" cy="203042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9BA0C91-E2D0-A166-2BE8-3501CE9BABF8}"/>
              </a:ext>
            </a:extLst>
          </p:cNvPr>
          <p:cNvSpPr txBox="1"/>
          <p:nvPr userDrawn="1"/>
        </p:nvSpPr>
        <p:spPr>
          <a:xfrm>
            <a:off x="2098273" y="1569905"/>
            <a:ext cx="1141815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500" b="1" dirty="0">
                <a:solidFill>
                  <a:srgbClr val="4472C4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진료지원간호팀</a:t>
            </a:r>
            <a:endParaRPr lang="ko-KR" altLang="en-US" sz="600" b="1" dirty="0">
              <a:solidFill>
                <a:srgbClr val="4472C4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445135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67">
          <p15:clr>
            <a:srgbClr val="FBAE40"/>
          </p15:clr>
        </p15:guide>
        <p15:guide id="2" pos="102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3E62ED5C-FF61-A53B-4625-47CAC86DF448}"/>
              </a:ext>
            </a:extLst>
          </p:cNvPr>
          <p:cNvSpPr/>
          <p:nvPr userDrawn="1"/>
        </p:nvSpPr>
        <p:spPr>
          <a:xfrm>
            <a:off x="1" y="0"/>
            <a:ext cx="3246839" cy="1800225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9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10793EE-E7D0-EF83-74D1-BEF25BB9304F}"/>
              </a:ext>
            </a:extLst>
          </p:cNvPr>
          <p:cNvSpPr/>
          <p:nvPr userDrawn="1"/>
        </p:nvSpPr>
        <p:spPr>
          <a:xfrm>
            <a:off x="45477" y="17494"/>
            <a:ext cx="3154111" cy="176451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9"/>
          </a:p>
        </p:txBody>
      </p:sp>
      <p:pic>
        <p:nvPicPr>
          <p:cNvPr id="9" name="Picture 1">
            <a:extLst>
              <a:ext uri="{FF2B5EF4-FFF2-40B4-BE49-F238E27FC236}">
                <a16:creationId xmlns:a16="http://schemas.microsoft.com/office/drawing/2014/main" id="{5C76C7A1-71AE-1C7D-2C36-7DEA1D47FF0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829499" y="29235"/>
            <a:ext cx="324488" cy="75610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3256578-F800-6850-5D6B-02ED7EBACB52}"/>
              </a:ext>
            </a:extLst>
          </p:cNvPr>
          <p:cNvSpPr txBox="1"/>
          <p:nvPr userDrawn="1"/>
        </p:nvSpPr>
        <p:spPr>
          <a:xfrm>
            <a:off x="2890773" y="1686920"/>
            <a:ext cx="263214" cy="1231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sz="100" b="1" dirty="0">
                <a:solidFill>
                  <a:srgbClr val="4472C4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진료지원간호팀</a:t>
            </a:r>
            <a:endParaRPr lang="en-US" altLang="ko-KR" sz="100" b="1" dirty="0">
              <a:solidFill>
                <a:srgbClr val="4472C4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pPr algn="r"/>
            <a:r>
              <a:rPr lang="ko-KR" altLang="en-US" sz="100" b="1" dirty="0">
                <a:solidFill>
                  <a:srgbClr val="4472C4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이비인후과</a:t>
            </a:r>
          </a:p>
        </p:txBody>
      </p:sp>
    </p:spTree>
    <p:extLst>
      <p:ext uri="{BB962C8B-B14F-4D97-AF65-F5344CB8AC3E}">
        <p14:creationId xmlns:p14="http://schemas.microsoft.com/office/powerpoint/2010/main" val="27373035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67" userDrawn="1">
          <p15:clr>
            <a:srgbClr val="FBAE40"/>
          </p15:clr>
        </p15:guide>
        <p15:guide id="2" pos="1021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3E62ED5C-FF61-A53B-4625-47CAC86DF448}"/>
              </a:ext>
            </a:extLst>
          </p:cNvPr>
          <p:cNvSpPr/>
          <p:nvPr userDrawn="1"/>
        </p:nvSpPr>
        <p:spPr>
          <a:xfrm>
            <a:off x="1" y="0"/>
            <a:ext cx="3246839" cy="1800225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9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10793EE-E7D0-EF83-74D1-BEF25BB9304F}"/>
              </a:ext>
            </a:extLst>
          </p:cNvPr>
          <p:cNvSpPr/>
          <p:nvPr userDrawn="1"/>
        </p:nvSpPr>
        <p:spPr>
          <a:xfrm>
            <a:off x="45477" y="17494"/>
            <a:ext cx="3154111" cy="176451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9" dirty="0"/>
          </a:p>
        </p:txBody>
      </p:sp>
      <p:pic>
        <p:nvPicPr>
          <p:cNvPr id="9" name="Picture 1">
            <a:extLst>
              <a:ext uri="{FF2B5EF4-FFF2-40B4-BE49-F238E27FC236}">
                <a16:creationId xmlns:a16="http://schemas.microsoft.com/office/drawing/2014/main" id="{5C76C7A1-71AE-1C7D-2C36-7DEA1D47FF0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827923" y="29235"/>
            <a:ext cx="324488" cy="75610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AD82B35-E786-6435-BBDD-C02B0C93E120}"/>
              </a:ext>
            </a:extLst>
          </p:cNvPr>
          <p:cNvSpPr txBox="1"/>
          <p:nvPr userDrawn="1"/>
        </p:nvSpPr>
        <p:spPr>
          <a:xfrm>
            <a:off x="2863523" y="1707219"/>
            <a:ext cx="290464" cy="1077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sz="100" b="1" dirty="0">
                <a:solidFill>
                  <a:srgbClr val="4472C4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이비인후과 </a:t>
            </a:r>
            <a:r>
              <a:rPr lang="en-US" altLang="ko-KR" sz="100" b="1" dirty="0">
                <a:solidFill>
                  <a:srgbClr val="4472C4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131</a:t>
            </a:r>
            <a:r>
              <a:rPr lang="ko-KR" altLang="en-US" sz="100" b="1" dirty="0">
                <a:solidFill>
                  <a:srgbClr val="4472C4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병동</a:t>
            </a:r>
          </a:p>
        </p:txBody>
      </p:sp>
    </p:spTree>
    <p:extLst>
      <p:ext uri="{BB962C8B-B14F-4D97-AF65-F5344CB8AC3E}">
        <p14:creationId xmlns:p14="http://schemas.microsoft.com/office/powerpoint/2010/main" val="5013630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67" userDrawn="1">
          <p15:clr>
            <a:srgbClr val="FBAE40"/>
          </p15:clr>
        </p15:guide>
        <p15:guide id="2" pos="1021" userDrawn="1">
          <p15:clr>
            <a:srgbClr val="FBAE40"/>
          </p15:clr>
        </p15:guide>
        <p15:guide id="3" orient="horz" pos="69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22756" y="95846"/>
            <a:ext cx="2794576" cy="3479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2756" y="479227"/>
            <a:ext cx="2794576" cy="114222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22756" y="1668542"/>
            <a:ext cx="729020" cy="9584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1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49F34B4-7175-41BD-B98B-2E7021201D7D}" type="datetimeFigureOut">
              <a:rPr lang="ko-KR" altLang="en-US" smtClean="0"/>
              <a:t>2026-03-08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73279" y="1668542"/>
            <a:ext cx="1093530" cy="9584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1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288312" y="1668542"/>
            <a:ext cx="729020" cy="9584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1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ED5FCEB-A2D1-4D59-AF46-A7E67E2EF86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26594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71" r:id="rId1"/>
    <p:sldLayoutId id="2147483872" r:id="rId2"/>
    <p:sldLayoutId id="2147483873" r:id="rId3"/>
    <p:sldLayoutId id="2147483874" r:id="rId4"/>
    <p:sldLayoutId id="2147483875" r:id="rId5"/>
    <p:sldLayoutId id="2147483876" r:id="rId6"/>
    <p:sldLayoutId id="2147483877" r:id="rId7"/>
    <p:sldLayoutId id="2147483878" r:id="rId8"/>
    <p:sldLayoutId id="2147483879" r:id="rId9"/>
    <p:sldLayoutId id="2147483880" r:id="rId10"/>
    <p:sldLayoutId id="2147483881" r:id="rId11"/>
    <p:sldLayoutId id="2147483882" r:id="rId12"/>
    <p:sldLayoutId id="2147483790" r:id="rId13"/>
    <p:sldLayoutId id="2147483789" r:id="rId14"/>
  </p:sldLayoutIdLst>
  <p:txStyles>
    <p:titleStyle>
      <a:lvl1pPr algn="l" defTabSz="240030" rtl="0" eaLnBrk="1" latinLnBrk="1" hangingPunct="1">
        <a:lnSpc>
          <a:spcPct val="90000"/>
        </a:lnSpc>
        <a:spcBef>
          <a:spcPct val="0"/>
        </a:spcBef>
        <a:buNone/>
        <a:defRPr sz="115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60008" indent="-60008" algn="l" defTabSz="240030" rtl="0" eaLnBrk="1" latinLnBrk="1" hangingPunct="1">
        <a:lnSpc>
          <a:spcPct val="90000"/>
        </a:lnSpc>
        <a:spcBef>
          <a:spcPts val="263"/>
        </a:spcBef>
        <a:buFont typeface="Arial" panose="020B0604020202020204" pitchFamily="34" charset="0"/>
        <a:buChar char="•"/>
        <a:defRPr sz="735" kern="1200">
          <a:solidFill>
            <a:schemeClr val="tx1"/>
          </a:solidFill>
          <a:latin typeface="+mn-lt"/>
          <a:ea typeface="+mn-ea"/>
          <a:cs typeface="+mn-cs"/>
        </a:defRPr>
      </a:lvl1pPr>
      <a:lvl2pPr marL="180023" indent="-60008" algn="l" defTabSz="240030" rtl="0" eaLnBrk="1" latinLnBrk="1" hangingPunct="1">
        <a:lnSpc>
          <a:spcPct val="90000"/>
        </a:lnSpc>
        <a:spcBef>
          <a:spcPts val="131"/>
        </a:spcBef>
        <a:buFont typeface="Arial" panose="020B0604020202020204" pitchFamily="34" charset="0"/>
        <a:buChar char="•"/>
        <a:defRPr sz="630" kern="1200">
          <a:solidFill>
            <a:schemeClr val="tx1"/>
          </a:solidFill>
          <a:latin typeface="+mn-lt"/>
          <a:ea typeface="+mn-ea"/>
          <a:cs typeface="+mn-cs"/>
        </a:defRPr>
      </a:lvl2pPr>
      <a:lvl3pPr marL="300038" indent="-60008" algn="l" defTabSz="240030" rtl="0" eaLnBrk="1" latinLnBrk="1" hangingPunct="1">
        <a:lnSpc>
          <a:spcPct val="90000"/>
        </a:lnSpc>
        <a:spcBef>
          <a:spcPts val="131"/>
        </a:spcBef>
        <a:buFont typeface="Arial" panose="020B0604020202020204" pitchFamily="34" charset="0"/>
        <a:buChar char="•"/>
        <a:defRPr sz="525" kern="1200">
          <a:solidFill>
            <a:schemeClr val="tx1"/>
          </a:solidFill>
          <a:latin typeface="+mn-lt"/>
          <a:ea typeface="+mn-ea"/>
          <a:cs typeface="+mn-cs"/>
        </a:defRPr>
      </a:lvl3pPr>
      <a:lvl4pPr marL="420053" indent="-60008" algn="l" defTabSz="240030" rtl="0" eaLnBrk="1" latinLnBrk="1" hangingPunct="1">
        <a:lnSpc>
          <a:spcPct val="90000"/>
        </a:lnSpc>
        <a:spcBef>
          <a:spcPts val="131"/>
        </a:spcBef>
        <a:buFont typeface="Arial" panose="020B0604020202020204" pitchFamily="34" charset="0"/>
        <a:buChar char="•"/>
        <a:defRPr sz="472" kern="1200">
          <a:solidFill>
            <a:schemeClr val="tx1"/>
          </a:solidFill>
          <a:latin typeface="+mn-lt"/>
          <a:ea typeface="+mn-ea"/>
          <a:cs typeface="+mn-cs"/>
        </a:defRPr>
      </a:lvl4pPr>
      <a:lvl5pPr marL="540068" indent="-60008" algn="l" defTabSz="240030" rtl="0" eaLnBrk="1" latinLnBrk="1" hangingPunct="1">
        <a:lnSpc>
          <a:spcPct val="90000"/>
        </a:lnSpc>
        <a:spcBef>
          <a:spcPts val="131"/>
        </a:spcBef>
        <a:buFont typeface="Arial" panose="020B0604020202020204" pitchFamily="34" charset="0"/>
        <a:buChar char="•"/>
        <a:defRPr sz="472" kern="1200">
          <a:solidFill>
            <a:schemeClr val="tx1"/>
          </a:solidFill>
          <a:latin typeface="+mn-lt"/>
          <a:ea typeface="+mn-ea"/>
          <a:cs typeface="+mn-cs"/>
        </a:defRPr>
      </a:lvl5pPr>
      <a:lvl6pPr marL="660083" indent="-60008" algn="l" defTabSz="240030" rtl="0" eaLnBrk="1" latinLnBrk="1" hangingPunct="1">
        <a:lnSpc>
          <a:spcPct val="90000"/>
        </a:lnSpc>
        <a:spcBef>
          <a:spcPts val="131"/>
        </a:spcBef>
        <a:buFont typeface="Arial" panose="020B0604020202020204" pitchFamily="34" charset="0"/>
        <a:buChar char="•"/>
        <a:defRPr sz="472" kern="1200">
          <a:solidFill>
            <a:schemeClr val="tx1"/>
          </a:solidFill>
          <a:latin typeface="+mn-lt"/>
          <a:ea typeface="+mn-ea"/>
          <a:cs typeface="+mn-cs"/>
        </a:defRPr>
      </a:lvl6pPr>
      <a:lvl7pPr marL="780098" indent="-60008" algn="l" defTabSz="240030" rtl="0" eaLnBrk="1" latinLnBrk="1" hangingPunct="1">
        <a:lnSpc>
          <a:spcPct val="90000"/>
        </a:lnSpc>
        <a:spcBef>
          <a:spcPts val="131"/>
        </a:spcBef>
        <a:buFont typeface="Arial" panose="020B0604020202020204" pitchFamily="34" charset="0"/>
        <a:buChar char="•"/>
        <a:defRPr sz="472" kern="1200">
          <a:solidFill>
            <a:schemeClr val="tx1"/>
          </a:solidFill>
          <a:latin typeface="+mn-lt"/>
          <a:ea typeface="+mn-ea"/>
          <a:cs typeface="+mn-cs"/>
        </a:defRPr>
      </a:lvl7pPr>
      <a:lvl8pPr marL="900113" indent="-60008" algn="l" defTabSz="240030" rtl="0" eaLnBrk="1" latinLnBrk="1" hangingPunct="1">
        <a:lnSpc>
          <a:spcPct val="90000"/>
        </a:lnSpc>
        <a:spcBef>
          <a:spcPts val="131"/>
        </a:spcBef>
        <a:buFont typeface="Arial" panose="020B0604020202020204" pitchFamily="34" charset="0"/>
        <a:buChar char="•"/>
        <a:defRPr sz="472" kern="1200">
          <a:solidFill>
            <a:schemeClr val="tx1"/>
          </a:solidFill>
          <a:latin typeface="+mn-lt"/>
          <a:ea typeface="+mn-ea"/>
          <a:cs typeface="+mn-cs"/>
        </a:defRPr>
      </a:lvl8pPr>
      <a:lvl9pPr marL="1020128" indent="-60008" algn="l" defTabSz="240030" rtl="0" eaLnBrk="1" latinLnBrk="1" hangingPunct="1">
        <a:lnSpc>
          <a:spcPct val="90000"/>
        </a:lnSpc>
        <a:spcBef>
          <a:spcPts val="131"/>
        </a:spcBef>
        <a:buFont typeface="Arial" panose="020B0604020202020204" pitchFamily="34" charset="0"/>
        <a:buChar char="•"/>
        <a:defRPr sz="472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1pPr>
      <a:lvl2pPr marL="120015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2pPr>
      <a:lvl3pPr marL="240030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3pPr>
      <a:lvl4pPr marL="360045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4pPr>
      <a:lvl5pPr marL="480060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5pPr>
      <a:lvl6pPr marL="600075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6pPr>
      <a:lvl7pPr marL="720090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7pPr>
      <a:lvl8pPr marL="840105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8pPr>
      <a:lvl9pPr marL="960120" algn="l" defTabSz="240030" rtl="0" eaLnBrk="1" latinLnBrk="1" hangingPunct="1">
        <a:defRPr sz="472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567" userDrawn="1">
          <p15:clr>
            <a:srgbClr val="F26B43"/>
          </p15:clr>
        </p15:guide>
        <p15:guide id="2" pos="1021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F4CDCC63-1B49-E29D-2639-15C72FBF93D9}"/>
              </a:ext>
            </a:extLst>
          </p:cNvPr>
          <p:cNvSpPr/>
          <p:nvPr/>
        </p:nvSpPr>
        <p:spPr>
          <a:xfrm>
            <a:off x="1616893" y="1043683"/>
            <a:ext cx="1264364" cy="230832"/>
          </a:xfrm>
          <a:prstGeom prst="round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4C331443-AF77-EA7C-A68D-1AF2C1938311}"/>
              </a:ext>
            </a:extLst>
          </p:cNvPr>
          <p:cNvSpPr/>
          <p:nvPr/>
        </p:nvSpPr>
        <p:spPr>
          <a:xfrm>
            <a:off x="254362" y="1307925"/>
            <a:ext cx="1264364" cy="230832"/>
          </a:xfrm>
          <a:prstGeom prst="round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30" name="사각형: 둥근 모서리 29">
            <a:extLst>
              <a:ext uri="{FF2B5EF4-FFF2-40B4-BE49-F238E27FC236}">
                <a16:creationId xmlns:a16="http://schemas.microsoft.com/office/drawing/2014/main" id="{E9D0B6FB-F245-5CA5-01A2-7ECE70059B31}"/>
              </a:ext>
            </a:extLst>
          </p:cNvPr>
          <p:cNvSpPr/>
          <p:nvPr/>
        </p:nvSpPr>
        <p:spPr>
          <a:xfrm>
            <a:off x="1616893" y="1307925"/>
            <a:ext cx="1264364" cy="230832"/>
          </a:xfrm>
          <a:prstGeom prst="round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2D25819D-DF75-2963-B40C-E9AD78F5AC89}"/>
              </a:ext>
            </a:extLst>
          </p:cNvPr>
          <p:cNvSpPr/>
          <p:nvPr/>
        </p:nvSpPr>
        <p:spPr>
          <a:xfrm>
            <a:off x="254362" y="1043683"/>
            <a:ext cx="1264364" cy="230832"/>
          </a:xfrm>
          <a:prstGeom prst="round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5E3E193-F1E8-6947-F01D-A96C1A9F6D0E}"/>
              </a:ext>
            </a:extLst>
          </p:cNvPr>
          <p:cNvSpPr txBox="1"/>
          <p:nvPr/>
        </p:nvSpPr>
        <p:spPr>
          <a:xfrm>
            <a:off x="61773" y="54245"/>
            <a:ext cx="1180381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순천향대학교 천안병원 </a:t>
            </a:r>
            <a:r>
              <a:rPr lang="en-US" altLang="ko-KR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| </a:t>
            </a:r>
            <a:r>
              <a:rPr lang="ko-KR" altLang="en-US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진료지원간호팀 </a:t>
            </a:r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FFD471BF-3E8B-E294-1EF7-7949D4D05762}"/>
              </a:ext>
            </a:extLst>
          </p:cNvPr>
          <p:cNvGrpSpPr/>
          <p:nvPr/>
        </p:nvGrpSpPr>
        <p:grpSpPr>
          <a:xfrm>
            <a:off x="711096" y="331471"/>
            <a:ext cx="2337499" cy="674473"/>
            <a:chOff x="422852" y="312900"/>
            <a:chExt cx="2337499" cy="674473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1F0C02A7-D766-DD14-548E-2AE7955534F4}"/>
                </a:ext>
              </a:extLst>
            </p:cNvPr>
            <p:cNvSpPr txBox="1"/>
            <p:nvPr/>
          </p:nvSpPr>
          <p:spPr>
            <a:xfrm>
              <a:off x="696163" y="312900"/>
              <a:ext cx="1790875" cy="338554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lang="ko-KR" altLang="en-US" sz="1600" dirty="0" err="1">
                  <a:solidFill>
                    <a:schemeClr val="accent1">
                      <a:lumMod val="50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우리가치</a:t>
              </a:r>
              <a:r>
                <a:rPr lang="ko-KR" altLang="en-US" sz="1600" dirty="0">
                  <a:solidFill>
                    <a:schemeClr val="accent1">
                      <a:lumMod val="50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 </a:t>
              </a:r>
              <a:r>
                <a:rPr lang="en-US" altLang="ko-KR" sz="1600" dirty="0" err="1">
                  <a:solidFill>
                    <a:schemeClr val="accent1">
                      <a:lumMod val="50000"/>
                    </a:schemeClr>
                  </a:solidFill>
                  <a:latin typeface="KoPub돋움체 Bold" panose="02020603020101020101" pitchFamily="18" charset="-127"/>
                  <a:ea typeface="KoPub돋움체 Bold" panose="02020603020101020101" pitchFamily="18" charset="-127"/>
                </a:rPr>
                <a:t>WeValue</a:t>
              </a:r>
              <a:endParaRPr lang="en-US" altLang="ko-KR" sz="1600" dirty="0">
                <a:solidFill>
                  <a:schemeClr val="accent1">
                    <a:lumMod val="50000"/>
                  </a:schemeClr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25F3C248-44C4-9D7A-C464-62D68C9890DC}"/>
                </a:ext>
              </a:extLst>
            </p:cNvPr>
            <p:cNvSpPr txBox="1"/>
            <p:nvPr/>
          </p:nvSpPr>
          <p:spPr>
            <a:xfrm>
              <a:off x="422852" y="587263"/>
              <a:ext cx="2337499" cy="40011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lang="en-US" altLang="ko-KR" sz="100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[</a:t>
              </a:r>
              <a:r>
                <a:rPr lang="ko-KR" altLang="en-US" sz="100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우리가 가치를 만드는 공간</a:t>
              </a:r>
              <a:r>
                <a:rPr lang="en-US" altLang="ko-KR" sz="100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, </a:t>
              </a:r>
              <a:r>
                <a:rPr lang="ko-KR" altLang="en-US" sz="1000" b="1" dirty="0" err="1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우리가치</a:t>
              </a:r>
              <a:r>
                <a:rPr lang="ko-KR" altLang="en-US" sz="100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 허브</a:t>
              </a:r>
              <a:r>
                <a:rPr lang="en-US" altLang="ko-KR" sz="1000" b="1" dirty="0">
                  <a:latin typeface="KoPub돋움체 Light" panose="02020603020101020101" pitchFamily="18" charset="-127"/>
                  <a:ea typeface="KoPub돋움체 Light" panose="02020603020101020101" pitchFamily="18" charset="-127"/>
                </a:rPr>
                <a:t>]</a:t>
              </a:r>
            </a:p>
            <a:p>
              <a:pPr algn="ctr"/>
              <a:r>
                <a:rPr lang="ko-KR" altLang="en-US" sz="1000" dirty="0"/>
                <a:t>“</a:t>
              </a:r>
              <a:r>
                <a:rPr lang="en-US" altLang="ko-KR" sz="800" dirty="0"/>
                <a:t>QR </a:t>
              </a:r>
              <a:r>
                <a:rPr lang="ko-KR" altLang="en-US" sz="800" dirty="0"/>
                <a:t>하나로 기준</a:t>
              </a:r>
              <a:r>
                <a:rPr lang="en-US" altLang="ko-KR" sz="800" dirty="0"/>
                <a:t>·</a:t>
              </a:r>
              <a:r>
                <a:rPr lang="ko-KR" altLang="en-US" sz="800" dirty="0"/>
                <a:t>교육</a:t>
              </a:r>
              <a:r>
                <a:rPr lang="en-US" altLang="ko-KR" sz="800" dirty="0"/>
                <a:t>·</a:t>
              </a:r>
              <a:r>
                <a:rPr lang="ko-KR" altLang="en-US" sz="800" dirty="0"/>
                <a:t>제안</a:t>
              </a:r>
              <a:r>
                <a:rPr lang="en-US" altLang="ko-KR" sz="800" dirty="0"/>
                <a:t>·</a:t>
              </a:r>
              <a:r>
                <a:rPr lang="ko-KR" altLang="en-US" sz="800" dirty="0"/>
                <a:t>지표를 한 번에</a:t>
              </a:r>
              <a:r>
                <a:rPr lang="en-US" altLang="ko-KR" sz="800" dirty="0"/>
                <a:t>.”</a:t>
              </a:r>
              <a:endParaRPr lang="en-US" altLang="ko-KR" sz="800" b="1" dirty="0">
                <a:solidFill>
                  <a:schemeClr val="accent1">
                    <a:lumMod val="50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endParaRP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6DCC158E-675F-C121-F60E-F44282305A18}"/>
              </a:ext>
            </a:extLst>
          </p:cNvPr>
          <p:cNvSpPr txBox="1"/>
          <p:nvPr/>
        </p:nvSpPr>
        <p:spPr>
          <a:xfrm>
            <a:off x="318921" y="1074461"/>
            <a:ext cx="1135247" cy="20005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ko-KR" altLang="en-US" sz="700" b="1" dirty="0">
                <a:solidFill>
                  <a:schemeClr val="tx2">
                    <a:lumMod val="50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소통의 광장</a:t>
            </a:r>
            <a:r>
              <a:rPr lang="en-US" altLang="ko-KR" sz="700" b="1" dirty="0">
                <a:solidFill>
                  <a:schemeClr val="tx2">
                    <a:lumMod val="50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(Community)</a:t>
            </a:r>
            <a:endParaRPr lang="en-US" altLang="ko-KR" sz="600" dirty="0">
              <a:solidFill>
                <a:schemeClr val="tx2">
                  <a:lumMod val="50000"/>
                </a:schemeClr>
              </a:solidFill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D2DD8AC-667F-42B8-5265-B6ED7A4CC558}"/>
              </a:ext>
            </a:extLst>
          </p:cNvPr>
          <p:cNvSpPr txBox="1"/>
          <p:nvPr/>
        </p:nvSpPr>
        <p:spPr>
          <a:xfrm>
            <a:off x="1699886" y="1074461"/>
            <a:ext cx="1098379" cy="20005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ko-KR" altLang="en-US" sz="700" b="1" dirty="0">
                <a:solidFill>
                  <a:schemeClr val="tx2">
                    <a:lumMod val="50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업무의 기준  </a:t>
            </a:r>
            <a:r>
              <a:rPr lang="en-US" altLang="ko-KR" sz="700" b="1" dirty="0">
                <a:solidFill>
                  <a:schemeClr val="tx2">
                    <a:lumMod val="50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(Standards)</a:t>
            </a:r>
            <a:endParaRPr lang="en-US" altLang="ko-KR" sz="600" dirty="0">
              <a:solidFill>
                <a:schemeClr val="tx2">
                  <a:lumMod val="50000"/>
                </a:schemeClr>
              </a:solidFill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6577137-5AAD-FF43-5955-A6188CF122CB}"/>
              </a:ext>
            </a:extLst>
          </p:cNvPr>
          <p:cNvSpPr txBox="1"/>
          <p:nvPr/>
        </p:nvSpPr>
        <p:spPr>
          <a:xfrm>
            <a:off x="353385" y="1338703"/>
            <a:ext cx="1066319" cy="20005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ko-KR" altLang="en-US" sz="700" b="1" dirty="0">
                <a:solidFill>
                  <a:schemeClr val="tx2">
                    <a:lumMod val="50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배움의 창구 </a:t>
            </a:r>
            <a:r>
              <a:rPr lang="en-US" altLang="ko-KR" sz="700" b="1" dirty="0">
                <a:solidFill>
                  <a:schemeClr val="tx2">
                    <a:lumMod val="50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(Education)</a:t>
            </a:r>
            <a:endParaRPr lang="ko-KR" altLang="en-US" sz="600" dirty="0">
              <a:solidFill>
                <a:schemeClr val="tx2">
                  <a:lumMod val="50000"/>
                </a:schemeClr>
              </a:solidFill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44756B4-A4F7-10F9-54F6-FD186916090A}"/>
              </a:ext>
            </a:extLst>
          </p:cNvPr>
          <p:cNvSpPr txBox="1"/>
          <p:nvPr/>
        </p:nvSpPr>
        <p:spPr>
          <a:xfrm>
            <a:off x="1686261" y="1338703"/>
            <a:ext cx="1125629" cy="20005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ko-KR" altLang="en-US" sz="700" b="1" dirty="0">
                <a:solidFill>
                  <a:schemeClr val="tx2">
                    <a:lumMod val="50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투명한 지표  </a:t>
            </a:r>
            <a:r>
              <a:rPr lang="en-US" altLang="ko-KR" sz="700" b="1" dirty="0">
                <a:solidFill>
                  <a:schemeClr val="tx2">
                    <a:lumMod val="50000"/>
                  </a:schemeClr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(Dashboard)</a:t>
            </a:r>
            <a:endParaRPr lang="ko-KR" altLang="en-US" sz="600" dirty="0">
              <a:solidFill>
                <a:schemeClr val="tx2">
                  <a:lumMod val="50000"/>
                </a:schemeClr>
              </a:solidFill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CCD23336-35E2-7BBF-742C-67D82BDC7617}"/>
              </a:ext>
            </a:extLst>
          </p:cNvPr>
          <p:cNvGrpSpPr/>
          <p:nvPr/>
        </p:nvGrpSpPr>
        <p:grpSpPr>
          <a:xfrm>
            <a:off x="191493" y="377028"/>
            <a:ext cx="538336" cy="538336"/>
            <a:chOff x="777945" y="-736888"/>
            <a:chExt cx="663508" cy="663508"/>
          </a:xfrm>
        </p:grpSpPr>
        <p:pic>
          <p:nvPicPr>
            <p:cNvPr id="5" name="그림 4" descr="패턴, 사각형, 예술, 직사각형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40C63F4C-30AB-6EF2-23BA-1233104A9DC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55432" y="-659401"/>
              <a:ext cx="508534" cy="508534"/>
            </a:xfrm>
            <a:prstGeom prst="rect">
              <a:avLst/>
            </a:prstGeom>
          </p:spPr>
        </p:pic>
        <p:sp>
          <p:nvSpPr>
            <p:cNvPr id="13" name="L 도형 12">
              <a:extLst>
                <a:ext uri="{FF2B5EF4-FFF2-40B4-BE49-F238E27FC236}">
                  <a16:creationId xmlns:a16="http://schemas.microsoft.com/office/drawing/2014/main" id="{B242B433-4D06-F840-EA3E-7FA7766D184C}"/>
                </a:ext>
              </a:extLst>
            </p:cNvPr>
            <p:cNvSpPr/>
            <p:nvPr/>
          </p:nvSpPr>
          <p:spPr>
            <a:xfrm rot="5400000">
              <a:off x="777945" y="-736887"/>
              <a:ext cx="154974" cy="154974"/>
            </a:xfrm>
            <a:prstGeom prst="corner">
              <a:avLst>
                <a:gd name="adj1" fmla="val 24841"/>
                <a:gd name="adj2" fmla="val 25627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L 도형 13">
              <a:extLst>
                <a:ext uri="{FF2B5EF4-FFF2-40B4-BE49-F238E27FC236}">
                  <a16:creationId xmlns:a16="http://schemas.microsoft.com/office/drawing/2014/main" id="{37DD2CDD-BF9D-CD6A-CC77-30C00DF7A8EA}"/>
                </a:ext>
              </a:extLst>
            </p:cNvPr>
            <p:cNvSpPr/>
            <p:nvPr/>
          </p:nvSpPr>
          <p:spPr>
            <a:xfrm rot="10800000">
              <a:off x="1286479" y="-736888"/>
              <a:ext cx="154974" cy="154974"/>
            </a:xfrm>
            <a:prstGeom prst="corner">
              <a:avLst>
                <a:gd name="adj1" fmla="val 24841"/>
                <a:gd name="adj2" fmla="val 25627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L 도형 14">
              <a:extLst>
                <a:ext uri="{FF2B5EF4-FFF2-40B4-BE49-F238E27FC236}">
                  <a16:creationId xmlns:a16="http://schemas.microsoft.com/office/drawing/2014/main" id="{DD20813D-7C4F-9420-E012-EB09FDC9059E}"/>
                </a:ext>
              </a:extLst>
            </p:cNvPr>
            <p:cNvSpPr/>
            <p:nvPr/>
          </p:nvSpPr>
          <p:spPr>
            <a:xfrm>
              <a:off x="777945" y="-228897"/>
              <a:ext cx="154974" cy="154974"/>
            </a:xfrm>
            <a:prstGeom prst="corner">
              <a:avLst>
                <a:gd name="adj1" fmla="val 24841"/>
                <a:gd name="adj2" fmla="val 25627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L 도형 15">
              <a:extLst>
                <a:ext uri="{FF2B5EF4-FFF2-40B4-BE49-F238E27FC236}">
                  <a16:creationId xmlns:a16="http://schemas.microsoft.com/office/drawing/2014/main" id="{C2F58D7B-1E2F-7C1C-29C2-3CBAF321313E}"/>
                </a:ext>
              </a:extLst>
            </p:cNvPr>
            <p:cNvSpPr/>
            <p:nvPr/>
          </p:nvSpPr>
          <p:spPr>
            <a:xfrm rot="16200000">
              <a:off x="1286479" y="-228354"/>
              <a:ext cx="154974" cy="154974"/>
            </a:xfrm>
            <a:prstGeom prst="corner">
              <a:avLst>
                <a:gd name="adj1" fmla="val 24841"/>
                <a:gd name="adj2" fmla="val 25627"/>
              </a:avLst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2756302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91BF69-B73E-E52D-A273-34695C83C3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C74A5D6-3A56-B177-2B3C-9C02CC585860}"/>
              </a:ext>
            </a:extLst>
          </p:cNvPr>
          <p:cNvSpPr txBox="1"/>
          <p:nvPr/>
        </p:nvSpPr>
        <p:spPr>
          <a:xfrm>
            <a:off x="-706687" y="54245"/>
            <a:ext cx="2717302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순천향대학교 천안병원 </a:t>
            </a:r>
            <a:r>
              <a:rPr lang="en-US" altLang="ko-KR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| </a:t>
            </a:r>
            <a:r>
              <a:rPr lang="ko-KR" altLang="en-US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진료지원간호팀 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1474189-057B-B9B1-6224-A28E5BF62A39}"/>
              </a:ext>
            </a:extLst>
          </p:cNvPr>
          <p:cNvSpPr txBox="1"/>
          <p:nvPr/>
        </p:nvSpPr>
        <p:spPr>
          <a:xfrm>
            <a:off x="173830" y="443776"/>
            <a:ext cx="2797561" cy="95410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800" dirty="0"/>
              <a:t>응급</a:t>
            </a:r>
            <a:r>
              <a:rPr lang="en-US" altLang="ko-KR" sz="800" dirty="0"/>
              <a:t>(10): </a:t>
            </a:r>
            <a:r>
              <a:rPr lang="ko-KR" altLang="en-US" sz="800" b="1" dirty="0"/>
              <a:t>“</a:t>
            </a:r>
            <a:r>
              <a:rPr lang="en-US" altLang="ko-KR" sz="800" b="1" dirty="0"/>
              <a:t>10</a:t>
            </a:r>
            <a:r>
              <a:rPr lang="ko-KR" altLang="en-US" sz="800" b="1" dirty="0"/>
              <a:t>은 전화 먼저 → 끝나면 </a:t>
            </a:r>
            <a:r>
              <a:rPr lang="en-US" altLang="ko-KR" sz="800" b="1" dirty="0"/>
              <a:t>A 1</a:t>
            </a:r>
            <a:r>
              <a:rPr lang="ko-KR" altLang="en-US" sz="800" b="1" dirty="0"/>
              <a:t>줄 </a:t>
            </a:r>
            <a:r>
              <a:rPr lang="en-US" altLang="ko-KR" sz="800" b="1" dirty="0"/>
              <a:t>+ D 1</a:t>
            </a:r>
            <a:r>
              <a:rPr lang="ko-KR" altLang="en-US" sz="800" b="1" dirty="0"/>
              <a:t>줄”</a:t>
            </a:r>
            <a:endParaRPr lang="en-US" altLang="ko-KR" sz="800" b="1" dirty="0"/>
          </a:p>
          <a:p>
            <a:pPr marL="171450" indent="-171450">
              <a:buFont typeface="Wingdings" panose="05000000000000000000" pitchFamily="2" charset="2"/>
              <a:buChar char="§"/>
            </a:pPr>
            <a:endParaRPr lang="ko-KR" altLang="en-US" sz="8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800" dirty="0" err="1"/>
              <a:t>정보성</a:t>
            </a:r>
            <a:r>
              <a:rPr lang="en-US" altLang="ko-KR" sz="800" dirty="0"/>
              <a:t>(</a:t>
            </a:r>
            <a:r>
              <a:rPr lang="ko-KR" altLang="en-US" sz="800" dirty="0"/>
              <a:t>입원</a:t>
            </a:r>
            <a:r>
              <a:rPr lang="en-US" altLang="ko-KR" sz="800" dirty="0"/>
              <a:t>·</a:t>
            </a:r>
            <a:r>
              <a:rPr lang="ko-KR" altLang="en-US" sz="800" dirty="0"/>
              <a:t>검사</a:t>
            </a:r>
            <a:r>
              <a:rPr lang="en-US" altLang="ko-KR" sz="800" dirty="0"/>
              <a:t>·</a:t>
            </a:r>
            <a:r>
              <a:rPr lang="ko-KR" altLang="en-US" sz="800" dirty="0" err="1"/>
              <a:t>자가약</a:t>
            </a:r>
            <a:r>
              <a:rPr lang="en-US" altLang="ko-KR" sz="800" dirty="0"/>
              <a:t>): </a:t>
            </a:r>
            <a:r>
              <a:rPr lang="ko-KR" altLang="en-US" sz="800" b="1" dirty="0"/>
              <a:t>“</a:t>
            </a:r>
            <a:r>
              <a:rPr lang="en-US" altLang="ko-KR" sz="800" b="1" dirty="0"/>
              <a:t>A(</a:t>
            </a:r>
            <a:r>
              <a:rPr lang="ko-KR" altLang="en-US" sz="800" b="1" dirty="0"/>
              <a:t>보고</a:t>
            </a:r>
            <a:r>
              <a:rPr lang="en-US" altLang="ko-KR" sz="800" b="1" dirty="0"/>
              <a:t>)/12 → D(</a:t>
            </a:r>
            <a:r>
              <a:rPr lang="ko-KR" altLang="en-US" sz="800" b="1" dirty="0"/>
              <a:t>확인완료</a:t>
            </a:r>
            <a:r>
              <a:rPr lang="en-US" altLang="ko-KR" sz="800" b="1" dirty="0"/>
              <a:t>)”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endParaRPr lang="ko-KR" altLang="en-US" sz="8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800" dirty="0"/>
              <a:t>도움</a:t>
            </a:r>
            <a:r>
              <a:rPr lang="en-US" altLang="ko-KR" sz="800" dirty="0"/>
              <a:t>·</a:t>
            </a:r>
            <a:r>
              <a:rPr lang="ko-KR" altLang="en-US" sz="800" dirty="0"/>
              <a:t>교육요청</a:t>
            </a:r>
            <a:r>
              <a:rPr lang="en-US" altLang="ko-KR" sz="800" dirty="0"/>
              <a:t>: </a:t>
            </a:r>
            <a:r>
              <a:rPr lang="ko-KR" altLang="en-US" sz="800" b="1" dirty="0"/>
              <a:t>“</a:t>
            </a:r>
            <a:r>
              <a:rPr lang="en-US" altLang="ko-KR" sz="800" b="1" dirty="0"/>
              <a:t>QR → </a:t>
            </a:r>
            <a:r>
              <a:rPr lang="ko-KR" altLang="en-US" sz="800" b="1" dirty="0"/>
              <a:t>배움의 창구</a:t>
            </a:r>
            <a:r>
              <a:rPr lang="en-US" altLang="ko-KR" sz="800" b="1" dirty="0"/>
              <a:t> (ON Demand)”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endParaRPr lang="en-US" altLang="ko-KR" sz="800" b="1" dirty="0"/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800" dirty="0" err="1"/>
              <a:t>익명함</a:t>
            </a:r>
            <a:r>
              <a:rPr lang="en-US" altLang="ko-KR" sz="800" dirty="0"/>
              <a:t>·</a:t>
            </a:r>
            <a:r>
              <a:rPr lang="ko-KR" altLang="en-US" sz="800" dirty="0"/>
              <a:t>칭찬</a:t>
            </a:r>
            <a:r>
              <a:rPr lang="en-US" altLang="ko-KR" sz="800" dirty="0"/>
              <a:t>: </a:t>
            </a:r>
            <a:r>
              <a:rPr lang="ko-KR" altLang="en-US" sz="800" b="1" dirty="0"/>
              <a:t>“제안</a:t>
            </a:r>
            <a:r>
              <a:rPr lang="en-US" altLang="ko-KR" sz="800" b="1" dirty="0"/>
              <a:t>·</a:t>
            </a:r>
            <a:r>
              <a:rPr lang="ko-KR" altLang="en-US" sz="800" b="1" dirty="0"/>
              <a:t>칭찬은 </a:t>
            </a:r>
            <a:r>
              <a:rPr lang="en-US" altLang="ko-KR" sz="800" b="1" dirty="0"/>
              <a:t>QR → </a:t>
            </a:r>
            <a:r>
              <a:rPr lang="ko-KR" altLang="en-US" sz="800" b="1" dirty="0"/>
              <a:t>소통의 광장</a:t>
            </a:r>
            <a:r>
              <a:rPr lang="en-US" altLang="ko-KR" sz="800" b="1" dirty="0"/>
              <a:t>(</a:t>
            </a:r>
            <a:r>
              <a:rPr lang="ko-KR" altLang="en-US" sz="800" b="1" dirty="0"/>
              <a:t>존중 톤</a:t>
            </a:r>
            <a:r>
              <a:rPr lang="en-US" altLang="ko-KR" sz="800" b="1" dirty="0"/>
              <a:t>)”</a:t>
            </a:r>
            <a:endParaRPr lang="ko-KR" altLang="en-US" sz="8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615606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A44891-DB0B-9038-5B25-629A4C227F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4D2AB74B-0885-7248-82A8-738CC227DF1C}"/>
              </a:ext>
            </a:extLst>
          </p:cNvPr>
          <p:cNvSpPr/>
          <p:nvPr/>
        </p:nvSpPr>
        <p:spPr>
          <a:xfrm>
            <a:off x="807085" y="324614"/>
            <a:ext cx="2321877" cy="382344"/>
          </a:xfrm>
          <a:prstGeom prst="roundRect">
            <a:avLst>
              <a:gd name="adj" fmla="val 11062"/>
            </a:avLst>
          </a:prstGeom>
          <a:noFill/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B073FA0F-66B5-6BAF-0E1F-7AC6E77B5191}"/>
              </a:ext>
            </a:extLst>
          </p:cNvPr>
          <p:cNvSpPr/>
          <p:nvPr/>
        </p:nvSpPr>
        <p:spPr>
          <a:xfrm>
            <a:off x="807085" y="745556"/>
            <a:ext cx="2321877" cy="592988"/>
          </a:xfrm>
          <a:prstGeom prst="roundRect">
            <a:avLst>
              <a:gd name="adj" fmla="val 8451"/>
            </a:avLst>
          </a:prstGeom>
          <a:noFill/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993AC22E-D82C-01DF-84E7-90AC9AD4AD3F}"/>
              </a:ext>
            </a:extLst>
          </p:cNvPr>
          <p:cNvSpPr/>
          <p:nvPr/>
        </p:nvSpPr>
        <p:spPr>
          <a:xfrm>
            <a:off x="73819" y="324614"/>
            <a:ext cx="721520" cy="382344"/>
          </a:xfrm>
          <a:prstGeom prst="roundRect">
            <a:avLst>
              <a:gd name="adj" fmla="val 11062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EABBF7A-4383-D72B-A05E-B56FEE94992E}"/>
              </a:ext>
            </a:extLst>
          </p:cNvPr>
          <p:cNvSpPr txBox="1"/>
          <p:nvPr/>
        </p:nvSpPr>
        <p:spPr>
          <a:xfrm>
            <a:off x="61773" y="54245"/>
            <a:ext cx="1180381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순천향대학교 천안병원 </a:t>
            </a:r>
            <a:r>
              <a:rPr lang="en-US" altLang="ko-KR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| </a:t>
            </a:r>
            <a:r>
              <a:rPr lang="ko-KR" altLang="en-US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진료지원간호팀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F3CA475-D856-01FB-19C8-E100A19DE5EF}"/>
              </a:ext>
            </a:extLst>
          </p:cNvPr>
          <p:cNvSpPr txBox="1"/>
          <p:nvPr/>
        </p:nvSpPr>
        <p:spPr>
          <a:xfrm>
            <a:off x="755416" y="415758"/>
            <a:ext cx="262743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Case ID : </a:t>
            </a:r>
            <a:r>
              <a:rPr lang="ko-KR" altLang="en-US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병실</a:t>
            </a: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-</a:t>
            </a:r>
            <a:r>
              <a:rPr lang="ko-KR" altLang="en-US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등록</a:t>
            </a: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-</a:t>
            </a:r>
            <a:r>
              <a:rPr lang="ko-KR" altLang="en-US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성함</a:t>
            </a: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-</a:t>
            </a:r>
            <a:r>
              <a:rPr lang="ko-KR" altLang="en-US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교수</a:t>
            </a: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-</a:t>
            </a:r>
            <a:r>
              <a:rPr lang="ko-KR" altLang="en-US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월일</a:t>
            </a: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-</a:t>
            </a:r>
            <a:r>
              <a:rPr lang="ko-KR" altLang="en-US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시간</a:t>
            </a:r>
            <a:endParaRPr lang="en-US" altLang="ko-KR" sz="800" dirty="0">
              <a:solidFill>
                <a:schemeClr val="tx2">
                  <a:lumMod val="50000"/>
                </a:schemeClr>
              </a:solidFill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1B4DC618-B29F-845A-7DD8-6A834C8CEE4F}"/>
              </a:ext>
            </a:extLst>
          </p:cNvPr>
          <p:cNvSpPr/>
          <p:nvPr/>
        </p:nvSpPr>
        <p:spPr>
          <a:xfrm>
            <a:off x="73819" y="745555"/>
            <a:ext cx="721520" cy="592987"/>
          </a:xfrm>
          <a:prstGeom prst="roundRect">
            <a:avLst>
              <a:gd name="adj" fmla="val 8451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F29C902-63CB-1B88-5847-68EBD7D4096A}"/>
              </a:ext>
            </a:extLst>
          </p:cNvPr>
          <p:cNvSpPr txBox="1"/>
          <p:nvPr/>
        </p:nvSpPr>
        <p:spPr>
          <a:xfrm>
            <a:off x="796061" y="718077"/>
            <a:ext cx="2321878" cy="6281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[A] </a:t>
            </a:r>
            <a:r>
              <a:rPr lang="ko-KR" altLang="en-US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보고 </a:t>
            </a: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(</a:t>
            </a:r>
            <a:r>
              <a:rPr lang="ko-KR" altLang="en-US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병동</a:t>
            </a: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) : </a:t>
            </a:r>
            <a:r>
              <a:rPr lang="en-US" altLang="ko-KR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ID / </a:t>
            </a:r>
            <a:r>
              <a:rPr lang="ko-KR" altLang="en-US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지금 </a:t>
            </a:r>
            <a:r>
              <a:rPr lang="en-US" altLang="ko-KR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/ </a:t>
            </a:r>
            <a:r>
              <a:rPr lang="ko-KR" altLang="en-US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근거 </a:t>
            </a:r>
            <a:r>
              <a:rPr lang="en-US" altLang="ko-KR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/ </a:t>
            </a:r>
            <a:r>
              <a:rPr lang="ko-KR" altLang="en-US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요청 </a:t>
            </a:r>
            <a:r>
              <a:rPr lang="en-US" altLang="ko-KR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/ 10·4·12</a:t>
            </a:r>
          </a:p>
          <a:p>
            <a:pPr>
              <a:lnSpc>
                <a:spcPct val="150000"/>
              </a:lnSpc>
            </a:pP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[C] </a:t>
            </a:r>
            <a:r>
              <a:rPr lang="ko-KR" altLang="en-US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상황 </a:t>
            </a: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(PA) : </a:t>
            </a:r>
            <a:r>
              <a:rPr lang="en-US" altLang="ko-KR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ID / </a:t>
            </a:r>
            <a:r>
              <a:rPr lang="ko-KR" altLang="en-US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상황</a:t>
            </a:r>
            <a:r>
              <a:rPr lang="en-US" altLang="ko-KR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(C</a:t>
            </a:r>
            <a:r>
              <a:rPr lang="ko-KR" altLang="en-US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코드</a:t>
            </a:r>
            <a:r>
              <a:rPr lang="en-US" altLang="ko-KR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) / </a:t>
            </a:r>
            <a:r>
              <a:rPr lang="ko-KR" altLang="en-US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다음 </a:t>
            </a:r>
            <a:r>
              <a:rPr lang="en-US" altLang="ko-KR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HHMM</a:t>
            </a:r>
          </a:p>
          <a:p>
            <a:pPr>
              <a:lnSpc>
                <a:spcPct val="150000"/>
              </a:lnSpc>
            </a:pP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[D] </a:t>
            </a:r>
            <a:r>
              <a:rPr lang="ko-KR" altLang="en-US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완료 </a:t>
            </a:r>
            <a:r>
              <a:rPr lang="en-US" altLang="ko-KR" sz="800" b="1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(PA) : </a:t>
            </a:r>
            <a:r>
              <a:rPr lang="en-US" altLang="ko-KR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ID / </a:t>
            </a:r>
            <a:r>
              <a:rPr lang="ko-KR" altLang="en-US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조치결과 </a:t>
            </a:r>
            <a:r>
              <a:rPr lang="en-US" altLang="ko-KR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/ F/U </a:t>
            </a:r>
            <a:r>
              <a:rPr lang="ko-KR" altLang="en-US" sz="800" dirty="0">
                <a:solidFill>
                  <a:schemeClr val="tx2">
                    <a:lumMod val="50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기준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177CD16-1AA6-B8C7-0E32-C84E8AF73AC7}"/>
              </a:ext>
            </a:extLst>
          </p:cNvPr>
          <p:cNvSpPr txBox="1"/>
          <p:nvPr/>
        </p:nvSpPr>
        <p:spPr>
          <a:xfrm>
            <a:off x="254362" y="1408811"/>
            <a:ext cx="2709863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 </a:t>
            </a:r>
            <a:r>
              <a:rPr lang="en-US" altLang="ko-KR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10</a:t>
            </a:r>
            <a:r>
              <a:rPr lang="ko-KR" altLang="en-US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분 </a:t>
            </a:r>
            <a:r>
              <a:rPr lang="en-US" altLang="ko-KR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: </a:t>
            </a:r>
            <a:r>
              <a:rPr lang="ko-KR" altLang="en-US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응급            </a:t>
            </a:r>
            <a:r>
              <a:rPr lang="en-US" altLang="ko-KR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4</a:t>
            </a:r>
            <a:r>
              <a:rPr lang="ko-KR" altLang="en-US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시간 </a:t>
            </a:r>
            <a:r>
              <a:rPr lang="en-US" altLang="ko-KR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: </a:t>
            </a:r>
            <a:r>
              <a:rPr lang="ko-KR" altLang="en-US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우선  </a:t>
            </a:r>
            <a:r>
              <a:rPr lang="en-US" altLang="ko-KR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       12</a:t>
            </a:r>
            <a:r>
              <a:rPr lang="ko-KR" altLang="en-US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시간 </a:t>
            </a:r>
            <a:r>
              <a:rPr lang="en-US" altLang="ko-KR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: </a:t>
            </a:r>
            <a:r>
              <a:rPr lang="ko-KR" altLang="en-US" sz="700" b="1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루틴</a:t>
            </a:r>
            <a:endParaRPr lang="en-US" altLang="ko-KR" sz="700" b="1" dirty="0"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C28A249-57BD-B8C5-F243-8E09603FB635}"/>
              </a:ext>
            </a:extLst>
          </p:cNvPr>
          <p:cNvSpPr txBox="1"/>
          <p:nvPr/>
        </p:nvSpPr>
        <p:spPr>
          <a:xfrm>
            <a:off x="487241" y="1408811"/>
            <a:ext cx="308098" cy="20005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ko-KR" altLang="en-US" sz="700" dirty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🔴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5A14600-6A4E-68DE-AE93-F9D76C812333}"/>
              </a:ext>
            </a:extLst>
          </p:cNvPr>
          <p:cNvSpPr txBox="1"/>
          <p:nvPr/>
        </p:nvSpPr>
        <p:spPr>
          <a:xfrm>
            <a:off x="1188617" y="1408811"/>
            <a:ext cx="308098" cy="20005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ko-KR" altLang="en-US" sz="700" dirty="0"/>
              <a:t>🟢</a:t>
            </a:r>
            <a:endParaRPr lang="ko-KR" altLang="en-US" sz="700" dirty="0">
              <a:solidFill>
                <a:srgbClr val="00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A547C35-0538-3980-F43F-51DCC8C2C5B7}"/>
              </a:ext>
            </a:extLst>
          </p:cNvPr>
          <p:cNvSpPr txBox="1"/>
          <p:nvPr/>
        </p:nvSpPr>
        <p:spPr>
          <a:xfrm>
            <a:off x="1843546" y="1408811"/>
            <a:ext cx="308098" cy="20005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ko-KR" altLang="en-US" sz="700" dirty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🟡</a:t>
            </a:r>
            <a:endParaRPr lang="ko-KR" altLang="en-US" sz="7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7FFF511-7B20-E2F4-96D5-C91B888C0873}"/>
              </a:ext>
            </a:extLst>
          </p:cNvPr>
          <p:cNvSpPr txBox="1"/>
          <p:nvPr/>
        </p:nvSpPr>
        <p:spPr>
          <a:xfrm>
            <a:off x="157821" y="366661"/>
            <a:ext cx="636713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ko-KR" altLang="en-US" sz="800" b="1" dirty="0">
                <a:solidFill>
                  <a:srgbClr val="000000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실전 소통</a:t>
            </a:r>
            <a:endParaRPr lang="en-US" altLang="ko-KR" sz="800" b="1" dirty="0">
              <a:solidFill>
                <a:srgbClr val="000000"/>
              </a:solidFill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  <a:p>
            <a:pPr algn="ctr"/>
            <a:r>
              <a:rPr lang="en-US" altLang="ko-KR" sz="800" b="1" dirty="0">
                <a:solidFill>
                  <a:srgbClr val="000000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&amp; </a:t>
            </a:r>
            <a:r>
              <a:rPr lang="ko-KR" altLang="en-US" sz="800" b="1" dirty="0">
                <a:solidFill>
                  <a:srgbClr val="000000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트리아제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0AC34A0-F9F3-3EDB-E7DE-AF18BCE089E6}"/>
              </a:ext>
            </a:extLst>
          </p:cNvPr>
          <p:cNvSpPr txBox="1"/>
          <p:nvPr/>
        </p:nvSpPr>
        <p:spPr>
          <a:xfrm>
            <a:off x="128847" y="932596"/>
            <a:ext cx="681597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ko-KR" altLang="en-US" sz="800" b="1" dirty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800" b="1" dirty="0">
                <a:solidFill>
                  <a:srgbClr val="000000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ACD Loop</a:t>
            </a:r>
            <a:endParaRPr lang="ko-KR" altLang="en-US" sz="2000" b="1" dirty="0">
              <a:solidFill>
                <a:srgbClr val="000000"/>
              </a:solidFill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EF6F1791-FF02-2FDA-4F5D-44CDEE636F8C}"/>
              </a:ext>
            </a:extLst>
          </p:cNvPr>
          <p:cNvCxnSpPr/>
          <p:nvPr/>
        </p:nvCxnSpPr>
        <p:spPr>
          <a:xfrm flipH="1">
            <a:off x="154781" y="1373677"/>
            <a:ext cx="2909888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1CC02FF7-A679-B89A-005B-137BDE8C1901}"/>
              </a:ext>
            </a:extLst>
          </p:cNvPr>
          <p:cNvSpPr txBox="1"/>
          <p:nvPr/>
        </p:nvSpPr>
        <p:spPr>
          <a:xfrm>
            <a:off x="0" y="408064"/>
            <a:ext cx="325730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ko-KR" altLang="en-US" sz="800" dirty="0"/>
              <a:t>📌</a:t>
            </a:r>
            <a:endParaRPr lang="ko-KR" altLang="en-US" sz="800" b="1" dirty="0">
              <a:solidFill>
                <a:srgbClr val="000000"/>
              </a:solidFill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8BF33BF-AF8E-EFE0-9534-14A99E5444ED}"/>
              </a:ext>
            </a:extLst>
          </p:cNvPr>
          <p:cNvSpPr txBox="1"/>
          <p:nvPr/>
        </p:nvSpPr>
        <p:spPr>
          <a:xfrm>
            <a:off x="3206" y="932595"/>
            <a:ext cx="322524" cy="2154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ko-KR" altLang="en-US" sz="800" b="1" dirty="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🔄</a:t>
            </a:r>
            <a:endParaRPr lang="ko-KR" altLang="en-US" sz="2000" b="1" dirty="0">
              <a:solidFill>
                <a:srgbClr val="000000"/>
              </a:solidFill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346110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C95857-5CB6-E176-FDD7-C77B771BAC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DB8E964-7EED-74B0-E816-8BE4F8865B12}"/>
              </a:ext>
            </a:extLst>
          </p:cNvPr>
          <p:cNvSpPr txBox="1"/>
          <p:nvPr/>
        </p:nvSpPr>
        <p:spPr>
          <a:xfrm>
            <a:off x="47760" y="54245"/>
            <a:ext cx="1208408" cy="1692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ko-KR" altLang="en-US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순천향대학교 천안병원 </a:t>
            </a:r>
            <a:r>
              <a:rPr lang="en-US" altLang="ko-KR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| </a:t>
            </a:r>
            <a:r>
              <a:rPr lang="ko-KR" altLang="en-US" sz="500" spc="-1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진료지원간호팀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54548F5-C227-C424-9E2A-BCF01202B11D}"/>
              </a:ext>
            </a:extLst>
          </p:cNvPr>
          <p:cNvSpPr txBox="1"/>
          <p:nvPr/>
        </p:nvSpPr>
        <p:spPr>
          <a:xfrm>
            <a:off x="94186" y="156738"/>
            <a:ext cx="1508746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ko-KR" altLang="en-US" sz="900" b="1" dirty="0">
                <a:latin typeface="휴먼둥근헤드라인" panose="02030504000101010101" pitchFamily="18" charset="-127"/>
                <a:ea typeface="휴먼둥근헤드라인" panose="02030504000101010101" pitchFamily="18" charset="-127"/>
              </a:rPr>
              <a:t>📊 </a:t>
            </a:r>
            <a:r>
              <a:rPr lang="en-US" altLang="ko-KR" sz="900" b="1" dirty="0">
                <a:latin typeface="휴먼둥근헤드라인" panose="02030504000101010101" pitchFamily="18" charset="-127"/>
                <a:ea typeface="휴먼둥근헤드라인" panose="02030504000101010101" pitchFamily="18" charset="-127"/>
              </a:rPr>
              <a:t>C-Code &amp; Guide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E33DDDA-6085-D01E-695B-8DCA20A2A084}"/>
              </a:ext>
            </a:extLst>
          </p:cNvPr>
          <p:cNvSpPr txBox="1"/>
          <p:nvPr/>
        </p:nvSpPr>
        <p:spPr>
          <a:xfrm>
            <a:off x="111579" y="351401"/>
            <a:ext cx="2982706" cy="1261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800" b="1" dirty="0">
                <a:highlight>
                  <a:srgbClr val="FFFF00"/>
                </a:highlight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</a:t>
            </a:r>
            <a:r>
              <a:rPr lang="ko-KR" altLang="en-US" sz="800" b="1" dirty="0">
                <a:highlight>
                  <a:srgbClr val="FFFF00"/>
                </a:highlight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지연</a:t>
            </a:r>
            <a:r>
              <a:rPr lang="en-US" altLang="ko-KR" sz="800" b="1" dirty="0">
                <a:highlight>
                  <a:srgbClr val="FFFF00"/>
                </a:highlight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/</a:t>
            </a:r>
            <a:r>
              <a:rPr lang="ko-KR" altLang="en-US" sz="800" b="1" dirty="0">
                <a:highlight>
                  <a:srgbClr val="FFFF00"/>
                </a:highlight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인계 보호기록 사유</a:t>
            </a:r>
            <a:r>
              <a:rPr lang="en-US" altLang="ko-KR" sz="800" b="1" dirty="0">
                <a:highlight>
                  <a:srgbClr val="FFFF00"/>
                </a:highlight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]</a:t>
            </a:r>
          </a:p>
          <a:p>
            <a:r>
              <a:rPr lang="en-US" altLang="ko-KR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PA 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지연</a:t>
            </a:r>
            <a:r>
              <a:rPr lang="en-US" altLang="ko-KR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(C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코드</a:t>
            </a:r>
            <a:r>
              <a:rPr lang="en-US" altLang="ko-KR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): C1(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응급</a:t>
            </a:r>
            <a:r>
              <a:rPr lang="en-US" altLang="ko-KR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) C2(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수술</a:t>
            </a:r>
            <a:r>
              <a:rPr lang="en-US" altLang="ko-KR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) C3(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결과대기</a:t>
            </a:r>
            <a:r>
              <a:rPr lang="en-US" altLang="ko-KR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) C4(</a:t>
            </a:r>
            <a:r>
              <a:rPr lang="ko-KR" altLang="en-US" sz="80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컨펌</a:t>
            </a:r>
            <a:r>
              <a:rPr lang="en-US" altLang="ko-KR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)</a:t>
            </a:r>
          </a:p>
          <a:p>
            <a:endParaRPr lang="en-US" altLang="ko-KR" sz="600" b="1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병동 인계</a:t>
            </a:r>
            <a:r>
              <a:rPr lang="en-US" altLang="ko-KR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(IN-OUT): IN-OUT (</a:t>
            </a:r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교대 시 업무 인계 완료</a:t>
            </a:r>
            <a:r>
              <a:rPr lang="en-US" altLang="ko-KR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)</a:t>
            </a:r>
          </a:p>
          <a:p>
            <a:endParaRPr lang="en-US" altLang="ko-KR" sz="600" b="1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r>
              <a:rPr lang="ko-KR" altLang="en-US" sz="800" b="1" dirty="0">
                <a:highlight>
                  <a:srgbClr val="FFFF00"/>
                </a:highlight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＃운영 단계별 적용 가이드</a:t>
            </a:r>
            <a:endParaRPr lang="en-US" altLang="ko-KR" sz="800" b="1" dirty="0">
              <a:highlight>
                <a:srgbClr val="FFFF00"/>
              </a:highlight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r>
              <a:rPr lang="ko-KR" altLang="en-US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스티커 하단에 작게 아래 문구를 포함하여  도입 초기 혼선을 방지합니다</a:t>
            </a:r>
            <a:r>
              <a:rPr lang="en-US" altLang="ko-KR" sz="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</a:t>
            </a:r>
          </a:p>
          <a:p>
            <a:endParaRPr lang="en-US" altLang="ko-KR" sz="600" b="1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r>
              <a:rPr lang="en-US" altLang="ko-KR" sz="8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※ [C]</a:t>
            </a:r>
            <a:r>
              <a:rPr lang="ko-KR" altLang="en-US" sz="8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사유코드 및 체크타임</a:t>
            </a:r>
            <a:r>
              <a:rPr lang="en-US" altLang="ko-KR" sz="8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(IN-OUT, </a:t>
            </a:r>
            <a:r>
              <a:rPr lang="ko-KR" altLang="en-US" sz="8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예정처리</a:t>
            </a:r>
            <a:r>
              <a:rPr lang="en-US" altLang="ko-KR" sz="8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)</a:t>
            </a:r>
            <a:r>
              <a:rPr lang="ko-KR" altLang="en-US" sz="8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은 안정화 이후 활성화</a:t>
            </a:r>
          </a:p>
        </p:txBody>
      </p:sp>
    </p:spTree>
    <p:extLst>
      <p:ext uri="{BB962C8B-B14F-4D97-AF65-F5344CB8AC3E}">
        <p14:creationId xmlns:p14="http://schemas.microsoft.com/office/powerpoint/2010/main" val="15287335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3543</TotalTime>
  <Words>295</Words>
  <Application>Microsoft Office PowerPoint</Application>
  <PresentationFormat>사용자 지정</PresentationFormat>
  <Paragraphs>41</Paragraphs>
  <Slides>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</vt:i4>
      </vt:variant>
    </vt:vector>
  </HeadingPairs>
  <TitlesOfParts>
    <vt:vector size="14" baseType="lpstr">
      <vt:lpstr>KoPub돋움체 Bold</vt:lpstr>
      <vt:lpstr>KoPub돋움체 Light</vt:lpstr>
      <vt:lpstr>KoPub돋움체 Medium</vt:lpstr>
      <vt:lpstr>맑은 고딕</vt:lpstr>
      <vt:lpstr>휴먼둥근헤드라인</vt:lpstr>
      <vt:lpstr>Arial</vt:lpstr>
      <vt:lpstr>Calibri</vt:lpstr>
      <vt:lpstr>Calibri Light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라희 임</dc:creator>
  <cp:lastModifiedBy>라희 임</cp:lastModifiedBy>
  <cp:revision>2292</cp:revision>
  <cp:lastPrinted>2026-03-02T14:34:17Z</cp:lastPrinted>
  <dcterms:created xsi:type="dcterms:W3CDTF">2025-05-04T13:56:03Z</dcterms:created>
  <dcterms:modified xsi:type="dcterms:W3CDTF">2026-03-07T16:38:24Z</dcterms:modified>
</cp:coreProperties>
</file>