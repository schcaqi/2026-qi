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0" r:id="rId1"/>
  </p:sldMasterIdLst>
  <p:notesMasterIdLst>
    <p:notesMasterId r:id="rId9"/>
  </p:notesMasterIdLst>
  <p:sldIdLst>
    <p:sldId id="265" r:id="rId2"/>
    <p:sldId id="308" r:id="rId3"/>
    <p:sldId id="307" r:id="rId4"/>
    <p:sldId id="262" r:id="rId5"/>
    <p:sldId id="300" r:id="rId6"/>
    <p:sldId id="306" r:id="rId7"/>
    <p:sldId id="305" r:id="rId8"/>
  </p:sldIdLst>
  <p:sldSz cx="3240088" cy="1800225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567" userDrawn="1">
          <p15:clr>
            <a:srgbClr val="A4A3A4"/>
          </p15:clr>
        </p15:guide>
        <p15:guide id="6" orient="horz" pos="201" userDrawn="1">
          <p15:clr>
            <a:srgbClr val="A4A3A4"/>
          </p15:clr>
        </p15:guide>
        <p15:guide id="7" orient="horz" pos="1042" userDrawn="1">
          <p15:clr>
            <a:srgbClr val="A4A3A4"/>
          </p15:clr>
        </p15:guide>
        <p15:guide id="8" pos="1021" userDrawn="1">
          <p15:clr>
            <a:srgbClr val="A4A3A4"/>
          </p15:clr>
        </p15:guide>
        <p15:guide id="9" pos="132" userDrawn="1">
          <p15:clr>
            <a:srgbClr val="A4A3A4"/>
          </p15:clr>
        </p15:guide>
        <p15:guide id="10" pos="19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E2CFF1"/>
    <a:srgbClr val="CC00FF"/>
    <a:srgbClr val="006E99"/>
    <a:srgbClr val="009BD6"/>
    <a:srgbClr val="1E5691"/>
    <a:srgbClr val="DDF6FF"/>
    <a:srgbClr val="F58400"/>
    <a:srgbClr val="FF33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69" autoAdjust="0"/>
    <p:restoredTop sz="97430" autoAdjust="0"/>
  </p:normalViewPr>
  <p:slideViewPr>
    <p:cSldViewPr snapToGrid="0">
      <p:cViewPr varScale="1">
        <p:scale>
          <a:sx n="400" d="100"/>
          <a:sy n="400" d="100"/>
        </p:scale>
        <p:origin x="2892" y="1200"/>
      </p:cViewPr>
      <p:guideLst>
        <p:guide orient="horz" pos="567"/>
        <p:guide orient="horz" pos="201"/>
        <p:guide orient="horz" pos="1042"/>
        <p:guide pos="1021"/>
        <p:guide pos="132"/>
        <p:guide pos="190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8" y="2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/>
          <a:lstStyle>
            <a:lvl1pPr algn="r">
              <a:defRPr sz="1300"/>
            </a:lvl1pPr>
          </a:lstStyle>
          <a:p>
            <a:fld id="{F929F65E-AEE7-45C5-814B-4468CAF1E537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1241425"/>
            <a:ext cx="6042025" cy="3357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05" tIns="45703" rIns="91405" bIns="457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86311"/>
            <a:ext cx="5486400" cy="3916364"/>
          </a:xfrm>
          <a:prstGeom prst="rect">
            <a:avLst/>
          </a:prstGeom>
        </p:spPr>
        <p:txBody>
          <a:bodyPr vert="horz" lIns="91405" tIns="45703" rIns="91405" bIns="45703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47214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8" y="9447214"/>
            <a:ext cx="2971800" cy="498476"/>
          </a:xfrm>
          <a:prstGeom prst="rect">
            <a:avLst/>
          </a:prstGeom>
        </p:spPr>
        <p:txBody>
          <a:bodyPr vert="horz" lIns="91405" tIns="45703" rIns="91405" bIns="45703" rtlCol="0" anchor="b"/>
          <a:lstStyle>
            <a:lvl1pPr algn="r">
              <a:defRPr sz="1300"/>
            </a:lvl1pPr>
          </a:lstStyle>
          <a:p>
            <a:fld id="{6A73BE5E-839E-45D1-B8A5-13B23A945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1211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1pPr>
    <a:lvl2pPr marL="83723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2pPr>
    <a:lvl3pPr marL="167445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3pPr>
    <a:lvl4pPr marL="251168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4pPr>
    <a:lvl5pPr marL="334890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5pPr>
    <a:lvl6pPr marL="418613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6pPr>
    <a:lvl7pPr marL="502335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7pPr>
    <a:lvl8pPr marL="586058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8pPr>
    <a:lvl9pPr marL="669781" algn="l" defTabSz="167445" rtl="0" eaLnBrk="1" latinLnBrk="1" hangingPunct="1">
      <a:defRPr sz="2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11" y="294620"/>
            <a:ext cx="2430066" cy="626745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011" y="945535"/>
            <a:ext cx="2430066" cy="434638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2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375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4003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68" y="448807"/>
            <a:ext cx="2794576" cy="748843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68" y="1204734"/>
            <a:ext cx="2794576" cy="393799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2pPr>
            <a:lvl3pPr marL="240030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4871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56" y="479227"/>
            <a:ext cx="1377037" cy="114222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95" y="479227"/>
            <a:ext cx="1377037" cy="114222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5910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95846"/>
            <a:ext cx="2794576" cy="34796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78" y="441305"/>
            <a:ext cx="1370709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78" y="657582"/>
            <a:ext cx="1370709" cy="9672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95" y="441305"/>
            <a:ext cx="1377459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95" y="657582"/>
            <a:ext cx="1377459" cy="9672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050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343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738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120015"/>
            <a:ext cx="1045013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459" y="259199"/>
            <a:ext cx="1640295" cy="1279327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8" y="540067"/>
            <a:ext cx="1045013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5658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120015"/>
            <a:ext cx="1045013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459" y="259199"/>
            <a:ext cx="1640295" cy="1279327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8" y="540067"/>
            <a:ext cx="1045013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249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027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688" y="95846"/>
            <a:ext cx="698644" cy="152560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56" y="95846"/>
            <a:ext cx="2055431" cy="152560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396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1" y="0"/>
            <a:ext cx="3246839" cy="18002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29909" y="30482"/>
            <a:ext cx="3182265" cy="1728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90825" y="81588"/>
            <a:ext cx="363162" cy="20304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BA0C91-E2D0-A166-2BE8-3501CE9BABF8}"/>
              </a:ext>
            </a:extLst>
          </p:cNvPr>
          <p:cNvSpPr txBox="1"/>
          <p:nvPr userDrawn="1"/>
        </p:nvSpPr>
        <p:spPr>
          <a:xfrm>
            <a:off x="2098273" y="1569905"/>
            <a:ext cx="114181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5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ko-KR" altLang="en-US" sz="600" b="1" dirty="0">
              <a:solidFill>
                <a:srgbClr val="4472C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4513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67">
          <p15:clr>
            <a:srgbClr val="FBAE40"/>
          </p15:clr>
        </p15:guide>
        <p15:guide id="2" pos="102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1" y="0"/>
            <a:ext cx="3246839" cy="18002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45477" y="17494"/>
            <a:ext cx="3154111" cy="1764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29499" y="29235"/>
            <a:ext cx="324488" cy="7561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256578-F800-6850-5D6B-02ED7EBACB52}"/>
              </a:ext>
            </a:extLst>
          </p:cNvPr>
          <p:cNvSpPr txBox="1"/>
          <p:nvPr userDrawn="1"/>
        </p:nvSpPr>
        <p:spPr>
          <a:xfrm>
            <a:off x="2890773" y="1686920"/>
            <a:ext cx="263214" cy="1231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en-US" altLang="ko-KR" sz="100" b="1" dirty="0">
              <a:solidFill>
                <a:srgbClr val="4472C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r"/>
            <a:r>
              <a:rPr lang="ko-KR" altLang="en-US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이비인후과</a:t>
            </a:r>
          </a:p>
        </p:txBody>
      </p:sp>
    </p:spTree>
    <p:extLst>
      <p:ext uri="{BB962C8B-B14F-4D97-AF65-F5344CB8AC3E}">
        <p14:creationId xmlns:p14="http://schemas.microsoft.com/office/powerpoint/2010/main" val="2737303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67" userDrawn="1">
          <p15:clr>
            <a:srgbClr val="FBAE40"/>
          </p15:clr>
        </p15:guide>
        <p15:guide id="2" pos="102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1" y="0"/>
            <a:ext cx="3246839" cy="18002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45477" y="17494"/>
            <a:ext cx="3154111" cy="1764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 dirty="0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27923" y="29235"/>
            <a:ext cx="324488" cy="7561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D82B35-E786-6435-BBDD-C02B0C93E120}"/>
              </a:ext>
            </a:extLst>
          </p:cNvPr>
          <p:cNvSpPr txBox="1"/>
          <p:nvPr userDrawn="1"/>
        </p:nvSpPr>
        <p:spPr>
          <a:xfrm>
            <a:off x="2863523" y="1707219"/>
            <a:ext cx="290464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이비인후과 </a:t>
            </a:r>
            <a:r>
              <a:rPr lang="en-US" altLang="ko-KR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131</a:t>
            </a:r>
            <a:r>
              <a:rPr lang="ko-KR" altLang="en-US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병동</a:t>
            </a:r>
          </a:p>
        </p:txBody>
      </p:sp>
    </p:spTree>
    <p:extLst>
      <p:ext uri="{BB962C8B-B14F-4D97-AF65-F5344CB8AC3E}">
        <p14:creationId xmlns:p14="http://schemas.microsoft.com/office/powerpoint/2010/main" val="501363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67" userDrawn="1">
          <p15:clr>
            <a:srgbClr val="FBAE40"/>
          </p15:clr>
        </p15:guide>
        <p15:guide id="2" pos="1021" userDrawn="1">
          <p15:clr>
            <a:srgbClr val="FBAE40"/>
          </p15:clr>
        </p15:guide>
        <p15:guide id="3" orient="horz" pos="6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56" y="95846"/>
            <a:ext cx="2794576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56" y="479227"/>
            <a:ext cx="2794576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56" y="1668542"/>
            <a:ext cx="72902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F34B4-7175-41BD-B98B-2E7021201D7D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79" y="1668542"/>
            <a:ext cx="109353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312" y="1668542"/>
            <a:ext cx="72902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2659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  <p:sldLayoutId id="2147483882" r:id="rId12"/>
    <p:sldLayoutId id="2147483790" r:id="rId13"/>
    <p:sldLayoutId id="2147483789" r:id="rId14"/>
  </p:sldLayoutIdLst>
  <p:txStyles>
    <p:titleStyle>
      <a:lvl1pPr algn="l" defTabSz="240030" rtl="0" eaLnBrk="1" latinLnBrk="1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8" indent="-60008" algn="l" defTabSz="240030" rtl="0" eaLnBrk="1" latinLnBrk="1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023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8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053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540068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60083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80098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900113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1020128" indent="-60008" algn="l" defTabSz="240030" rtl="0" eaLnBrk="1" latinLnBrk="1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1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67" userDrawn="1">
          <p15:clr>
            <a:srgbClr val="F26B43"/>
          </p15:clr>
        </p15:guide>
        <p15:guide id="2" pos="102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E3E193-F1E8-6947-F01D-A96C1A9F6D0E}"/>
              </a:ext>
            </a:extLst>
          </p:cNvPr>
          <p:cNvSpPr txBox="1"/>
          <p:nvPr/>
        </p:nvSpPr>
        <p:spPr>
          <a:xfrm>
            <a:off x="43499" y="63223"/>
            <a:ext cx="140350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순천향대학교 천안병원 </a:t>
            </a:r>
            <a:r>
              <a:rPr lang="en-US" altLang="ko-KR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| </a:t>
            </a:r>
            <a:r>
              <a:rPr lang="ko-KR" altLang="en-US" sz="600" b="1" spc="-1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진료지원간호팀 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CD23336-35E2-7BBF-742C-67D82BDC7617}"/>
              </a:ext>
            </a:extLst>
          </p:cNvPr>
          <p:cNvGrpSpPr/>
          <p:nvPr/>
        </p:nvGrpSpPr>
        <p:grpSpPr>
          <a:xfrm>
            <a:off x="608195" y="838920"/>
            <a:ext cx="634026" cy="568432"/>
            <a:chOff x="777945" y="-736888"/>
            <a:chExt cx="663508" cy="663508"/>
          </a:xfrm>
        </p:grpSpPr>
        <p:pic>
          <p:nvPicPr>
            <p:cNvPr id="5" name="그림 4" descr="패턴, 사각형, 예술, 직사각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0C63F4C-30AB-6EF2-23BA-1233104A9D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5432" y="-659401"/>
              <a:ext cx="508534" cy="508534"/>
            </a:xfrm>
            <a:prstGeom prst="rect">
              <a:avLst/>
            </a:prstGeom>
          </p:spPr>
        </p:pic>
        <p:sp>
          <p:nvSpPr>
            <p:cNvPr id="13" name="L 도형 12">
              <a:extLst>
                <a:ext uri="{FF2B5EF4-FFF2-40B4-BE49-F238E27FC236}">
                  <a16:creationId xmlns:a16="http://schemas.microsoft.com/office/drawing/2014/main" id="{B242B433-4D06-F840-EA3E-7FA7766D184C}"/>
                </a:ext>
              </a:extLst>
            </p:cNvPr>
            <p:cNvSpPr/>
            <p:nvPr/>
          </p:nvSpPr>
          <p:spPr>
            <a:xfrm rot="5400000">
              <a:off x="777945" y="-73688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L 도형 13">
              <a:extLst>
                <a:ext uri="{FF2B5EF4-FFF2-40B4-BE49-F238E27FC236}">
                  <a16:creationId xmlns:a16="http://schemas.microsoft.com/office/drawing/2014/main" id="{37DD2CDD-BF9D-CD6A-CC77-30C00DF7A8EA}"/>
                </a:ext>
              </a:extLst>
            </p:cNvPr>
            <p:cNvSpPr/>
            <p:nvPr/>
          </p:nvSpPr>
          <p:spPr>
            <a:xfrm rot="10800000">
              <a:off x="1286479" y="-736888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L 도형 14">
              <a:extLst>
                <a:ext uri="{FF2B5EF4-FFF2-40B4-BE49-F238E27FC236}">
                  <a16:creationId xmlns:a16="http://schemas.microsoft.com/office/drawing/2014/main" id="{DD20813D-7C4F-9420-E012-EB09FDC9059E}"/>
                </a:ext>
              </a:extLst>
            </p:cNvPr>
            <p:cNvSpPr/>
            <p:nvPr/>
          </p:nvSpPr>
          <p:spPr>
            <a:xfrm>
              <a:off x="777945" y="-228897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L 도형 15">
              <a:extLst>
                <a:ext uri="{FF2B5EF4-FFF2-40B4-BE49-F238E27FC236}">
                  <a16:creationId xmlns:a16="http://schemas.microsoft.com/office/drawing/2014/main" id="{C2F58D7B-1E2F-7C1C-29C2-3CBAF321313E}"/>
                </a:ext>
              </a:extLst>
            </p:cNvPr>
            <p:cNvSpPr/>
            <p:nvPr/>
          </p:nvSpPr>
          <p:spPr>
            <a:xfrm rot="16200000">
              <a:off x="1286479" y="-228354"/>
              <a:ext cx="154974" cy="154974"/>
            </a:xfrm>
            <a:prstGeom prst="corner">
              <a:avLst>
                <a:gd name="adj1" fmla="val 24841"/>
                <a:gd name="adj2" fmla="val 2562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60DDF2E-2289-473B-B5F6-77027118C993}"/>
              </a:ext>
            </a:extLst>
          </p:cNvPr>
          <p:cNvGrpSpPr/>
          <p:nvPr/>
        </p:nvGrpSpPr>
        <p:grpSpPr>
          <a:xfrm>
            <a:off x="131326" y="274768"/>
            <a:ext cx="1746464" cy="425416"/>
            <a:chOff x="614240" y="226472"/>
            <a:chExt cx="1746464" cy="42541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F0C02A7-D766-DD14-548E-2AE7955534F4}"/>
                </a:ext>
              </a:extLst>
            </p:cNvPr>
            <p:cNvSpPr txBox="1"/>
            <p:nvPr/>
          </p:nvSpPr>
          <p:spPr>
            <a:xfrm>
              <a:off x="685077" y="226472"/>
              <a:ext cx="1604991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400" dirty="0" err="1">
                  <a:solidFill>
                    <a:srgbClr val="00B0F0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우리가치</a:t>
              </a:r>
              <a:r>
                <a:rPr lang="ko-KR" altLang="en-US" sz="1400" dirty="0">
                  <a:solidFill>
                    <a:schemeClr val="accent1">
                      <a:lumMod val="50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en-US" altLang="ko-KR" sz="1400" dirty="0" err="1">
                  <a:solidFill>
                    <a:schemeClr val="accent1">
                      <a:lumMod val="50000"/>
                    </a:schemeClr>
                  </a:solidFill>
                  <a:latin typeface="Franklin Gothic Heavy" panose="020B0903020102020204" pitchFamily="34" charset="0"/>
                  <a:ea typeface="KoPub돋움체 Bold" panose="02020603020101020101" pitchFamily="18" charset="-127"/>
                </a:rPr>
                <a:t>WeValue</a:t>
              </a:r>
              <a:endParaRPr lang="en-US" altLang="ko-KR" sz="1400" dirty="0">
                <a:solidFill>
                  <a:schemeClr val="accent1">
                    <a:lumMod val="50000"/>
                  </a:schemeClr>
                </a:solidFill>
                <a:latin typeface="Franklin Gothic Heavy" panose="020B0903020102020204" pitchFamily="34" charset="0"/>
                <a:ea typeface="KoPub돋움체 Bold" panose="02020603020101020101" pitchFamily="18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5F3C248-44C4-9D7A-C464-62D68C9890DC}"/>
                </a:ext>
              </a:extLst>
            </p:cNvPr>
            <p:cNvSpPr txBox="1"/>
            <p:nvPr/>
          </p:nvSpPr>
          <p:spPr>
            <a:xfrm>
              <a:off x="622591" y="451833"/>
              <a:ext cx="1729962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[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우리가 가치를 만드는 공간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, </a:t>
              </a:r>
              <a:r>
                <a:rPr lang="ko-KR" altLang="en-US" sz="700" b="1" dirty="0" err="1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우리가치</a:t>
              </a:r>
              <a:r>
                <a:rPr lang="ko-KR" altLang="en-US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허브</a:t>
              </a:r>
              <a:r>
                <a:rPr lang="en-US" altLang="ko-KR" sz="7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]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B1E9046-9340-4D3D-AA23-F89851FB0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240" y="271322"/>
              <a:ext cx="147416" cy="128728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799E618A-B635-413C-90D6-9BBB5F48E4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181315" y="257361"/>
              <a:ext cx="179389" cy="156650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FCD9B137-9F07-4052-B76C-36D6AED25D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197302" y="276730"/>
              <a:ext cx="147414" cy="128728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B2D700B-07E0-4E28-A7D2-0F4C62846EE3}"/>
              </a:ext>
            </a:extLst>
          </p:cNvPr>
          <p:cNvGrpSpPr/>
          <p:nvPr/>
        </p:nvGrpSpPr>
        <p:grpSpPr>
          <a:xfrm>
            <a:off x="1506613" y="772187"/>
            <a:ext cx="1564409" cy="707886"/>
            <a:chOff x="796295" y="778765"/>
            <a:chExt cx="1564409" cy="707886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1921C24-9018-417C-966E-E56980F41166}"/>
                </a:ext>
              </a:extLst>
            </p:cNvPr>
            <p:cNvSpPr txBox="1"/>
            <p:nvPr/>
          </p:nvSpPr>
          <p:spPr>
            <a:xfrm>
              <a:off x="1422627" y="778765"/>
              <a:ext cx="93807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함께하는 즐거움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“</a:t>
              </a:r>
            </a:p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명확한 약속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endParaRPr lang="ko-KR" altLang="en-US" sz="800" dirty="0">
                <a:latin typeface="KoPub돋움체 Light" panose="00000300000000000000" pitchFamily="2" charset="-127"/>
                <a:ea typeface="KoPub돋움체 Light" panose="00000300000000000000" pitchFamily="2" charset="-127"/>
              </a:endParaRPr>
            </a:p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한눈에 보는 실무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endParaRPr lang="ko-KR" altLang="en-US" sz="800" dirty="0">
                <a:latin typeface="KoPub돋움체 Light" panose="00000300000000000000" pitchFamily="2" charset="-127"/>
                <a:ea typeface="KoPub돋움체 Light" panose="00000300000000000000" pitchFamily="2" charset="-127"/>
              </a:endParaRPr>
            </a:p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현장 밀착형 지원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endParaRPr lang="ko-KR" altLang="en-US" sz="800" dirty="0">
                <a:latin typeface="KoPub돋움체 Light" panose="00000300000000000000" pitchFamily="2" charset="-127"/>
                <a:ea typeface="KoPub돋움체 Light" panose="00000300000000000000" pitchFamily="2" charset="-127"/>
              </a:endParaRPr>
            </a:p>
            <a:p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r>
                <a:rPr lang="ko-KR" altLang="en-US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변화의 체감</a:t>
              </a:r>
              <a:r>
                <a:rPr lang="en-US" altLang="ko-KR" sz="800" dirty="0">
                  <a:latin typeface="KoPub돋움체 Light" panose="00000300000000000000" pitchFamily="2" charset="-127"/>
                  <a:ea typeface="KoPub돋움체 Light" panose="00000300000000000000" pitchFamily="2" charset="-127"/>
                </a:rPr>
                <a:t>"</a:t>
              </a:r>
              <a:endParaRPr lang="ko-KR" altLang="en-US" sz="800" dirty="0">
                <a:latin typeface="KoPub돋움체 Light" panose="00000300000000000000" pitchFamily="2" charset="-127"/>
                <a:ea typeface="KoPub돋움체 Light" panose="00000300000000000000" pitchFamily="2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2EAB35A-296C-468C-BCA0-D585048BF4E9}"/>
                </a:ext>
              </a:extLst>
            </p:cNvPr>
            <p:cNvSpPr txBox="1"/>
            <p:nvPr/>
          </p:nvSpPr>
          <p:spPr>
            <a:xfrm>
              <a:off x="796295" y="778765"/>
              <a:ext cx="75373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소통의 광장</a:t>
              </a:r>
              <a:endParaRPr lang="en-US" altLang="ko-KR" sz="800" b="1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업무 기준</a:t>
              </a:r>
            </a:p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교육자료</a:t>
              </a:r>
            </a:p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요청</a:t>
              </a:r>
            </a:p>
            <a:p>
              <a:pPr marL="88900" indent="-88900">
                <a:buClr>
                  <a:srgbClr val="00B0F0"/>
                </a:buClr>
                <a:buFont typeface="Arial" panose="020B0604020202020204" pitchFamily="34" charset="0"/>
                <a:buChar char="•"/>
              </a:pPr>
              <a:r>
                <a:rPr lang="ko-KR" altLang="en-US" sz="800" b="1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지표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6204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1BF69-B73E-E52D-A273-34695C83C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480AF66F-CB5C-451A-847A-EB60BA580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058" y="1020048"/>
            <a:ext cx="359069" cy="20304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20D6DC-7FD8-414D-8D41-7397E6AB51D5}"/>
              </a:ext>
            </a:extLst>
          </p:cNvPr>
          <p:cNvSpPr txBox="1"/>
          <p:nvPr/>
        </p:nvSpPr>
        <p:spPr>
          <a:xfrm>
            <a:off x="1151732" y="1036931"/>
            <a:ext cx="124777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순천향대학교 천안병원 </a:t>
            </a:r>
            <a:r>
              <a:rPr lang="en-US" altLang="ko-KR" sz="5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| </a:t>
            </a:r>
            <a:r>
              <a:rPr lang="ko-KR" altLang="en-US" sz="5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ko-KR" altLang="en-US" sz="600" b="1" dirty="0">
              <a:solidFill>
                <a:srgbClr val="4472C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8CE481-19EF-4F97-AF73-265FDB83283E}"/>
              </a:ext>
            </a:extLst>
          </p:cNvPr>
          <p:cNvSpPr txBox="1"/>
          <p:nvPr/>
        </p:nvSpPr>
        <p:spPr>
          <a:xfrm>
            <a:off x="1019010" y="669281"/>
            <a:ext cx="110318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900" dirty="0" err="1">
                <a:solidFill>
                  <a:srgbClr val="00B0F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우리가치</a:t>
            </a:r>
            <a:r>
              <a:rPr lang="ko-KR" altLang="en-US" sz="900" dirty="0">
                <a:solidFill>
                  <a:schemeClr val="accent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900" dirty="0" err="1">
                <a:solidFill>
                  <a:schemeClr val="accent1">
                    <a:lumMod val="50000"/>
                  </a:schemeClr>
                </a:solidFill>
                <a:latin typeface="Franklin Gothic Heavy" panose="020B0903020102020204" pitchFamily="34" charset="0"/>
                <a:ea typeface="KoPub돋움체 Bold" panose="02020603020101020101" pitchFamily="18" charset="-127"/>
              </a:rPr>
              <a:t>WeValue</a:t>
            </a:r>
            <a:endParaRPr lang="en-US" altLang="ko-KR" sz="900" dirty="0">
              <a:solidFill>
                <a:schemeClr val="accent1">
                  <a:lumMod val="50000"/>
                </a:schemeClr>
              </a:solidFill>
              <a:latin typeface="Franklin Gothic Heavy" panose="020B0903020102020204" pitchFamily="34" charset="0"/>
              <a:ea typeface="KoPub돋움체 Bold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A9A54C-F797-44FB-AB3D-27BD433EFBED}"/>
              </a:ext>
            </a:extLst>
          </p:cNvPr>
          <p:cNvSpPr txBox="1"/>
          <p:nvPr/>
        </p:nvSpPr>
        <p:spPr>
          <a:xfrm>
            <a:off x="924433" y="816061"/>
            <a:ext cx="1292341" cy="1692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[</a:t>
            </a:r>
            <a:r>
              <a:rPr lang="ko-KR" altLang="en-US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우리가 가치를 만드는 공간</a:t>
            </a:r>
            <a:r>
              <a:rPr lang="en-US" altLang="ko-KR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500" b="1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우리가치</a:t>
            </a:r>
            <a:r>
              <a:rPr lang="ko-KR" altLang="en-US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허브</a:t>
            </a:r>
            <a:r>
              <a:rPr lang="en-US" altLang="ko-KR" sz="5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]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3A7A373-FECD-4243-98D0-B22830297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821" y="714131"/>
            <a:ext cx="147416" cy="12872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5D16522-22F0-487F-BE90-3035E8C29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054114" y="719539"/>
            <a:ext cx="147414" cy="12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560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1BF69-B73E-E52D-A273-34695C83C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480AF66F-CB5C-451A-847A-EB60BA580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058" y="798592"/>
            <a:ext cx="359069" cy="20304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20D6DC-7FD8-414D-8D41-7397E6AB51D5}"/>
              </a:ext>
            </a:extLst>
          </p:cNvPr>
          <p:cNvSpPr txBox="1"/>
          <p:nvPr/>
        </p:nvSpPr>
        <p:spPr>
          <a:xfrm>
            <a:off x="1151732" y="815475"/>
            <a:ext cx="124777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순천향대학교 천안병원 </a:t>
            </a:r>
            <a:r>
              <a:rPr lang="en-US" altLang="ko-KR" sz="5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| </a:t>
            </a:r>
            <a:r>
              <a:rPr lang="ko-KR" altLang="en-US" sz="5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ko-KR" altLang="en-US" sz="600" b="1" dirty="0">
              <a:solidFill>
                <a:srgbClr val="4472C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9512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44891-DB0B-9038-5B25-629A4C22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D2AB74B-0885-7248-82A8-738CC227DF1C}"/>
              </a:ext>
            </a:extLst>
          </p:cNvPr>
          <p:cNvSpPr/>
          <p:nvPr/>
        </p:nvSpPr>
        <p:spPr>
          <a:xfrm>
            <a:off x="807085" y="324614"/>
            <a:ext cx="2321877" cy="382344"/>
          </a:xfrm>
          <a:prstGeom prst="roundRect">
            <a:avLst>
              <a:gd name="adj" fmla="val 11062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073FA0F-66B5-6BAF-0E1F-7AC6E77B5191}"/>
              </a:ext>
            </a:extLst>
          </p:cNvPr>
          <p:cNvSpPr/>
          <p:nvPr/>
        </p:nvSpPr>
        <p:spPr>
          <a:xfrm>
            <a:off x="807085" y="745556"/>
            <a:ext cx="2321877" cy="592988"/>
          </a:xfrm>
          <a:prstGeom prst="roundRect">
            <a:avLst>
              <a:gd name="adj" fmla="val 8451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93AC22E-D82C-01DF-84E7-90AC9AD4AD3F}"/>
              </a:ext>
            </a:extLst>
          </p:cNvPr>
          <p:cNvSpPr/>
          <p:nvPr/>
        </p:nvSpPr>
        <p:spPr>
          <a:xfrm>
            <a:off x="73819" y="324614"/>
            <a:ext cx="721520" cy="382344"/>
          </a:xfrm>
          <a:prstGeom prst="roundRect">
            <a:avLst>
              <a:gd name="adj" fmla="val 1106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ABBF7A-4383-D72B-A05E-B56FEE94992E}"/>
              </a:ext>
            </a:extLst>
          </p:cNvPr>
          <p:cNvSpPr txBox="1"/>
          <p:nvPr/>
        </p:nvSpPr>
        <p:spPr>
          <a:xfrm>
            <a:off x="61773" y="54245"/>
            <a:ext cx="118038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순천향대학교 천안병원 </a:t>
            </a:r>
            <a:r>
              <a:rPr lang="en-US" altLang="ko-KR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| </a:t>
            </a:r>
            <a:r>
              <a:rPr lang="ko-KR" altLang="en-US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진료지원간호팀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3CA475-D856-01FB-19C8-E100A19DE5EF}"/>
              </a:ext>
            </a:extLst>
          </p:cNvPr>
          <p:cNvSpPr txBox="1"/>
          <p:nvPr/>
        </p:nvSpPr>
        <p:spPr>
          <a:xfrm>
            <a:off x="755416" y="415758"/>
            <a:ext cx="262743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Case ID :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병실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등록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성함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교수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월일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시간</a:t>
            </a:r>
            <a:endParaRPr lang="en-US" altLang="ko-KR" sz="800" dirty="0">
              <a:solidFill>
                <a:schemeClr val="tx2">
                  <a:lumMod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B4DC618-B29F-845A-7DD8-6A834C8CEE4F}"/>
              </a:ext>
            </a:extLst>
          </p:cNvPr>
          <p:cNvSpPr/>
          <p:nvPr/>
        </p:nvSpPr>
        <p:spPr>
          <a:xfrm>
            <a:off x="73819" y="745555"/>
            <a:ext cx="721520" cy="592987"/>
          </a:xfrm>
          <a:prstGeom prst="roundRect">
            <a:avLst>
              <a:gd name="adj" fmla="val 845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29C902-63CB-1B88-5847-68EBD7D4096A}"/>
              </a:ext>
            </a:extLst>
          </p:cNvPr>
          <p:cNvSpPr txBox="1"/>
          <p:nvPr/>
        </p:nvSpPr>
        <p:spPr>
          <a:xfrm>
            <a:off x="796061" y="718077"/>
            <a:ext cx="2321878" cy="628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[A]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보고 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병동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: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ID 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지금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근거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요청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10·4·12</a:t>
            </a:r>
          </a:p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[C]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상황 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(PA) :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ID 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상황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(C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코드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다음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HHMM</a:t>
            </a:r>
          </a:p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[D]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완료 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(PA) :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ID /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조치결과 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F/U 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77CD16-1AA6-B8C7-0E32-C84E8AF73AC7}"/>
              </a:ext>
            </a:extLst>
          </p:cNvPr>
          <p:cNvSpPr txBox="1"/>
          <p:nvPr/>
        </p:nvSpPr>
        <p:spPr>
          <a:xfrm>
            <a:off x="254362" y="1408811"/>
            <a:ext cx="270986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10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분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응급           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4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시간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우선 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    12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시간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루틴</a:t>
            </a:r>
            <a:endParaRPr lang="en-US" altLang="ko-KR" sz="7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28A249-57BD-B8C5-F243-8E09603FB635}"/>
              </a:ext>
            </a:extLst>
          </p:cNvPr>
          <p:cNvSpPr txBox="1"/>
          <p:nvPr/>
        </p:nvSpPr>
        <p:spPr>
          <a:xfrm>
            <a:off x="487241" y="1408811"/>
            <a:ext cx="308098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7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A14600-6A4E-68DE-AE93-F9D76C812333}"/>
              </a:ext>
            </a:extLst>
          </p:cNvPr>
          <p:cNvSpPr txBox="1"/>
          <p:nvPr/>
        </p:nvSpPr>
        <p:spPr>
          <a:xfrm>
            <a:off x="1188617" y="1408811"/>
            <a:ext cx="308098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700" dirty="0"/>
              <a:t>🟢</a:t>
            </a:r>
            <a:endParaRPr lang="ko-KR" altLang="en-US" sz="7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547C35-0538-3980-F43F-51DCC8C2C5B7}"/>
              </a:ext>
            </a:extLst>
          </p:cNvPr>
          <p:cNvSpPr txBox="1"/>
          <p:nvPr/>
        </p:nvSpPr>
        <p:spPr>
          <a:xfrm>
            <a:off x="1843546" y="1408811"/>
            <a:ext cx="308098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7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🟡</a:t>
            </a:r>
            <a:endParaRPr lang="ko-KR" altLang="en-US" sz="7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FFF511-7B20-E2F4-96D5-C91B888C0873}"/>
              </a:ext>
            </a:extLst>
          </p:cNvPr>
          <p:cNvSpPr txBox="1"/>
          <p:nvPr/>
        </p:nvSpPr>
        <p:spPr>
          <a:xfrm>
            <a:off x="157821" y="366661"/>
            <a:ext cx="63671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800" b="1" dirty="0">
                <a:solidFill>
                  <a:srgbClr val="0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실전 소통</a:t>
            </a:r>
            <a:endParaRPr lang="en-US" altLang="ko-KR" sz="800" b="1" dirty="0">
              <a:solidFill>
                <a:srgbClr val="00000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/>
            <a:r>
              <a:rPr lang="en-US" altLang="ko-KR" sz="800" b="1" dirty="0">
                <a:solidFill>
                  <a:srgbClr val="0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&amp; </a:t>
            </a:r>
            <a:r>
              <a:rPr lang="ko-KR" altLang="en-US" sz="800" b="1" dirty="0">
                <a:solidFill>
                  <a:srgbClr val="0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트리아제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AC34A0-F9F3-3EDB-E7DE-AF18BCE089E6}"/>
              </a:ext>
            </a:extLst>
          </p:cNvPr>
          <p:cNvSpPr txBox="1"/>
          <p:nvPr/>
        </p:nvSpPr>
        <p:spPr>
          <a:xfrm>
            <a:off x="128847" y="932596"/>
            <a:ext cx="681597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8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b="1" dirty="0">
                <a:solidFill>
                  <a:srgbClr val="000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ACD Loop</a:t>
            </a:r>
            <a:endParaRPr lang="ko-KR" altLang="en-US" sz="2000" b="1" dirty="0">
              <a:solidFill>
                <a:srgbClr val="000000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F6F1791-FF02-2FDA-4F5D-44CDEE636F8C}"/>
              </a:ext>
            </a:extLst>
          </p:cNvPr>
          <p:cNvCxnSpPr/>
          <p:nvPr/>
        </p:nvCxnSpPr>
        <p:spPr>
          <a:xfrm flipH="1">
            <a:off x="154781" y="1373677"/>
            <a:ext cx="290988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CC02FF7-A679-B89A-005B-137BDE8C1901}"/>
              </a:ext>
            </a:extLst>
          </p:cNvPr>
          <p:cNvSpPr txBox="1"/>
          <p:nvPr/>
        </p:nvSpPr>
        <p:spPr>
          <a:xfrm>
            <a:off x="0" y="408064"/>
            <a:ext cx="32573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800" dirty="0"/>
              <a:t>📌</a:t>
            </a:r>
            <a:endParaRPr lang="ko-KR" altLang="en-US" sz="800" b="1" dirty="0">
              <a:solidFill>
                <a:srgbClr val="00000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BF33BF-AF8E-EFE0-9534-14A99E5444ED}"/>
              </a:ext>
            </a:extLst>
          </p:cNvPr>
          <p:cNvSpPr txBox="1"/>
          <p:nvPr/>
        </p:nvSpPr>
        <p:spPr>
          <a:xfrm>
            <a:off x="3206" y="932595"/>
            <a:ext cx="322524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8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🔄</a:t>
            </a:r>
            <a:endParaRPr lang="ko-KR" altLang="en-US" sz="2000" b="1" dirty="0">
              <a:solidFill>
                <a:srgbClr val="000000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4611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95857-5CB6-E176-FDD7-C77B771BA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B8E964-7EED-74B0-E816-8BE4F8865B12}"/>
              </a:ext>
            </a:extLst>
          </p:cNvPr>
          <p:cNvSpPr txBox="1"/>
          <p:nvPr/>
        </p:nvSpPr>
        <p:spPr>
          <a:xfrm>
            <a:off x="47760" y="54245"/>
            <a:ext cx="1208408" cy="1692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순천향대학교 천안병원 </a:t>
            </a:r>
            <a:r>
              <a:rPr lang="en-US" altLang="ko-KR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| </a:t>
            </a:r>
            <a:r>
              <a:rPr lang="ko-KR" altLang="en-US" sz="500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진료지원간호팀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4548F5-C227-C424-9E2A-BCF01202B11D}"/>
              </a:ext>
            </a:extLst>
          </p:cNvPr>
          <p:cNvSpPr txBox="1"/>
          <p:nvPr/>
        </p:nvSpPr>
        <p:spPr>
          <a:xfrm>
            <a:off x="94186" y="156738"/>
            <a:ext cx="15087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900" b="1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📊 </a:t>
            </a:r>
            <a:r>
              <a:rPr lang="en-US" altLang="ko-KR" sz="900" b="1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C-Code &amp; Guide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33DDDA-6085-D01E-695B-8DCA20A2A084}"/>
              </a:ext>
            </a:extLst>
          </p:cNvPr>
          <p:cNvSpPr txBox="1"/>
          <p:nvPr/>
        </p:nvSpPr>
        <p:spPr>
          <a:xfrm>
            <a:off x="111579" y="351401"/>
            <a:ext cx="2982706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</a:t>
            </a:r>
            <a:r>
              <a:rPr lang="ko-KR" altLang="en-US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지연</a:t>
            </a:r>
            <a:r>
              <a:rPr lang="en-US" altLang="ko-KR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</a:t>
            </a:r>
            <a:r>
              <a:rPr lang="ko-KR" altLang="en-US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인계 보호기록 사유</a:t>
            </a:r>
            <a:r>
              <a:rPr lang="en-US" altLang="ko-KR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</a:t>
            </a:r>
          </a:p>
          <a:p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PA 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지연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(C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코드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): C1(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응급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C2(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수술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C3(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결과대기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C4(</a:t>
            </a:r>
            <a:r>
              <a:rPr lang="ko-KR" altLang="en-US" sz="80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컨펌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</a:p>
          <a:p>
            <a:endParaRPr lang="en-US" altLang="ko-KR" sz="6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병동 인계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(IN-OUT): IN-OUT (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교대 시 업무 인계 완료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</a:p>
          <a:p>
            <a:endParaRPr lang="en-US" altLang="ko-KR" sz="6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ko-KR" altLang="en-US" sz="800" b="1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＃운영 단계별 적용 가이드</a:t>
            </a:r>
            <a:endParaRPr lang="en-US" altLang="ko-KR" sz="800" b="1" dirty="0">
              <a:highlight>
                <a:srgbClr val="FFFF00"/>
              </a:highlight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스티커 하단에 작게 아래 문구를 포함하여  도입 초기 혼선을 방지합니다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  <a:p>
            <a:endParaRPr lang="en-US" altLang="ko-KR" sz="6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en-US" altLang="ko-KR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※ [C]</a:t>
            </a:r>
            <a:r>
              <a:rPr lang="ko-KR" altLang="en-US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사유코드 및 체크타임</a:t>
            </a:r>
            <a:r>
              <a:rPr lang="en-US" altLang="ko-KR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(IN-OUT, </a:t>
            </a:r>
            <a:r>
              <a:rPr lang="ko-KR" altLang="en-US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예정처리</a:t>
            </a:r>
            <a:r>
              <a:rPr lang="en-US" altLang="ko-KR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  <a:r>
              <a:rPr lang="ko-KR" altLang="en-US" sz="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은 안정화 이후 활성화</a:t>
            </a:r>
          </a:p>
        </p:txBody>
      </p:sp>
    </p:spTree>
    <p:extLst>
      <p:ext uri="{BB962C8B-B14F-4D97-AF65-F5344CB8AC3E}">
        <p14:creationId xmlns:p14="http://schemas.microsoft.com/office/powerpoint/2010/main" val="1528733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95857-5CB6-E176-FDD7-C77B771BA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0243490-B7C6-42DB-B189-20704EFBD587}"/>
              </a:ext>
            </a:extLst>
          </p:cNvPr>
          <p:cNvSpPr/>
          <p:nvPr/>
        </p:nvSpPr>
        <p:spPr>
          <a:xfrm>
            <a:off x="226620" y="282605"/>
            <a:ext cx="896591" cy="1920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3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30F47067-F54E-4A90-9F21-57BD24BB9C63}"/>
              </a:ext>
            </a:extLst>
          </p:cNvPr>
          <p:cNvSpPr/>
          <p:nvPr/>
        </p:nvSpPr>
        <p:spPr>
          <a:xfrm>
            <a:off x="1141463" y="282605"/>
            <a:ext cx="1871533" cy="1920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3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41B2AA-F91D-4DF3-86CD-504CE316D08F}"/>
              </a:ext>
            </a:extLst>
          </p:cNvPr>
          <p:cNvSpPr txBox="1"/>
          <p:nvPr/>
        </p:nvSpPr>
        <p:spPr>
          <a:xfrm>
            <a:off x="1868409" y="898006"/>
            <a:ext cx="995304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야간 응급 유선 보고 후 사후 </a:t>
            </a:r>
            <a:r>
              <a: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[A]-[D] 1</a:t>
            </a:r>
            <a:r>
              <a:rPr lang="ko-KR" altLang="en-US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줄 기록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193F6F5-6376-4F98-A3BB-96E53249AC9E}"/>
              </a:ext>
            </a:extLst>
          </p:cNvPr>
          <p:cNvSpPr/>
          <p:nvPr/>
        </p:nvSpPr>
        <p:spPr>
          <a:xfrm>
            <a:off x="1793399" y="836088"/>
            <a:ext cx="1219597" cy="335942"/>
          </a:xfrm>
          <a:prstGeom prst="roundRect">
            <a:avLst>
              <a:gd name="adj" fmla="val 13824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78">
              <a:latin typeface="KoPub돋움체 Medium" panose="02020603020101020101" pitchFamily="18" charset="-127"/>
              <a:ea typeface="KoPub돋움체 Light" panose="02020603020101020101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BE07B44-9D20-4CE2-BFB6-8DDA339570CA}"/>
              </a:ext>
            </a:extLst>
          </p:cNvPr>
          <p:cNvSpPr/>
          <p:nvPr/>
        </p:nvSpPr>
        <p:spPr>
          <a:xfrm>
            <a:off x="1141463" y="837938"/>
            <a:ext cx="634156" cy="334091"/>
          </a:xfrm>
          <a:prstGeom prst="roundRect">
            <a:avLst>
              <a:gd name="adj" fmla="val 1309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78">
              <a:latin typeface="KoPub돋움체 Medium" panose="02020603020101020101" pitchFamily="18" charset="-127"/>
              <a:ea typeface="KoPub돋움체 Light" panose="02020603020101020101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132F88-5AA2-43B2-8C2A-F2BB31E51E43}"/>
              </a:ext>
            </a:extLst>
          </p:cNvPr>
          <p:cNvSpPr txBox="1"/>
          <p:nvPr/>
        </p:nvSpPr>
        <p:spPr>
          <a:xfrm>
            <a:off x="1154612" y="936320"/>
            <a:ext cx="607860" cy="1785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6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[D-</a:t>
            </a:r>
            <a:r>
              <a:rPr lang="ko-KR" altLang="en-US" sz="560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야간유선</a:t>
            </a:r>
            <a:r>
              <a:rPr lang="en-US" altLang="ko-KR" sz="56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B8E964-7EED-74B0-E816-8BE4F8865B12}"/>
              </a:ext>
            </a:extLst>
          </p:cNvPr>
          <p:cNvSpPr txBox="1"/>
          <p:nvPr/>
        </p:nvSpPr>
        <p:spPr>
          <a:xfrm>
            <a:off x="-10111" y="64610"/>
            <a:ext cx="1347869" cy="1683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494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순천향대학교 천안병원 </a:t>
            </a:r>
            <a:r>
              <a:rPr lang="en-US" altLang="ko-KR" sz="494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| </a:t>
            </a:r>
            <a:r>
              <a:rPr lang="ko-KR" altLang="en-US" sz="494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진료지원간호팀 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99CA2A2-FAD0-4681-B98C-3A7AA0484B78}"/>
              </a:ext>
            </a:extLst>
          </p:cNvPr>
          <p:cNvGrpSpPr/>
          <p:nvPr/>
        </p:nvGrpSpPr>
        <p:grpSpPr>
          <a:xfrm>
            <a:off x="227092" y="488646"/>
            <a:ext cx="904857" cy="1183130"/>
            <a:chOff x="592138" y="1592949"/>
            <a:chExt cx="2585305" cy="3380371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8DA9AE8C-7191-4002-98F1-FF77B72D519F}"/>
                </a:ext>
              </a:extLst>
            </p:cNvPr>
            <p:cNvSpPr/>
            <p:nvPr/>
          </p:nvSpPr>
          <p:spPr>
            <a:xfrm>
              <a:off x="592138" y="1592949"/>
              <a:ext cx="2561688" cy="2814796"/>
            </a:xfrm>
            <a:prstGeom prst="roundRect">
              <a:avLst>
                <a:gd name="adj" fmla="val 5214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778">
                <a:solidFill>
                  <a:schemeClr val="tx1"/>
                </a:solidFill>
                <a:ea typeface="KoPub돋움체 Light" panose="02020603020101020101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E33DDDA-6085-D01E-695B-8DCA20A2A084}"/>
                </a:ext>
              </a:extLst>
            </p:cNvPr>
            <p:cNvSpPr txBox="1"/>
            <p:nvPr/>
          </p:nvSpPr>
          <p:spPr>
            <a:xfrm>
              <a:off x="630047" y="1754858"/>
              <a:ext cx="2547396" cy="32184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560" b="1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[CHEMO] </a:t>
              </a:r>
              <a:r>
                <a:rPr lang="ko-KR" altLang="en-US" sz="560" dirty="0"/>
                <a:t>항암 관리</a:t>
              </a:r>
            </a:p>
            <a:p>
              <a:r>
                <a:rPr lang="en-US" altLang="ko-KR" sz="560" b="1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[BLOOD]</a:t>
              </a:r>
              <a:r>
                <a:rPr lang="en-US" altLang="ko-KR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 </a:t>
              </a:r>
              <a:r>
                <a:rPr lang="ko-KR" altLang="en-US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수혈 관리</a:t>
              </a:r>
              <a:endPara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  <a:p>
              <a:r>
                <a:rPr lang="en-US" altLang="ko-KR" sz="560" b="1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[CVR]</a:t>
              </a:r>
              <a:r>
                <a:rPr lang="en-US" altLang="ko-KR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 </a:t>
              </a:r>
              <a:r>
                <a:rPr lang="ko-KR" altLang="en-US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위험 수치</a:t>
              </a:r>
              <a:endPara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  <a:p>
              <a:r>
                <a:rPr lang="en-US" altLang="ko-KR" sz="560" b="1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[LIFE] </a:t>
              </a:r>
              <a:r>
                <a:rPr lang="ko-KR" altLang="en-US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존엄</a:t>
              </a:r>
              <a:r>
                <a:rPr lang="en-US" altLang="ko-KR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/</a:t>
              </a:r>
              <a:r>
                <a:rPr lang="ko-KR" altLang="en-US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임종</a:t>
              </a:r>
              <a:endPara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  <a:p>
              <a:r>
                <a:rPr lang="en-US" altLang="ko-KR" sz="560" b="1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[MEET] </a:t>
              </a:r>
              <a:r>
                <a:rPr lang="ko-KR" altLang="en-US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보호자 면담</a:t>
              </a:r>
              <a:endPara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  <a:p>
              <a:r>
                <a:rPr lang="en-US" altLang="ko-KR" sz="560" b="1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[MARROW] </a:t>
              </a:r>
              <a:r>
                <a:rPr lang="ko-KR" altLang="en-US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골수 검사</a:t>
              </a:r>
              <a:endPara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  <a:p>
              <a:r>
                <a:rPr lang="en-US" altLang="ko-KR" sz="560" b="1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[ISO] </a:t>
              </a:r>
              <a:r>
                <a:rPr lang="ko-KR" altLang="en-US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격리 관리</a:t>
              </a:r>
              <a:endPara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  <a:p>
              <a:r>
                <a:rPr lang="en-US" altLang="ko-KR" sz="560" b="1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[C-Status] </a:t>
              </a:r>
              <a:r>
                <a:rPr lang="ko-KR" altLang="en-US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상태 악화</a:t>
              </a:r>
              <a:endPara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  <a:p>
              <a:r>
                <a:rPr lang="en-US" altLang="ko-KR" sz="560" b="1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[PAIN] </a:t>
              </a:r>
              <a:r>
                <a:rPr lang="ko-KR" altLang="en-US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통증 조절</a:t>
              </a:r>
              <a:endPara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  <a:p>
              <a:r>
                <a:rPr lang="en-US" altLang="ko-KR" sz="560" b="1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[OUT] </a:t>
              </a:r>
              <a:r>
                <a:rPr lang="ko-KR" altLang="en-US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퇴원</a:t>
              </a:r>
              <a:r>
                <a:rPr lang="en-US" altLang="ko-KR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/</a:t>
              </a:r>
              <a:r>
                <a:rPr lang="ko-KR" altLang="en-US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전과</a:t>
              </a:r>
              <a:r>
                <a:rPr lang="en-US" altLang="ko-KR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/</a:t>
              </a:r>
              <a:r>
                <a:rPr lang="ko-KR" altLang="en-US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사망</a:t>
              </a:r>
              <a:endPara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C7E232E-6B0D-4C30-967C-1D82B967BC1B}"/>
              </a:ext>
            </a:extLst>
          </p:cNvPr>
          <p:cNvSpPr txBox="1"/>
          <p:nvPr/>
        </p:nvSpPr>
        <p:spPr>
          <a:xfrm>
            <a:off x="226149" y="308631"/>
            <a:ext cx="8975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하이패스 태그 </a:t>
            </a:r>
            <a:r>
              <a:rPr lang="en-US" altLang="ko-KR" sz="7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10</a:t>
            </a:r>
            <a:r>
              <a:rPr lang="ko-KR" altLang="en-US" sz="7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종</a:t>
            </a:r>
            <a:endParaRPr lang="en-US" altLang="ko-KR" sz="7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7FF5CD-F432-4D5C-924D-9C31E13C1988}"/>
              </a:ext>
            </a:extLst>
          </p:cNvPr>
          <p:cNvSpPr txBox="1"/>
          <p:nvPr/>
        </p:nvSpPr>
        <p:spPr>
          <a:xfrm>
            <a:off x="1868409" y="550565"/>
            <a:ext cx="995304" cy="35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근무 교대 시 미완료 건에 </a:t>
            </a:r>
            <a:r>
              <a: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'</a:t>
            </a:r>
            <a:r>
              <a:rPr lang="ko-KR" altLang="en-US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답장</a:t>
            </a:r>
            <a:r>
              <a: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'</a:t>
            </a:r>
            <a:r>
              <a:rPr lang="ko-KR" altLang="en-US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으로 인계 기록</a:t>
            </a:r>
            <a:endParaRPr lang="en-US" altLang="ko-KR" sz="56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1771CDF-B55B-4421-928F-D1D7D43CFAC8}"/>
              </a:ext>
            </a:extLst>
          </p:cNvPr>
          <p:cNvSpPr/>
          <p:nvPr/>
        </p:nvSpPr>
        <p:spPr>
          <a:xfrm>
            <a:off x="1793399" y="488647"/>
            <a:ext cx="1219597" cy="335942"/>
          </a:xfrm>
          <a:prstGeom prst="roundRect">
            <a:avLst>
              <a:gd name="adj" fmla="val 13824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78">
              <a:latin typeface="KoPub돋움체 Medium" panose="02020603020101020101" pitchFamily="18" charset="-127"/>
              <a:ea typeface="KoPub돋움체 Light" panose="02020603020101020101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9BD57B0-0CB8-437B-91FF-358B1B271C52}"/>
              </a:ext>
            </a:extLst>
          </p:cNvPr>
          <p:cNvSpPr/>
          <p:nvPr/>
        </p:nvSpPr>
        <p:spPr>
          <a:xfrm>
            <a:off x="1141463" y="490498"/>
            <a:ext cx="634156" cy="334091"/>
          </a:xfrm>
          <a:prstGeom prst="roundRect">
            <a:avLst>
              <a:gd name="adj" fmla="val 1309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78">
              <a:latin typeface="KoPub돋움체 Medium" panose="02020603020101020101" pitchFamily="18" charset="-127"/>
              <a:ea typeface="KoPub돋움체 Light" panose="02020603020101020101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17CE27-01D2-4557-B697-30F1806A81B3}"/>
              </a:ext>
            </a:extLst>
          </p:cNvPr>
          <p:cNvSpPr txBox="1"/>
          <p:nvPr/>
        </p:nvSpPr>
        <p:spPr>
          <a:xfrm>
            <a:off x="1209915" y="588879"/>
            <a:ext cx="497252" cy="1785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6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[IN-OUT]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306E135-233E-4999-A710-7E3C99EFDAEF}"/>
              </a:ext>
            </a:extLst>
          </p:cNvPr>
          <p:cNvSpPr/>
          <p:nvPr/>
        </p:nvSpPr>
        <p:spPr>
          <a:xfrm>
            <a:off x="1546703" y="301181"/>
            <a:ext cx="1088760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나를 지키는 방어 기록</a:t>
            </a:r>
            <a:endParaRPr lang="en-US" altLang="ko-KR" sz="7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50ADB8-A755-4C4B-8102-F58976B5B6D4}"/>
              </a:ext>
            </a:extLst>
          </p:cNvPr>
          <p:cNvSpPr txBox="1"/>
          <p:nvPr/>
        </p:nvSpPr>
        <p:spPr>
          <a:xfrm>
            <a:off x="1868409" y="1226341"/>
            <a:ext cx="1091803" cy="35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PA </a:t>
            </a:r>
            <a:r>
              <a:rPr lang="ko-KR" altLang="en-US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지연 사유</a:t>
            </a:r>
            <a:r>
              <a: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ko-KR" altLang="en-US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응급</a:t>
            </a:r>
            <a:r>
              <a: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</a:t>
            </a:r>
            <a:r>
              <a:rPr lang="ko-KR" altLang="en-US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수술</a:t>
            </a:r>
            <a:r>
              <a: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</a:t>
            </a:r>
            <a:r>
              <a:rPr lang="ko-KR" altLang="en-US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대기</a:t>
            </a:r>
            <a:r>
              <a: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</a:t>
            </a:r>
            <a:r>
              <a:rPr lang="ko-KR" altLang="en-US" sz="56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컨펌</a:t>
            </a:r>
            <a:r>
              <a: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</a:t>
            </a:r>
            <a:r>
              <a:rPr lang="ko-KR" altLang="en-US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명시</a:t>
            </a:r>
            <a:endParaRPr lang="en-US" altLang="ko-KR" sz="56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A688FE5-A3E9-4A7D-9640-97D9C0317280}"/>
              </a:ext>
            </a:extLst>
          </p:cNvPr>
          <p:cNvSpPr/>
          <p:nvPr/>
        </p:nvSpPr>
        <p:spPr>
          <a:xfrm>
            <a:off x="1793399" y="1181677"/>
            <a:ext cx="1219597" cy="290297"/>
          </a:xfrm>
          <a:prstGeom prst="roundRect">
            <a:avLst>
              <a:gd name="adj" fmla="val 13824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78">
              <a:latin typeface="KoPub돋움체 Medium" panose="02020603020101020101" pitchFamily="18" charset="-127"/>
              <a:ea typeface="KoPub돋움체 Light" panose="02020603020101020101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4D39DA0-5EC6-4030-BC9A-5BA4D6820777}"/>
              </a:ext>
            </a:extLst>
          </p:cNvPr>
          <p:cNvSpPr/>
          <p:nvPr/>
        </p:nvSpPr>
        <p:spPr>
          <a:xfrm>
            <a:off x="1141463" y="1183528"/>
            <a:ext cx="634156" cy="290297"/>
          </a:xfrm>
          <a:prstGeom prst="roundRect">
            <a:avLst>
              <a:gd name="adj" fmla="val 1309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78">
              <a:latin typeface="KoPub돋움체 Medium" panose="02020603020101020101" pitchFamily="18" charset="-127"/>
              <a:ea typeface="KoPub돋움체 Light" panose="02020603020101020101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4779CB-7AE4-4301-8B2E-ADD0772F1C8C}"/>
              </a:ext>
            </a:extLst>
          </p:cNvPr>
          <p:cNvSpPr txBox="1"/>
          <p:nvPr/>
        </p:nvSpPr>
        <p:spPr>
          <a:xfrm>
            <a:off x="1239570" y="1269430"/>
            <a:ext cx="437941" cy="1785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6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C-Code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E2D936A-A45B-43D0-819F-2B99B59D02C1}"/>
              </a:ext>
            </a:extLst>
          </p:cNvPr>
          <p:cNvSpPr txBox="1"/>
          <p:nvPr/>
        </p:nvSpPr>
        <p:spPr>
          <a:xfrm>
            <a:off x="607522" y="1499044"/>
            <a:ext cx="2016899" cy="2215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40" b="1" dirty="0">
                <a:solidFill>
                  <a:srgbClr val="7030A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“</a:t>
            </a:r>
            <a:r>
              <a:rPr lang="ko-KR" altLang="en-US" sz="840" b="1" dirty="0">
                <a:solidFill>
                  <a:srgbClr val="7030A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기록은 메신저에서</a:t>
            </a:r>
            <a:r>
              <a:rPr lang="en-US" altLang="ko-KR" sz="840" b="1" dirty="0">
                <a:solidFill>
                  <a:srgbClr val="7030A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840" b="1" dirty="0">
                <a:solidFill>
                  <a:srgbClr val="7030A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정보는 </a:t>
            </a:r>
            <a:r>
              <a:rPr lang="en-US" altLang="ko-KR" sz="840" b="1" dirty="0">
                <a:solidFill>
                  <a:srgbClr val="7030A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QR</a:t>
            </a:r>
            <a:r>
              <a:rPr lang="ko-KR" altLang="en-US" sz="840" b="1" dirty="0">
                <a:solidFill>
                  <a:srgbClr val="7030A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에서</a:t>
            </a:r>
            <a:r>
              <a:rPr lang="en-US" altLang="ko-KR" sz="840" b="1" dirty="0">
                <a:solidFill>
                  <a:srgbClr val="7030A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!”</a:t>
            </a:r>
          </a:p>
        </p:txBody>
      </p:sp>
    </p:spTree>
    <p:extLst>
      <p:ext uri="{BB962C8B-B14F-4D97-AF65-F5344CB8AC3E}">
        <p14:creationId xmlns:p14="http://schemas.microsoft.com/office/powerpoint/2010/main" val="4173235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95857-5CB6-E176-FDD7-C77B771BA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0243490-B7C6-42DB-B189-20704EFBD587}"/>
              </a:ext>
            </a:extLst>
          </p:cNvPr>
          <p:cNvSpPr/>
          <p:nvPr/>
        </p:nvSpPr>
        <p:spPr>
          <a:xfrm>
            <a:off x="226620" y="282605"/>
            <a:ext cx="896591" cy="1920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3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30F47067-F54E-4A90-9F21-57BD24BB9C63}"/>
              </a:ext>
            </a:extLst>
          </p:cNvPr>
          <p:cNvSpPr/>
          <p:nvPr/>
        </p:nvSpPr>
        <p:spPr>
          <a:xfrm>
            <a:off x="1141463" y="282605"/>
            <a:ext cx="1871533" cy="1920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3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41B2AA-F91D-4DF3-86CD-504CE316D08F}"/>
              </a:ext>
            </a:extLst>
          </p:cNvPr>
          <p:cNvSpPr txBox="1"/>
          <p:nvPr/>
        </p:nvSpPr>
        <p:spPr>
          <a:xfrm>
            <a:off x="1868409" y="898006"/>
            <a:ext cx="995304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야간 응급 유선 보고 후 사후 </a:t>
            </a:r>
            <a:r>
              <a: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[A]-[D] 1</a:t>
            </a:r>
            <a:r>
              <a:rPr lang="ko-KR" altLang="en-US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줄 기록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193F6F5-6376-4F98-A3BB-96E53249AC9E}"/>
              </a:ext>
            </a:extLst>
          </p:cNvPr>
          <p:cNvSpPr/>
          <p:nvPr/>
        </p:nvSpPr>
        <p:spPr>
          <a:xfrm>
            <a:off x="1793399" y="836088"/>
            <a:ext cx="1219597" cy="335942"/>
          </a:xfrm>
          <a:prstGeom prst="roundRect">
            <a:avLst>
              <a:gd name="adj" fmla="val 13824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78">
              <a:latin typeface="KoPub돋움체 Medium" panose="02020603020101020101" pitchFamily="18" charset="-127"/>
              <a:ea typeface="KoPub돋움체 Light" panose="02020603020101020101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BE07B44-9D20-4CE2-BFB6-8DDA339570CA}"/>
              </a:ext>
            </a:extLst>
          </p:cNvPr>
          <p:cNvSpPr/>
          <p:nvPr/>
        </p:nvSpPr>
        <p:spPr>
          <a:xfrm>
            <a:off x="1141463" y="837938"/>
            <a:ext cx="634156" cy="334091"/>
          </a:xfrm>
          <a:prstGeom prst="roundRect">
            <a:avLst>
              <a:gd name="adj" fmla="val 1309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78">
              <a:latin typeface="KoPub돋움체 Medium" panose="02020603020101020101" pitchFamily="18" charset="-127"/>
              <a:ea typeface="KoPub돋움체 Light" panose="02020603020101020101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132F88-5AA2-43B2-8C2A-F2BB31E51E43}"/>
              </a:ext>
            </a:extLst>
          </p:cNvPr>
          <p:cNvSpPr txBox="1"/>
          <p:nvPr/>
        </p:nvSpPr>
        <p:spPr>
          <a:xfrm>
            <a:off x="1154612" y="936320"/>
            <a:ext cx="607860" cy="1785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6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[D-</a:t>
            </a:r>
            <a:r>
              <a:rPr lang="ko-KR" altLang="en-US" sz="560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야간유선</a:t>
            </a:r>
            <a:r>
              <a:rPr lang="en-US" altLang="ko-KR" sz="56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B8E964-7EED-74B0-E816-8BE4F8865B12}"/>
              </a:ext>
            </a:extLst>
          </p:cNvPr>
          <p:cNvSpPr txBox="1"/>
          <p:nvPr/>
        </p:nvSpPr>
        <p:spPr>
          <a:xfrm>
            <a:off x="-10111" y="64610"/>
            <a:ext cx="1347869" cy="1683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494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순천향대학교 천안병원 </a:t>
            </a:r>
            <a:r>
              <a:rPr lang="en-US" altLang="ko-KR" sz="494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| </a:t>
            </a:r>
            <a:r>
              <a:rPr lang="ko-KR" altLang="en-US" sz="494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진료지원간호팀 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99CA2A2-FAD0-4681-B98C-3A7AA0484B78}"/>
              </a:ext>
            </a:extLst>
          </p:cNvPr>
          <p:cNvGrpSpPr/>
          <p:nvPr/>
        </p:nvGrpSpPr>
        <p:grpSpPr>
          <a:xfrm>
            <a:off x="227092" y="488646"/>
            <a:ext cx="904857" cy="1183130"/>
            <a:chOff x="592138" y="1592949"/>
            <a:chExt cx="2585305" cy="3380371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8DA9AE8C-7191-4002-98F1-FF77B72D519F}"/>
                </a:ext>
              </a:extLst>
            </p:cNvPr>
            <p:cNvSpPr/>
            <p:nvPr/>
          </p:nvSpPr>
          <p:spPr>
            <a:xfrm>
              <a:off x="592138" y="1592949"/>
              <a:ext cx="2561688" cy="2814796"/>
            </a:xfrm>
            <a:prstGeom prst="roundRect">
              <a:avLst>
                <a:gd name="adj" fmla="val 5214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778">
                <a:solidFill>
                  <a:schemeClr val="tx1"/>
                </a:solidFill>
                <a:ea typeface="KoPub돋움체 Light" panose="02020603020101020101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E33DDDA-6085-D01E-695B-8DCA20A2A084}"/>
                </a:ext>
              </a:extLst>
            </p:cNvPr>
            <p:cNvSpPr txBox="1"/>
            <p:nvPr/>
          </p:nvSpPr>
          <p:spPr>
            <a:xfrm>
              <a:off x="630047" y="1754858"/>
              <a:ext cx="2547396" cy="32184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560" b="1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[CHEMO] </a:t>
              </a:r>
              <a:r>
                <a:rPr lang="ko-KR" altLang="en-US" sz="560" dirty="0"/>
                <a:t>항암 관리</a:t>
              </a:r>
            </a:p>
            <a:p>
              <a:r>
                <a:rPr lang="en-US" altLang="ko-KR" sz="560" b="1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[BLOOD]</a:t>
              </a:r>
              <a:r>
                <a:rPr lang="en-US" altLang="ko-KR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 </a:t>
              </a:r>
              <a:r>
                <a:rPr lang="ko-KR" altLang="en-US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수혈 관리</a:t>
              </a:r>
              <a:endPara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  <a:p>
              <a:r>
                <a:rPr lang="en-US" altLang="ko-KR" sz="560" b="1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[CVR]</a:t>
              </a:r>
              <a:r>
                <a:rPr lang="en-US" altLang="ko-KR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 </a:t>
              </a:r>
              <a:r>
                <a:rPr lang="ko-KR" altLang="en-US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위험 수치</a:t>
              </a:r>
              <a:endPara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  <a:p>
              <a:r>
                <a:rPr lang="en-US" altLang="ko-KR" sz="560" b="1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[LIFE] </a:t>
              </a:r>
              <a:r>
                <a:rPr lang="ko-KR" altLang="en-US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존엄</a:t>
              </a:r>
              <a:r>
                <a:rPr lang="en-US" altLang="ko-KR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/</a:t>
              </a:r>
              <a:r>
                <a:rPr lang="ko-KR" altLang="en-US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임종</a:t>
              </a:r>
              <a:endPara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  <a:p>
              <a:r>
                <a:rPr lang="en-US" altLang="ko-KR" sz="560" b="1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[MEET] </a:t>
              </a:r>
              <a:r>
                <a:rPr lang="ko-KR" altLang="en-US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보호자 면담</a:t>
              </a:r>
              <a:endPara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  <a:p>
              <a:r>
                <a:rPr lang="en-US" altLang="ko-KR" sz="560" b="1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[MARROW] </a:t>
              </a:r>
              <a:r>
                <a:rPr lang="ko-KR" altLang="en-US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골수 검사</a:t>
              </a:r>
              <a:endPara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  <a:p>
              <a:r>
                <a:rPr lang="en-US" altLang="ko-KR" sz="560" b="1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[ISO] </a:t>
              </a:r>
              <a:r>
                <a:rPr lang="ko-KR" altLang="en-US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격리 관리</a:t>
              </a:r>
              <a:endPara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  <a:p>
              <a:r>
                <a:rPr lang="en-US" altLang="ko-KR" sz="560" b="1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[C-Status] </a:t>
              </a:r>
              <a:r>
                <a:rPr lang="ko-KR" altLang="en-US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상태 악화</a:t>
              </a:r>
              <a:endPara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  <a:p>
              <a:r>
                <a:rPr lang="en-US" altLang="ko-KR" sz="560" b="1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[PAIN] </a:t>
              </a:r>
              <a:r>
                <a:rPr lang="ko-KR" altLang="en-US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통증 조절</a:t>
              </a:r>
              <a:endPara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  <a:p>
              <a:r>
                <a:rPr lang="en-US" altLang="ko-KR" sz="560" b="1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[OUT] </a:t>
              </a:r>
              <a:r>
                <a:rPr lang="ko-KR" altLang="en-US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퇴원</a:t>
              </a:r>
              <a:r>
                <a:rPr lang="en-US" altLang="ko-KR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/</a:t>
              </a:r>
              <a:r>
                <a:rPr lang="ko-KR" altLang="en-US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전과</a:t>
              </a:r>
              <a:r>
                <a:rPr lang="en-US" altLang="ko-KR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/</a:t>
              </a:r>
              <a:r>
                <a:rPr lang="ko-KR" altLang="en-US" sz="56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사망</a:t>
              </a:r>
              <a:endPara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C7E232E-6B0D-4C30-967C-1D82B967BC1B}"/>
              </a:ext>
            </a:extLst>
          </p:cNvPr>
          <p:cNvSpPr txBox="1"/>
          <p:nvPr/>
        </p:nvSpPr>
        <p:spPr>
          <a:xfrm>
            <a:off x="226149" y="308631"/>
            <a:ext cx="8975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하이패스 태그 </a:t>
            </a:r>
            <a:r>
              <a:rPr lang="en-US" altLang="ko-KR" sz="7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10</a:t>
            </a:r>
            <a:r>
              <a:rPr lang="ko-KR" altLang="en-US" sz="7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종</a:t>
            </a:r>
            <a:endParaRPr lang="en-US" altLang="ko-KR" sz="7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7FF5CD-F432-4D5C-924D-9C31E13C1988}"/>
              </a:ext>
            </a:extLst>
          </p:cNvPr>
          <p:cNvSpPr txBox="1"/>
          <p:nvPr/>
        </p:nvSpPr>
        <p:spPr>
          <a:xfrm>
            <a:off x="1868409" y="550565"/>
            <a:ext cx="995304" cy="35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근무 교대 시 미완료 건에 </a:t>
            </a:r>
            <a:r>
              <a: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'</a:t>
            </a:r>
            <a:r>
              <a:rPr lang="ko-KR" altLang="en-US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답장</a:t>
            </a:r>
            <a:r>
              <a: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'</a:t>
            </a:r>
            <a:r>
              <a:rPr lang="ko-KR" altLang="en-US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으로 인계 기록</a:t>
            </a:r>
            <a:endParaRPr lang="en-US" altLang="ko-KR" sz="56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1771CDF-B55B-4421-928F-D1D7D43CFAC8}"/>
              </a:ext>
            </a:extLst>
          </p:cNvPr>
          <p:cNvSpPr/>
          <p:nvPr/>
        </p:nvSpPr>
        <p:spPr>
          <a:xfrm>
            <a:off x="1793399" y="488647"/>
            <a:ext cx="1219597" cy="335942"/>
          </a:xfrm>
          <a:prstGeom prst="roundRect">
            <a:avLst>
              <a:gd name="adj" fmla="val 13824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78">
              <a:latin typeface="KoPub돋움체 Medium" panose="02020603020101020101" pitchFamily="18" charset="-127"/>
              <a:ea typeface="KoPub돋움체 Light" panose="02020603020101020101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9BD57B0-0CB8-437B-91FF-358B1B271C52}"/>
              </a:ext>
            </a:extLst>
          </p:cNvPr>
          <p:cNvSpPr/>
          <p:nvPr/>
        </p:nvSpPr>
        <p:spPr>
          <a:xfrm>
            <a:off x="1141463" y="490498"/>
            <a:ext cx="634156" cy="334091"/>
          </a:xfrm>
          <a:prstGeom prst="roundRect">
            <a:avLst>
              <a:gd name="adj" fmla="val 1309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78">
              <a:latin typeface="KoPub돋움체 Medium" panose="02020603020101020101" pitchFamily="18" charset="-127"/>
              <a:ea typeface="KoPub돋움체 Light" panose="02020603020101020101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17CE27-01D2-4557-B697-30F1806A81B3}"/>
              </a:ext>
            </a:extLst>
          </p:cNvPr>
          <p:cNvSpPr txBox="1"/>
          <p:nvPr/>
        </p:nvSpPr>
        <p:spPr>
          <a:xfrm>
            <a:off x="1209915" y="588879"/>
            <a:ext cx="497252" cy="1785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6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[IN-OUT]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306E135-233E-4999-A710-7E3C99EFDAEF}"/>
              </a:ext>
            </a:extLst>
          </p:cNvPr>
          <p:cNvSpPr/>
          <p:nvPr/>
        </p:nvSpPr>
        <p:spPr>
          <a:xfrm>
            <a:off x="1546703" y="301181"/>
            <a:ext cx="1088760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7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나를 지키는 방어 기록</a:t>
            </a:r>
            <a:endParaRPr lang="en-US" altLang="ko-KR" sz="7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50ADB8-A755-4C4B-8102-F58976B5B6D4}"/>
              </a:ext>
            </a:extLst>
          </p:cNvPr>
          <p:cNvSpPr txBox="1"/>
          <p:nvPr/>
        </p:nvSpPr>
        <p:spPr>
          <a:xfrm>
            <a:off x="1868409" y="1226341"/>
            <a:ext cx="1091803" cy="35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PA </a:t>
            </a:r>
            <a:r>
              <a:rPr lang="ko-KR" altLang="en-US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지연 사유</a:t>
            </a:r>
            <a:r>
              <a: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ko-KR" altLang="en-US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응급</a:t>
            </a:r>
            <a:r>
              <a: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</a:t>
            </a:r>
            <a:r>
              <a:rPr lang="ko-KR" altLang="en-US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수술</a:t>
            </a:r>
            <a:r>
              <a: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</a:t>
            </a:r>
            <a:r>
              <a:rPr lang="ko-KR" altLang="en-US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대기</a:t>
            </a:r>
            <a:r>
              <a: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</a:t>
            </a:r>
            <a:r>
              <a:rPr lang="ko-KR" altLang="en-US" sz="56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컨펌</a:t>
            </a:r>
            <a:r>
              <a:rPr lang="en-US" altLang="ko-KR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</a:t>
            </a:r>
            <a:r>
              <a:rPr lang="ko-KR" altLang="en-US" sz="56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명시</a:t>
            </a:r>
            <a:endParaRPr lang="en-US" altLang="ko-KR" sz="56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A688FE5-A3E9-4A7D-9640-97D9C0317280}"/>
              </a:ext>
            </a:extLst>
          </p:cNvPr>
          <p:cNvSpPr/>
          <p:nvPr/>
        </p:nvSpPr>
        <p:spPr>
          <a:xfrm>
            <a:off x="1793399" y="1181677"/>
            <a:ext cx="1219597" cy="290297"/>
          </a:xfrm>
          <a:prstGeom prst="roundRect">
            <a:avLst>
              <a:gd name="adj" fmla="val 13824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78">
              <a:latin typeface="KoPub돋움체 Medium" panose="02020603020101020101" pitchFamily="18" charset="-127"/>
              <a:ea typeface="KoPub돋움체 Light" panose="02020603020101020101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4D39DA0-5EC6-4030-BC9A-5BA4D6820777}"/>
              </a:ext>
            </a:extLst>
          </p:cNvPr>
          <p:cNvSpPr/>
          <p:nvPr/>
        </p:nvSpPr>
        <p:spPr>
          <a:xfrm>
            <a:off x="1141463" y="1183528"/>
            <a:ext cx="634156" cy="290297"/>
          </a:xfrm>
          <a:prstGeom prst="roundRect">
            <a:avLst>
              <a:gd name="adj" fmla="val 1309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78">
              <a:latin typeface="KoPub돋움체 Medium" panose="02020603020101020101" pitchFamily="18" charset="-127"/>
              <a:ea typeface="KoPub돋움체 Light" panose="02020603020101020101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4779CB-7AE4-4301-8B2E-ADD0772F1C8C}"/>
              </a:ext>
            </a:extLst>
          </p:cNvPr>
          <p:cNvSpPr txBox="1"/>
          <p:nvPr/>
        </p:nvSpPr>
        <p:spPr>
          <a:xfrm>
            <a:off x="1239570" y="1269430"/>
            <a:ext cx="437941" cy="1785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6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C-Code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E2D936A-A45B-43D0-819F-2B99B59D02C1}"/>
              </a:ext>
            </a:extLst>
          </p:cNvPr>
          <p:cNvSpPr txBox="1"/>
          <p:nvPr/>
        </p:nvSpPr>
        <p:spPr>
          <a:xfrm>
            <a:off x="607522" y="1499044"/>
            <a:ext cx="2016899" cy="2215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40" b="1" dirty="0">
                <a:solidFill>
                  <a:srgbClr val="7030A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“</a:t>
            </a:r>
            <a:r>
              <a:rPr lang="ko-KR" altLang="en-US" sz="840" b="1" dirty="0">
                <a:solidFill>
                  <a:srgbClr val="7030A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기록은 메신저에서</a:t>
            </a:r>
            <a:r>
              <a:rPr lang="en-US" altLang="ko-KR" sz="840" b="1" dirty="0">
                <a:solidFill>
                  <a:srgbClr val="7030A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840" b="1" dirty="0">
                <a:solidFill>
                  <a:srgbClr val="7030A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정보는 </a:t>
            </a:r>
            <a:r>
              <a:rPr lang="en-US" altLang="ko-KR" sz="840" b="1" dirty="0">
                <a:solidFill>
                  <a:srgbClr val="7030A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QR</a:t>
            </a:r>
            <a:r>
              <a:rPr lang="ko-KR" altLang="en-US" sz="840" b="1" dirty="0">
                <a:solidFill>
                  <a:srgbClr val="7030A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에서</a:t>
            </a:r>
            <a:r>
              <a:rPr lang="en-US" altLang="ko-KR" sz="840" b="1" dirty="0">
                <a:solidFill>
                  <a:srgbClr val="7030A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!”</a:t>
            </a:r>
          </a:p>
        </p:txBody>
      </p:sp>
    </p:spTree>
    <p:extLst>
      <p:ext uri="{BB962C8B-B14F-4D97-AF65-F5344CB8AC3E}">
        <p14:creationId xmlns:p14="http://schemas.microsoft.com/office/powerpoint/2010/main" val="1216328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3547</TotalTime>
  <Words>479</Words>
  <Application>Microsoft Office PowerPoint</Application>
  <PresentationFormat>사용자 지정</PresentationFormat>
  <Paragraphs>82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7" baseType="lpstr">
      <vt:lpstr>KoPub돋움체 Bold</vt:lpstr>
      <vt:lpstr>KoPub돋움체 Light</vt:lpstr>
      <vt:lpstr>KoPub돋움체 Medium</vt:lpstr>
      <vt:lpstr>맑은 고딕</vt:lpstr>
      <vt:lpstr>휴먼둥근헤드라인</vt:lpstr>
      <vt:lpstr>Arial</vt:lpstr>
      <vt:lpstr>Calibri</vt:lpstr>
      <vt:lpstr>Calibri Light</vt:lpstr>
      <vt:lpstr>Franklin Gothic Heavy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라희 임</dc:creator>
  <cp:lastModifiedBy>rahee</cp:lastModifiedBy>
  <cp:revision>2298</cp:revision>
  <cp:lastPrinted>2026-03-02T14:34:17Z</cp:lastPrinted>
  <dcterms:created xsi:type="dcterms:W3CDTF">2025-05-04T13:56:03Z</dcterms:created>
  <dcterms:modified xsi:type="dcterms:W3CDTF">2026-04-28T17:25:41Z</dcterms:modified>
</cp:coreProperties>
</file>