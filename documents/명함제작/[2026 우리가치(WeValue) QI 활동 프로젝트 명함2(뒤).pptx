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0" r:id="rId1"/>
  </p:sldMasterIdLst>
  <p:notesMasterIdLst>
    <p:notesMasterId r:id="rId8"/>
  </p:notesMasterIdLst>
  <p:sldIdLst>
    <p:sldId id="300" r:id="rId2"/>
    <p:sldId id="301" r:id="rId3"/>
    <p:sldId id="302" r:id="rId4"/>
    <p:sldId id="303" r:id="rId5"/>
    <p:sldId id="304" r:id="rId6"/>
    <p:sldId id="305" r:id="rId7"/>
  </p:sldIdLst>
  <p:sldSz cx="3240088" cy="1800225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orient="horz" pos="567" userDrawn="1">
          <p15:clr>
            <a:srgbClr val="A4A3A4"/>
          </p15:clr>
        </p15:guide>
        <p15:guide id="6" orient="horz" pos="201" userDrawn="1">
          <p15:clr>
            <a:srgbClr val="A4A3A4"/>
          </p15:clr>
        </p15:guide>
        <p15:guide id="7" orient="horz" pos="1042" userDrawn="1">
          <p15:clr>
            <a:srgbClr val="A4A3A4"/>
          </p15:clr>
        </p15:guide>
        <p15:guide id="8" pos="1021" userDrawn="1">
          <p15:clr>
            <a:srgbClr val="A4A3A4"/>
          </p15:clr>
        </p15:guide>
        <p15:guide id="9" pos="132" userDrawn="1">
          <p15:clr>
            <a:srgbClr val="A4A3A4"/>
          </p15:clr>
        </p15:guide>
        <p15:guide id="10" pos="190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CFF1"/>
    <a:srgbClr val="CC00FF"/>
    <a:srgbClr val="006E99"/>
    <a:srgbClr val="009BD6"/>
    <a:srgbClr val="1E5691"/>
    <a:srgbClr val="DDF6FF"/>
    <a:srgbClr val="F58400"/>
    <a:srgbClr val="FF3300"/>
    <a:srgbClr val="FFFFFF"/>
    <a:srgbClr val="0084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673" autoAdjust="0"/>
    <p:restoredTop sz="97430" autoAdjust="0"/>
  </p:normalViewPr>
  <p:slideViewPr>
    <p:cSldViewPr snapToGrid="0">
      <p:cViewPr varScale="1">
        <p:scale>
          <a:sx n="369" d="100"/>
          <a:sy n="369" d="100"/>
        </p:scale>
        <p:origin x="1350" y="276"/>
      </p:cViewPr>
      <p:guideLst>
        <p:guide orient="horz" pos="567"/>
        <p:guide orient="horz" pos="201"/>
        <p:guide orient="horz" pos="1042"/>
        <p:guide pos="1021"/>
        <p:guide pos="132"/>
        <p:guide pos="190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8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r">
              <a:defRPr sz="1300"/>
            </a:lvl1pPr>
          </a:lstStyle>
          <a:p>
            <a:fld id="{F929F65E-AEE7-45C5-814B-4468CAF1E537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1241425"/>
            <a:ext cx="60452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5" tIns="45703" rIns="91405" bIns="4570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786312"/>
            <a:ext cx="5486400" cy="3916363"/>
          </a:xfrm>
          <a:prstGeom prst="rect">
            <a:avLst/>
          </a:prstGeom>
        </p:spPr>
        <p:txBody>
          <a:bodyPr vert="horz" lIns="91405" tIns="45703" rIns="91405" bIns="45703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47215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8" y="9447215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r">
              <a:defRPr sz="1300"/>
            </a:lvl1pPr>
          </a:lstStyle>
          <a:p>
            <a:fld id="{6A73BE5E-839E-45D1-B8A5-13B23A945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211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1pPr>
    <a:lvl2pPr marL="8372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2pPr>
    <a:lvl3pPr marL="16744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3pPr>
    <a:lvl4pPr marL="25116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4pPr>
    <a:lvl5pPr marL="33489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5pPr>
    <a:lvl6pPr marL="41861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6pPr>
    <a:lvl7pPr marL="50233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7pPr>
    <a:lvl8pPr marL="58605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8pPr>
    <a:lvl9pPr marL="669781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5011" y="294620"/>
            <a:ext cx="2430066" cy="626745"/>
          </a:xfrm>
        </p:spPr>
        <p:txBody>
          <a:bodyPr anchor="b"/>
          <a:lstStyle>
            <a:lvl1pPr algn="ctr"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5011" y="945535"/>
            <a:ext cx="2430066" cy="434638"/>
          </a:xfrm>
        </p:spPr>
        <p:txBody>
          <a:bodyPr/>
          <a:lstStyle>
            <a:lvl1pPr marL="0" indent="0" algn="ctr">
              <a:buNone/>
              <a:defRPr sz="630"/>
            </a:lvl1pPr>
            <a:lvl2pPr marL="120015" indent="0" algn="ctr">
              <a:buNone/>
              <a:defRPr sz="525"/>
            </a:lvl2pPr>
            <a:lvl3pPr marL="240030" indent="0" algn="ctr">
              <a:buNone/>
              <a:defRPr sz="472"/>
            </a:lvl3pPr>
            <a:lvl4pPr marL="360045" indent="0" algn="ctr">
              <a:buNone/>
              <a:defRPr sz="420"/>
            </a:lvl4pPr>
            <a:lvl5pPr marL="480060" indent="0" algn="ctr">
              <a:buNone/>
              <a:defRPr sz="420"/>
            </a:lvl5pPr>
            <a:lvl6pPr marL="600075" indent="0" algn="ctr">
              <a:buNone/>
              <a:defRPr sz="420"/>
            </a:lvl6pPr>
            <a:lvl7pPr marL="720090" indent="0" algn="ctr">
              <a:buNone/>
              <a:defRPr sz="420"/>
            </a:lvl7pPr>
            <a:lvl8pPr marL="840105" indent="0" algn="ctr">
              <a:buNone/>
              <a:defRPr sz="420"/>
            </a:lvl8pPr>
            <a:lvl9pPr marL="960120" indent="0" algn="ctr">
              <a:buNone/>
              <a:defRPr sz="42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3758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40034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68" y="448807"/>
            <a:ext cx="2794576" cy="748843"/>
          </a:xfrm>
        </p:spPr>
        <p:txBody>
          <a:bodyPr anchor="b"/>
          <a:lstStyle>
            <a:lvl1pPr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68" y="1204734"/>
            <a:ext cx="2794576" cy="393799"/>
          </a:xfrm>
        </p:spPr>
        <p:txBody>
          <a:bodyPr/>
          <a:lstStyle>
            <a:lvl1pPr marL="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1pPr>
            <a:lvl2pPr marL="120015" indent="0">
              <a:buNone/>
              <a:defRPr sz="525">
                <a:solidFill>
                  <a:schemeClr val="tx1">
                    <a:tint val="75000"/>
                  </a:schemeClr>
                </a:solidFill>
              </a:defRPr>
            </a:lvl2pPr>
            <a:lvl3pPr marL="240030" indent="0">
              <a:buNone/>
              <a:defRPr sz="472">
                <a:solidFill>
                  <a:schemeClr val="tx1">
                    <a:tint val="75000"/>
                  </a:schemeClr>
                </a:solidFill>
              </a:defRPr>
            </a:lvl3pPr>
            <a:lvl4pPr marL="36004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4pPr>
            <a:lvl5pPr marL="48006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5pPr>
            <a:lvl6pPr marL="60007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6pPr>
            <a:lvl7pPr marL="72009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7pPr>
            <a:lvl8pPr marL="84010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8pPr>
            <a:lvl9pPr marL="96012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48713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56" y="479227"/>
            <a:ext cx="1377037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95" y="479227"/>
            <a:ext cx="1377037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5910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95846"/>
            <a:ext cx="2794576" cy="34796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78" y="441305"/>
            <a:ext cx="1370709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78" y="657582"/>
            <a:ext cx="1370709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95" y="441305"/>
            <a:ext cx="1377459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95" y="657582"/>
            <a:ext cx="1377459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050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6343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738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120015"/>
            <a:ext cx="1045013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459" y="259199"/>
            <a:ext cx="1640295" cy="1279327"/>
          </a:xfrm>
        </p:spPr>
        <p:txBody>
          <a:bodyPr/>
          <a:lstStyle>
            <a:lvl1pPr>
              <a:defRPr sz="840"/>
            </a:lvl1pPr>
            <a:lvl2pPr>
              <a:defRPr sz="735"/>
            </a:lvl2pPr>
            <a:lvl3pPr>
              <a:defRPr sz="630"/>
            </a:lvl3pPr>
            <a:lvl4pPr>
              <a:defRPr sz="525"/>
            </a:lvl4pPr>
            <a:lvl5pPr>
              <a:defRPr sz="525"/>
            </a:lvl5pPr>
            <a:lvl6pPr>
              <a:defRPr sz="525"/>
            </a:lvl6pPr>
            <a:lvl7pPr>
              <a:defRPr sz="525"/>
            </a:lvl7pPr>
            <a:lvl8pPr>
              <a:defRPr sz="525"/>
            </a:lvl8pPr>
            <a:lvl9pPr>
              <a:defRPr sz="52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78" y="540067"/>
            <a:ext cx="1045013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5658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120015"/>
            <a:ext cx="1045013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459" y="259199"/>
            <a:ext cx="1640295" cy="1279327"/>
          </a:xfrm>
        </p:spPr>
        <p:txBody>
          <a:bodyPr anchor="t"/>
          <a:lstStyle>
            <a:lvl1pPr marL="0" indent="0">
              <a:buNone/>
              <a:defRPr sz="840"/>
            </a:lvl1pPr>
            <a:lvl2pPr marL="120015" indent="0">
              <a:buNone/>
              <a:defRPr sz="735"/>
            </a:lvl2pPr>
            <a:lvl3pPr marL="240030" indent="0">
              <a:buNone/>
              <a:defRPr sz="630"/>
            </a:lvl3pPr>
            <a:lvl4pPr marL="360045" indent="0">
              <a:buNone/>
              <a:defRPr sz="525"/>
            </a:lvl4pPr>
            <a:lvl5pPr marL="480060" indent="0">
              <a:buNone/>
              <a:defRPr sz="525"/>
            </a:lvl5pPr>
            <a:lvl6pPr marL="600075" indent="0">
              <a:buNone/>
              <a:defRPr sz="525"/>
            </a:lvl6pPr>
            <a:lvl7pPr marL="720090" indent="0">
              <a:buNone/>
              <a:defRPr sz="525"/>
            </a:lvl7pPr>
            <a:lvl8pPr marL="840105" indent="0">
              <a:buNone/>
              <a:defRPr sz="525"/>
            </a:lvl8pPr>
            <a:lvl9pPr marL="960120" indent="0">
              <a:buNone/>
              <a:defRPr sz="525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78" y="540067"/>
            <a:ext cx="1045013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5249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027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688" y="95846"/>
            <a:ext cx="698644" cy="152560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56" y="95846"/>
            <a:ext cx="2055431" cy="15256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53960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29909" y="30482"/>
            <a:ext cx="3182265" cy="17284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0825" y="81588"/>
            <a:ext cx="363162" cy="20304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BA0C91-E2D0-A166-2BE8-3501CE9BABF8}"/>
              </a:ext>
            </a:extLst>
          </p:cNvPr>
          <p:cNvSpPr txBox="1"/>
          <p:nvPr userDrawn="1"/>
        </p:nvSpPr>
        <p:spPr>
          <a:xfrm>
            <a:off x="2098273" y="1569905"/>
            <a:ext cx="114181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5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6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4513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>
          <p15:clr>
            <a:srgbClr val="FBAE40"/>
          </p15:clr>
        </p15:guide>
        <p15:guide id="2" pos="102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5477" y="17494"/>
            <a:ext cx="3154111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29499" y="29235"/>
            <a:ext cx="324488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256578-F800-6850-5D6B-02ED7EBACB52}"/>
              </a:ext>
            </a:extLst>
          </p:cNvPr>
          <p:cNvSpPr txBox="1"/>
          <p:nvPr userDrawn="1"/>
        </p:nvSpPr>
        <p:spPr>
          <a:xfrm>
            <a:off x="2890773" y="1686920"/>
            <a:ext cx="263214" cy="1231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en-US" altLang="ko-KR" sz="1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</a:t>
            </a:r>
          </a:p>
        </p:txBody>
      </p:sp>
    </p:spTree>
    <p:extLst>
      <p:ext uri="{BB962C8B-B14F-4D97-AF65-F5344CB8AC3E}">
        <p14:creationId xmlns:p14="http://schemas.microsoft.com/office/powerpoint/2010/main" val="2737303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21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5477" y="17494"/>
            <a:ext cx="3154111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27923" y="29235"/>
            <a:ext cx="324488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D82B35-E786-6435-BBDD-C02B0C93E120}"/>
              </a:ext>
            </a:extLst>
          </p:cNvPr>
          <p:cNvSpPr txBox="1"/>
          <p:nvPr userDrawn="1"/>
        </p:nvSpPr>
        <p:spPr>
          <a:xfrm>
            <a:off x="2863523" y="1707219"/>
            <a:ext cx="290464" cy="1077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 </a:t>
            </a:r>
            <a:r>
              <a:rPr lang="en-US" altLang="ko-KR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131</a:t>
            </a:r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병동</a:t>
            </a:r>
          </a:p>
        </p:txBody>
      </p:sp>
    </p:spTree>
    <p:extLst>
      <p:ext uri="{BB962C8B-B14F-4D97-AF65-F5344CB8AC3E}">
        <p14:creationId xmlns:p14="http://schemas.microsoft.com/office/powerpoint/2010/main" val="5013630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21" userDrawn="1">
          <p15:clr>
            <a:srgbClr val="FBAE40"/>
          </p15:clr>
        </p15:guide>
        <p15:guide id="3" orient="horz" pos="6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56" y="95846"/>
            <a:ext cx="2794576" cy="347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56" y="479227"/>
            <a:ext cx="2794576" cy="1142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56" y="1668542"/>
            <a:ext cx="72902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79" y="1668542"/>
            <a:ext cx="109353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312" y="1668542"/>
            <a:ext cx="72902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2659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1" r:id="rId1"/>
    <p:sldLayoutId id="2147483872" r:id="rId2"/>
    <p:sldLayoutId id="2147483873" r:id="rId3"/>
    <p:sldLayoutId id="2147483874" r:id="rId4"/>
    <p:sldLayoutId id="2147483875" r:id="rId5"/>
    <p:sldLayoutId id="2147483876" r:id="rId6"/>
    <p:sldLayoutId id="2147483877" r:id="rId7"/>
    <p:sldLayoutId id="2147483878" r:id="rId8"/>
    <p:sldLayoutId id="2147483879" r:id="rId9"/>
    <p:sldLayoutId id="2147483880" r:id="rId10"/>
    <p:sldLayoutId id="2147483881" r:id="rId11"/>
    <p:sldLayoutId id="2147483882" r:id="rId12"/>
    <p:sldLayoutId id="2147483790" r:id="rId13"/>
    <p:sldLayoutId id="2147483789" r:id="rId14"/>
  </p:sldLayoutIdLst>
  <p:txStyles>
    <p:titleStyle>
      <a:lvl1pPr algn="l" defTabSz="240030" rtl="0" eaLnBrk="1" latinLnBrk="1" hangingPunct="1">
        <a:lnSpc>
          <a:spcPct val="90000"/>
        </a:lnSpc>
        <a:spcBef>
          <a:spcPct val="0"/>
        </a:spcBef>
        <a:buNone/>
        <a:defRPr sz="11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008" indent="-60008" algn="l" defTabSz="240030" rtl="0" eaLnBrk="1" latinLnBrk="1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1pPr>
      <a:lvl2pPr marL="18002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2pPr>
      <a:lvl3pPr marL="30003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3pPr>
      <a:lvl4pPr marL="42005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54006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6008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8009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90011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102012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1pPr>
      <a:lvl2pPr marL="12001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3pPr>
      <a:lvl4pPr marL="36004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48006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0007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2009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84010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96012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67" userDrawn="1">
          <p15:clr>
            <a:srgbClr val="F26B43"/>
          </p15:clr>
        </p15:guide>
        <p15:guide id="2" pos="102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95857-5CB6-E176-FDD7-C77B771BA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B8E964-7EED-74B0-E816-8BE4F8865B12}"/>
              </a:ext>
            </a:extLst>
          </p:cNvPr>
          <p:cNvSpPr txBox="1"/>
          <p:nvPr/>
        </p:nvSpPr>
        <p:spPr>
          <a:xfrm>
            <a:off x="47760" y="54245"/>
            <a:ext cx="1208408" cy="1692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4548F5-C227-C424-9E2A-BCF01202B11D}"/>
              </a:ext>
            </a:extLst>
          </p:cNvPr>
          <p:cNvSpPr txBox="1"/>
          <p:nvPr/>
        </p:nvSpPr>
        <p:spPr>
          <a:xfrm>
            <a:off x="94186" y="156738"/>
            <a:ext cx="150874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900" b="1" dirty="0"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📊 </a:t>
            </a:r>
            <a:r>
              <a:rPr lang="en-US" altLang="ko-KR" sz="900" b="1" dirty="0"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C-Code &amp; Guide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33DDDA-6085-D01E-695B-8DCA20A2A084}"/>
              </a:ext>
            </a:extLst>
          </p:cNvPr>
          <p:cNvSpPr txBox="1"/>
          <p:nvPr/>
        </p:nvSpPr>
        <p:spPr>
          <a:xfrm>
            <a:off x="111579" y="351401"/>
            <a:ext cx="2982706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</a:t>
            </a:r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인계 보호기록 사유</a:t>
            </a:r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</a:p>
          <a:p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PA 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(C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코드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C1(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C2(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C3(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결과대기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C4(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컨펌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 인계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(IN-OUT): IN-OUT 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교대 시 업무 인계 완료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＃운영 단계별 적용 가이드</a:t>
            </a:r>
            <a:endParaRPr lang="en-US" altLang="ko-KR" sz="800" b="1" dirty="0">
              <a:highlight>
                <a:srgbClr val="FFFF00"/>
              </a:highlight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스티커 하단에 작게 아래 문구를 포함하여  도입 초기 혼선을 방지합니다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※ [C]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사유코드 및 체크타임</a:t>
            </a:r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(IN-OUT, 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예정처리</a:t>
            </a:r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은 안정화 이후 활성화</a:t>
            </a:r>
          </a:p>
        </p:txBody>
      </p:sp>
    </p:spTree>
    <p:extLst>
      <p:ext uri="{BB962C8B-B14F-4D97-AF65-F5344CB8AC3E}">
        <p14:creationId xmlns:p14="http://schemas.microsoft.com/office/powerpoint/2010/main" val="1528733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3685A-059B-C0B7-10FF-60B326638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1156503-56FC-B6A3-275B-517C7533148E}"/>
              </a:ext>
            </a:extLst>
          </p:cNvPr>
          <p:cNvSpPr txBox="1"/>
          <p:nvPr/>
        </p:nvSpPr>
        <p:spPr>
          <a:xfrm>
            <a:off x="47760" y="54245"/>
            <a:ext cx="1208408" cy="1692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546EEF-7E39-2FE9-2ED7-C686F084AE3C}"/>
              </a:ext>
            </a:extLst>
          </p:cNvPr>
          <p:cNvSpPr txBox="1"/>
          <p:nvPr/>
        </p:nvSpPr>
        <p:spPr>
          <a:xfrm>
            <a:off x="94186" y="156738"/>
            <a:ext cx="150874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900" b="1" dirty="0"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📊 </a:t>
            </a:r>
            <a:r>
              <a:rPr lang="en-US" altLang="ko-KR" sz="900" b="1" dirty="0"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C-Code &amp; Guide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7CD838-BF88-4F2A-F4A9-8ECE244485B0}"/>
              </a:ext>
            </a:extLst>
          </p:cNvPr>
          <p:cNvSpPr txBox="1"/>
          <p:nvPr/>
        </p:nvSpPr>
        <p:spPr>
          <a:xfrm>
            <a:off x="111579" y="351401"/>
            <a:ext cx="2982706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</a:t>
            </a:r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인계 보호기록 사유</a:t>
            </a:r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</a:p>
          <a:p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PA 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(C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코드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C1(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C2(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C3(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결과대기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C4(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컨펌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 인계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(IN-OUT): IN-OUT 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교대 시 업무 인계 완료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＃운영 단계별 적용 가이드</a:t>
            </a:r>
            <a:endParaRPr lang="en-US" altLang="ko-KR" sz="800" b="1" dirty="0">
              <a:highlight>
                <a:srgbClr val="FFFF00"/>
              </a:highlight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스티커 하단에 작게 아래 문구를 포함하여  도입 초기 혼선을 방지합니다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※ [C]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사유코드 및 체크타임</a:t>
            </a:r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(IN-OUT, 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예정처리</a:t>
            </a:r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은 안정화 이후 활성화</a:t>
            </a:r>
          </a:p>
        </p:txBody>
      </p:sp>
    </p:spTree>
    <p:extLst>
      <p:ext uri="{BB962C8B-B14F-4D97-AF65-F5344CB8AC3E}">
        <p14:creationId xmlns:p14="http://schemas.microsoft.com/office/powerpoint/2010/main" val="3203312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22088-8861-D067-5396-8B7DE4450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6109D7B-E618-FA25-2A08-D348DD298759}"/>
              </a:ext>
            </a:extLst>
          </p:cNvPr>
          <p:cNvSpPr txBox="1"/>
          <p:nvPr/>
        </p:nvSpPr>
        <p:spPr>
          <a:xfrm>
            <a:off x="47760" y="54245"/>
            <a:ext cx="1208408" cy="1692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82C44F-FB6C-8DBA-B5DA-D8341EF5BAF8}"/>
              </a:ext>
            </a:extLst>
          </p:cNvPr>
          <p:cNvSpPr txBox="1"/>
          <p:nvPr/>
        </p:nvSpPr>
        <p:spPr>
          <a:xfrm>
            <a:off x="94186" y="156738"/>
            <a:ext cx="150874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900" b="1" dirty="0"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📊 </a:t>
            </a:r>
            <a:r>
              <a:rPr lang="en-US" altLang="ko-KR" sz="900" b="1" dirty="0"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C-Code &amp; Guide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9AEFC7-05EF-836E-6ADC-F6785723C5BD}"/>
              </a:ext>
            </a:extLst>
          </p:cNvPr>
          <p:cNvSpPr txBox="1"/>
          <p:nvPr/>
        </p:nvSpPr>
        <p:spPr>
          <a:xfrm>
            <a:off x="111579" y="351401"/>
            <a:ext cx="2982706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</a:t>
            </a:r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인계 보호기록 사유</a:t>
            </a:r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</a:p>
          <a:p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PA 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(C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코드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C1(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C2(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C3(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결과대기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C4(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컨펌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 인계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(IN-OUT): IN-OUT 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교대 시 업무 인계 완료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＃운영 단계별 적용 가이드</a:t>
            </a:r>
            <a:endParaRPr lang="en-US" altLang="ko-KR" sz="800" b="1" dirty="0">
              <a:highlight>
                <a:srgbClr val="FFFF00"/>
              </a:highlight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스티커 하단에 작게 아래 문구를 포함하여  도입 초기 혼선을 방지합니다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※ [C]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사유코드 및 체크타임</a:t>
            </a:r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(IN-OUT, 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예정처리</a:t>
            </a:r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은 안정화 이후 활성화</a:t>
            </a:r>
          </a:p>
        </p:txBody>
      </p:sp>
    </p:spTree>
    <p:extLst>
      <p:ext uri="{BB962C8B-B14F-4D97-AF65-F5344CB8AC3E}">
        <p14:creationId xmlns:p14="http://schemas.microsoft.com/office/powerpoint/2010/main" val="1472565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E41C7-9270-2AC8-4803-37068980E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9BDE37-DE08-844A-D6FE-1CE974DF4C1B}"/>
              </a:ext>
            </a:extLst>
          </p:cNvPr>
          <p:cNvSpPr txBox="1"/>
          <p:nvPr/>
        </p:nvSpPr>
        <p:spPr>
          <a:xfrm>
            <a:off x="47760" y="54245"/>
            <a:ext cx="1208408" cy="1692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97124B-F2B6-6064-18B3-34CA78CA1C4F}"/>
              </a:ext>
            </a:extLst>
          </p:cNvPr>
          <p:cNvSpPr txBox="1"/>
          <p:nvPr/>
        </p:nvSpPr>
        <p:spPr>
          <a:xfrm>
            <a:off x="94186" y="156738"/>
            <a:ext cx="150874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900" b="1" dirty="0"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📊 </a:t>
            </a:r>
            <a:r>
              <a:rPr lang="en-US" altLang="ko-KR" sz="900" b="1" dirty="0"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C-Code &amp; Guide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18616E-D855-56D1-3D14-CCF25B523452}"/>
              </a:ext>
            </a:extLst>
          </p:cNvPr>
          <p:cNvSpPr txBox="1"/>
          <p:nvPr/>
        </p:nvSpPr>
        <p:spPr>
          <a:xfrm>
            <a:off x="111579" y="351401"/>
            <a:ext cx="2982706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</a:t>
            </a:r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인계 보호기록 사유</a:t>
            </a:r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</a:p>
          <a:p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PA 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(C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코드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C1(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C2(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C3(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결과대기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C4(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컨펌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 인계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(IN-OUT): IN-OUT 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교대 시 업무 인계 완료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＃운영 단계별 적용 가이드</a:t>
            </a:r>
            <a:endParaRPr lang="en-US" altLang="ko-KR" sz="800" b="1" dirty="0">
              <a:highlight>
                <a:srgbClr val="FFFF00"/>
              </a:highlight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스티커 하단에 작게 아래 문구를 포함하여  도입 초기 혼선을 방지합니다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※ [C]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사유코드 및 체크타임</a:t>
            </a:r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(IN-OUT, 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예정처리</a:t>
            </a:r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은 안정화 이후 활성화</a:t>
            </a:r>
          </a:p>
        </p:txBody>
      </p:sp>
    </p:spTree>
    <p:extLst>
      <p:ext uri="{BB962C8B-B14F-4D97-AF65-F5344CB8AC3E}">
        <p14:creationId xmlns:p14="http://schemas.microsoft.com/office/powerpoint/2010/main" val="18321469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05748-3A8E-4F63-B010-559B8AAB8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904247-611D-5D2D-3268-635770F189F4}"/>
              </a:ext>
            </a:extLst>
          </p:cNvPr>
          <p:cNvSpPr txBox="1"/>
          <p:nvPr/>
        </p:nvSpPr>
        <p:spPr>
          <a:xfrm>
            <a:off x="47760" y="54245"/>
            <a:ext cx="1208408" cy="1692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872B2F-1D4E-61B0-3446-17CE025D647B}"/>
              </a:ext>
            </a:extLst>
          </p:cNvPr>
          <p:cNvSpPr txBox="1"/>
          <p:nvPr/>
        </p:nvSpPr>
        <p:spPr>
          <a:xfrm>
            <a:off x="94186" y="156738"/>
            <a:ext cx="150874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900" b="1" dirty="0"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📊 </a:t>
            </a:r>
            <a:r>
              <a:rPr lang="en-US" altLang="ko-KR" sz="900" b="1" dirty="0"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C-Code &amp; Guide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1F78F0D-5367-8B01-95A7-3B98CFCC7E33}"/>
              </a:ext>
            </a:extLst>
          </p:cNvPr>
          <p:cNvSpPr txBox="1"/>
          <p:nvPr/>
        </p:nvSpPr>
        <p:spPr>
          <a:xfrm>
            <a:off x="111579" y="351401"/>
            <a:ext cx="2982706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</a:t>
            </a:r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인계 보호기록 사유</a:t>
            </a:r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</a:p>
          <a:p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PA 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(C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코드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C1(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C2(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C3(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결과대기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C4(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컨펌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 인계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(IN-OUT): IN-OUT 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교대 시 업무 인계 완료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＃운영 단계별 적용 가이드</a:t>
            </a:r>
            <a:endParaRPr lang="en-US" altLang="ko-KR" sz="800" b="1" dirty="0">
              <a:highlight>
                <a:srgbClr val="FFFF00"/>
              </a:highlight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스티커 하단에 작게 아래 문구를 포함하여  도입 초기 혼선을 방지합니다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※ [C]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사유코드 및 체크타임</a:t>
            </a:r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(IN-OUT, 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예정처리</a:t>
            </a:r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은 안정화 이후 활성화</a:t>
            </a:r>
          </a:p>
        </p:txBody>
      </p:sp>
    </p:spTree>
    <p:extLst>
      <p:ext uri="{BB962C8B-B14F-4D97-AF65-F5344CB8AC3E}">
        <p14:creationId xmlns:p14="http://schemas.microsoft.com/office/powerpoint/2010/main" val="4053578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C649C-DB95-DD09-89B1-1E76767E6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D79E842-EF0B-BB5F-05A0-E3224E90E2DD}"/>
              </a:ext>
            </a:extLst>
          </p:cNvPr>
          <p:cNvSpPr txBox="1"/>
          <p:nvPr/>
        </p:nvSpPr>
        <p:spPr>
          <a:xfrm>
            <a:off x="47760" y="54245"/>
            <a:ext cx="1208408" cy="1692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7A90D0-A8FE-8D54-D7E8-C55BC5DADBC1}"/>
              </a:ext>
            </a:extLst>
          </p:cNvPr>
          <p:cNvSpPr txBox="1"/>
          <p:nvPr/>
        </p:nvSpPr>
        <p:spPr>
          <a:xfrm>
            <a:off x="94186" y="156738"/>
            <a:ext cx="150874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900" b="1" dirty="0"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📊 </a:t>
            </a:r>
            <a:r>
              <a:rPr lang="en-US" altLang="ko-KR" sz="900" b="1" dirty="0"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C-Code &amp; Guide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04A249-5A9B-A812-6552-D9AC47669E1D}"/>
              </a:ext>
            </a:extLst>
          </p:cNvPr>
          <p:cNvSpPr txBox="1"/>
          <p:nvPr/>
        </p:nvSpPr>
        <p:spPr>
          <a:xfrm>
            <a:off x="111579" y="351401"/>
            <a:ext cx="2982706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</a:t>
            </a:r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인계 보호기록 사유</a:t>
            </a:r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</a:p>
          <a:p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PA 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(C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코드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C1(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C2(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C3(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결과대기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C4(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컨펌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 인계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(IN-OUT): IN-OUT 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교대 시 업무 인계 완료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＃운영 단계별 적용 가이드</a:t>
            </a:r>
            <a:endParaRPr lang="en-US" altLang="ko-KR" sz="800" b="1" dirty="0">
              <a:highlight>
                <a:srgbClr val="FFFF00"/>
              </a:highlight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스티커 하단에 작게 아래 문구를 포함하여  도입 초기 혼선을 방지합니다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※ [C]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사유코드 및 체크타임</a:t>
            </a:r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(IN-OUT, 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예정처리</a:t>
            </a:r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은 안정화 이후 활성화</a:t>
            </a:r>
          </a:p>
        </p:txBody>
      </p:sp>
    </p:spTree>
    <p:extLst>
      <p:ext uri="{BB962C8B-B14F-4D97-AF65-F5344CB8AC3E}">
        <p14:creationId xmlns:p14="http://schemas.microsoft.com/office/powerpoint/2010/main" val="32964332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3401</TotalTime>
  <Words>492</Words>
  <Application>Microsoft Office PowerPoint</Application>
  <PresentationFormat>사용자 지정</PresentationFormat>
  <Paragraphs>66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4" baseType="lpstr">
      <vt:lpstr>KoPub돋움체 Bold</vt:lpstr>
      <vt:lpstr>KoPub돋움체 Light</vt:lpstr>
      <vt:lpstr>맑은 고딕</vt:lpstr>
      <vt:lpstr>휴먼둥근헤드라인</vt:lpstr>
      <vt:lpstr>Arial</vt:lpstr>
      <vt:lpstr>Calibri</vt:lpstr>
      <vt:lpstr>Calibri Light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라희 임</dc:creator>
  <cp:lastModifiedBy>라희 임</cp:lastModifiedBy>
  <cp:revision>2306</cp:revision>
  <cp:lastPrinted>2026-03-02T14:34:21Z</cp:lastPrinted>
  <dcterms:created xsi:type="dcterms:W3CDTF">2025-05-04T13:56:03Z</dcterms:created>
  <dcterms:modified xsi:type="dcterms:W3CDTF">2026-03-07T16:35:06Z</dcterms:modified>
</cp:coreProperties>
</file>