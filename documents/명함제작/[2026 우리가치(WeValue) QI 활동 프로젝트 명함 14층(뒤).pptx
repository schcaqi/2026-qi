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6" r:id="rId1"/>
  </p:sldMasterIdLst>
  <p:notesMasterIdLst>
    <p:notesMasterId r:id="rId8"/>
  </p:notesMasterIdLst>
  <p:sldIdLst>
    <p:sldId id="305" r:id="rId2"/>
    <p:sldId id="306" r:id="rId3"/>
    <p:sldId id="307" r:id="rId4"/>
    <p:sldId id="308" r:id="rId5"/>
    <p:sldId id="309" r:id="rId6"/>
    <p:sldId id="310" r:id="rId7"/>
  </p:sldIdLst>
  <p:sldSz cx="9180513" cy="5143500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1620" userDrawn="1">
          <p15:clr>
            <a:srgbClr val="A4A3A4"/>
          </p15:clr>
        </p15:guide>
        <p15:guide id="6" orient="horz" pos="574" userDrawn="1">
          <p15:clr>
            <a:srgbClr val="A4A3A4"/>
          </p15:clr>
        </p15:guide>
        <p15:guide id="7" orient="horz" pos="2977" userDrawn="1">
          <p15:clr>
            <a:srgbClr val="A4A3A4"/>
          </p15:clr>
        </p15:guide>
        <p15:guide id="8" pos="2893" userDrawn="1">
          <p15:clr>
            <a:srgbClr val="A4A3A4"/>
          </p15:clr>
        </p15:guide>
        <p15:guide id="9" pos="374" userDrawn="1">
          <p15:clr>
            <a:srgbClr val="A4A3A4"/>
          </p15:clr>
        </p15:guide>
        <p15:guide id="10" pos="54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CFF1"/>
    <a:srgbClr val="CC00FF"/>
    <a:srgbClr val="006E99"/>
    <a:srgbClr val="009BD6"/>
    <a:srgbClr val="1E5691"/>
    <a:srgbClr val="DDF6FF"/>
    <a:srgbClr val="F58400"/>
    <a:srgbClr val="FF3300"/>
    <a:srgbClr val="FFFFFF"/>
    <a:srgbClr val="0084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73" autoAdjust="0"/>
    <p:restoredTop sz="97430" autoAdjust="0"/>
  </p:normalViewPr>
  <p:slideViewPr>
    <p:cSldViewPr snapToGrid="0">
      <p:cViewPr varScale="1">
        <p:scale>
          <a:sx n="130" d="100"/>
          <a:sy n="130" d="100"/>
        </p:scale>
        <p:origin x="834" y="114"/>
      </p:cViewPr>
      <p:guideLst>
        <p:guide orient="horz" pos="1620"/>
        <p:guide orient="horz" pos="574"/>
        <p:guide orient="horz" pos="2977"/>
        <p:guide pos="2893"/>
        <p:guide pos="374"/>
        <p:guide pos="540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8" y="2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/>
          <a:lstStyle>
            <a:lvl1pPr algn="r">
              <a:defRPr sz="1300"/>
            </a:lvl1pPr>
          </a:lstStyle>
          <a:p>
            <a:fld id="{F929F65E-AEE7-45C5-814B-4468CAF1E537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1800" y="1241425"/>
            <a:ext cx="5994400" cy="335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05" tIns="45703" rIns="91405" bIns="457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86313"/>
            <a:ext cx="5486400" cy="3916363"/>
          </a:xfrm>
          <a:prstGeom prst="rect">
            <a:avLst/>
          </a:prstGeom>
        </p:spPr>
        <p:txBody>
          <a:bodyPr vert="horz" lIns="91405" tIns="45703" rIns="91405" bIns="45703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47215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8" y="9447215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 anchor="b"/>
          <a:lstStyle>
            <a:lvl1pPr algn="r">
              <a:defRPr sz="1300"/>
            </a:lvl1pPr>
          </a:lstStyle>
          <a:p>
            <a:fld id="{6A73BE5E-839E-45D1-B8A5-13B23A945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1211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74416" rtl="0" eaLnBrk="1" latinLnBrk="1" hangingPunct="1">
      <a:defRPr sz="624" kern="1200">
        <a:solidFill>
          <a:schemeClr val="tx1"/>
        </a:solidFill>
        <a:latin typeface="+mn-lt"/>
        <a:ea typeface="+mn-ea"/>
        <a:cs typeface="+mn-cs"/>
      </a:defRPr>
    </a:lvl1pPr>
    <a:lvl2pPr marL="237208" algn="l" defTabSz="474416" rtl="0" eaLnBrk="1" latinLnBrk="1" hangingPunct="1">
      <a:defRPr sz="624" kern="1200">
        <a:solidFill>
          <a:schemeClr val="tx1"/>
        </a:solidFill>
        <a:latin typeface="+mn-lt"/>
        <a:ea typeface="+mn-ea"/>
        <a:cs typeface="+mn-cs"/>
      </a:defRPr>
    </a:lvl2pPr>
    <a:lvl3pPr marL="474416" algn="l" defTabSz="474416" rtl="0" eaLnBrk="1" latinLnBrk="1" hangingPunct="1">
      <a:defRPr sz="624" kern="1200">
        <a:solidFill>
          <a:schemeClr val="tx1"/>
        </a:solidFill>
        <a:latin typeface="+mn-lt"/>
        <a:ea typeface="+mn-ea"/>
        <a:cs typeface="+mn-cs"/>
      </a:defRPr>
    </a:lvl3pPr>
    <a:lvl4pPr marL="711626" algn="l" defTabSz="474416" rtl="0" eaLnBrk="1" latinLnBrk="1" hangingPunct="1">
      <a:defRPr sz="624" kern="1200">
        <a:solidFill>
          <a:schemeClr val="tx1"/>
        </a:solidFill>
        <a:latin typeface="+mn-lt"/>
        <a:ea typeface="+mn-ea"/>
        <a:cs typeface="+mn-cs"/>
      </a:defRPr>
    </a:lvl4pPr>
    <a:lvl5pPr marL="948834" algn="l" defTabSz="474416" rtl="0" eaLnBrk="1" latinLnBrk="1" hangingPunct="1">
      <a:defRPr sz="624" kern="1200">
        <a:solidFill>
          <a:schemeClr val="tx1"/>
        </a:solidFill>
        <a:latin typeface="+mn-lt"/>
        <a:ea typeface="+mn-ea"/>
        <a:cs typeface="+mn-cs"/>
      </a:defRPr>
    </a:lvl5pPr>
    <a:lvl6pPr marL="1186042" algn="l" defTabSz="474416" rtl="0" eaLnBrk="1" latinLnBrk="1" hangingPunct="1">
      <a:defRPr sz="624" kern="1200">
        <a:solidFill>
          <a:schemeClr val="tx1"/>
        </a:solidFill>
        <a:latin typeface="+mn-lt"/>
        <a:ea typeface="+mn-ea"/>
        <a:cs typeface="+mn-cs"/>
      </a:defRPr>
    </a:lvl6pPr>
    <a:lvl7pPr marL="1423247" algn="l" defTabSz="474416" rtl="0" eaLnBrk="1" latinLnBrk="1" hangingPunct="1">
      <a:defRPr sz="624" kern="1200">
        <a:solidFill>
          <a:schemeClr val="tx1"/>
        </a:solidFill>
        <a:latin typeface="+mn-lt"/>
        <a:ea typeface="+mn-ea"/>
        <a:cs typeface="+mn-cs"/>
      </a:defRPr>
    </a:lvl7pPr>
    <a:lvl8pPr marL="1660460" algn="l" defTabSz="474416" rtl="0" eaLnBrk="1" latinLnBrk="1" hangingPunct="1">
      <a:defRPr sz="624" kern="1200">
        <a:solidFill>
          <a:schemeClr val="tx1"/>
        </a:solidFill>
        <a:latin typeface="+mn-lt"/>
        <a:ea typeface="+mn-ea"/>
        <a:cs typeface="+mn-cs"/>
      </a:defRPr>
    </a:lvl8pPr>
    <a:lvl9pPr marL="1897668" algn="l" defTabSz="474416" rtl="0" eaLnBrk="1" latinLnBrk="1" hangingPunct="1">
      <a:defRPr sz="62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7564" y="841772"/>
            <a:ext cx="6885385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7564" y="2701528"/>
            <a:ext cx="6885385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89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2418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6379" y="1282304"/>
            <a:ext cx="7918192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6379" y="3442098"/>
            <a:ext cx="7918192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0631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1160" y="1369219"/>
            <a:ext cx="3901718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7635" y="1369219"/>
            <a:ext cx="3901718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4368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356" y="273844"/>
            <a:ext cx="7918192" cy="994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56" y="1260872"/>
            <a:ext cx="3883787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356" y="1878806"/>
            <a:ext cx="3883787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635" y="1260872"/>
            <a:ext cx="3902914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7635" y="1878806"/>
            <a:ext cx="3902914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3811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78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9272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356" y="342900"/>
            <a:ext cx="2960954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2914" y="740569"/>
            <a:ext cx="4647635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2356" y="1543050"/>
            <a:ext cx="2960954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167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356" y="342900"/>
            <a:ext cx="2960954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02914" y="740569"/>
            <a:ext cx="4647635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2356" y="1543050"/>
            <a:ext cx="2960954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584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692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9805" y="273844"/>
            <a:ext cx="1979548" cy="435887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1160" y="273844"/>
            <a:ext cx="5823888" cy="435887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065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7" y="4"/>
            <a:ext cx="9199641" cy="51435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7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84750" y="87100"/>
            <a:ext cx="9016676" cy="4938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7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7564" y="233109"/>
            <a:ext cx="1028989" cy="5801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BA0C91-E2D0-A166-2BE8-3501CE9BABF8}"/>
              </a:ext>
            </a:extLst>
          </p:cNvPr>
          <p:cNvSpPr txBox="1"/>
          <p:nvPr userDrawn="1"/>
        </p:nvSpPr>
        <p:spPr>
          <a:xfrm>
            <a:off x="5945282" y="4485449"/>
            <a:ext cx="3235235" cy="309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17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ko-KR" altLang="en-US" sz="1700" b="1" dirty="0">
              <a:solidFill>
                <a:srgbClr val="4472C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4329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9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7" y="4"/>
            <a:ext cx="9199641" cy="51435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7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128860" y="49984"/>
            <a:ext cx="8936904" cy="50414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7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17144" y="83529"/>
            <a:ext cx="919409" cy="216029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256578-F800-6850-5D6B-02ED7EBACB52}"/>
              </a:ext>
            </a:extLst>
          </p:cNvPr>
          <p:cNvSpPr txBox="1"/>
          <p:nvPr userDrawn="1"/>
        </p:nvSpPr>
        <p:spPr>
          <a:xfrm>
            <a:off x="8525833" y="4819777"/>
            <a:ext cx="410720" cy="1794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83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en-US" altLang="ko-KR" sz="283" b="1" dirty="0">
              <a:solidFill>
                <a:srgbClr val="4472C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r"/>
            <a:r>
              <a:rPr lang="ko-KR" altLang="en-US" sz="283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이비인후과</a:t>
            </a:r>
          </a:p>
        </p:txBody>
      </p:sp>
    </p:spTree>
    <p:extLst>
      <p:ext uri="{BB962C8B-B14F-4D97-AF65-F5344CB8AC3E}">
        <p14:creationId xmlns:p14="http://schemas.microsoft.com/office/powerpoint/2010/main" val="2737303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93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7" y="4"/>
            <a:ext cx="9199641" cy="51435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7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128860" y="49984"/>
            <a:ext cx="8936904" cy="50414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7" dirty="0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12679" y="83529"/>
            <a:ext cx="919409" cy="216029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D82B35-E786-6435-BBDD-C02B0C93E120}"/>
              </a:ext>
            </a:extLst>
          </p:cNvPr>
          <p:cNvSpPr txBox="1"/>
          <p:nvPr userDrawn="1"/>
        </p:nvSpPr>
        <p:spPr>
          <a:xfrm>
            <a:off x="8451801" y="4877771"/>
            <a:ext cx="484752" cy="135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83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이비인후과 </a:t>
            </a:r>
            <a:r>
              <a:rPr lang="en-US" altLang="ko-KR" sz="283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131</a:t>
            </a:r>
            <a:r>
              <a:rPr lang="ko-KR" altLang="en-US" sz="283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병동</a:t>
            </a:r>
          </a:p>
        </p:txBody>
      </p:sp>
    </p:spTree>
    <p:extLst>
      <p:ext uri="{BB962C8B-B14F-4D97-AF65-F5344CB8AC3E}">
        <p14:creationId xmlns:p14="http://schemas.microsoft.com/office/powerpoint/2010/main" val="501363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93" userDrawn="1">
          <p15:clr>
            <a:srgbClr val="FBAE40"/>
          </p15:clr>
        </p15:guide>
        <p15:guide id="3" orient="horz" pos="19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1161" y="273844"/>
            <a:ext cx="7918192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1161" y="1369219"/>
            <a:ext cx="7918192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1160" y="4767263"/>
            <a:ext cx="206561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1045" y="4767263"/>
            <a:ext cx="309842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83738" y="4767263"/>
            <a:ext cx="206561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783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  <p:sldLayoutId id="2147483906" r:id="rId10"/>
    <p:sldLayoutId id="2147483907" r:id="rId11"/>
    <p:sldLayoutId id="2147483908" r:id="rId12"/>
    <p:sldLayoutId id="2147483790" r:id="rId13"/>
    <p:sldLayoutId id="2147483789" r:id="rId14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9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95857-5CB6-E176-FDD7-C77B771BA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0243490-B7C6-42DB-B189-20704EFBD587}"/>
              </a:ext>
            </a:extLst>
          </p:cNvPr>
          <p:cNvSpPr/>
          <p:nvPr/>
        </p:nvSpPr>
        <p:spPr>
          <a:xfrm>
            <a:off x="593149" y="800399"/>
            <a:ext cx="2571917" cy="5510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7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30F47067-F54E-4A90-9F21-57BD24BB9C63}"/>
              </a:ext>
            </a:extLst>
          </p:cNvPr>
          <p:cNvSpPr/>
          <p:nvPr/>
        </p:nvSpPr>
        <p:spPr>
          <a:xfrm>
            <a:off x="3217421" y="800399"/>
            <a:ext cx="5368589" cy="55102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7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41B2AA-F91D-4DF3-86CD-504CE316D08F}"/>
              </a:ext>
            </a:extLst>
          </p:cNvPr>
          <p:cNvSpPr txBox="1"/>
          <p:nvPr/>
        </p:nvSpPr>
        <p:spPr>
          <a:xfrm>
            <a:off x="5193921" y="2506427"/>
            <a:ext cx="2855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야간 응급 유선 보고 후 사후 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[A]-[D] 1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줄 기록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193F6F5-6376-4F98-A3BB-96E53249AC9E}"/>
              </a:ext>
            </a:extLst>
          </p:cNvPr>
          <p:cNvSpPr/>
          <p:nvPr/>
        </p:nvSpPr>
        <p:spPr>
          <a:xfrm>
            <a:off x="5087533" y="2388092"/>
            <a:ext cx="3498477" cy="963668"/>
          </a:xfrm>
          <a:prstGeom prst="roundRect">
            <a:avLst>
              <a:gd name="adj" fmla="val 13824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BE07B44-9D20-4CE2-BFB6-8DDA339570CA}"/>
              </a:ext>
            </a:extLst>
          </p:cNvPr>
          <p:cNvSpPr/>
          <p:nvPr/>
        </p:nvSpPr>
        <p:spPr>
          <a:xfrm>
            <a:off x="3217421" y="2393402"/>
            <a:ext cx="1819110" cy="958357"/>
          </a:xfrm>
          <a:prstGeom prst="roundRect">
            <a:avLst>
              <a:gd name="adj" fmla="val 1309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132F88-5AA2-43B2-8C2A-F2BB31E51E43}"/>
              </a:ext>
            </a:extLst>
          </p:cNvPr>
          <p:cNvSpPr txBox="1"/>
          <p:nvPr/>
        </p:nvSpPr>
        <p:spPr>
          <a:xfrm>
            <a:off x="3354969" y="2653493"/>
            <a:ext cx="1544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[D-</a:t>
            </a:r>
            <a:r>
              <a:rPr lang="ko-KR" altLang="en-US" sz="2000" b="1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야간유선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B8E964-7EED-74B0-E816-8BE4F8865B12}"/>
              </a:ext>
            </a:extLst>
          </p:cNvPr>
          <p:cNvSpPr txBox="1"/>
          <p:nvPr/>
        </p:nvSpPr>
        <p:spPr>
          <a:xfrm>
            <a:off x="302548" y="175069"/>
            <a:ext cx="3089475" cy="3116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1417" spc="-3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순천향대학교 천안병원 </a:t>
            </a:r>
            <a:r>
              <a:rPr lang="en-US" altLang="ko-KR" sz="1417" spc="-3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| </a:t>
            </a:r>
            <a:r>
              <a:rPr lang="ko-KR" altLang="en-US" sz="1417" spc="-3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진료지원간호팀 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99CA2A2-FAD0-4681-B98C-3A7AA0484B78}"/>
              </a:ext>
            </a:extLst>
          </p:cNvPr>
          <p:cNvGrpSpPr/>
          <p:nvPr/>
        </p:nvGrpSpPr>
        <p:grpSpPr>
          <a:xfrm>
            <a:off x="594503" y="1391440"/>
            <a:ext cx="2595628" cy="2826036"/>
            <a:chOff x="592138" y="1592949"/>
            <a:chExt cx="2585305" cy="2814796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8DA9AE8C-7191-4002-98F1-FF77B72D519F}"/>
                </a:ext>
              </a:extLst>
            </p:cNvPr>
            <p:cNvSpPr/>
            <p:nvPr/>
          </p:nvSpPr>
          <p:spPr>
            <a:xfrm>
              <a:off x="592138" y="1592949"/>
              <a:ext cx="2561688" cy="2814796"/>
            </a:xfrm>
            <a:prstGeom prst="roundRect">
              <a:avLst>
                <a:gd name="adj" fmla="val 5214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10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E33DDDA-6085-D01E-695B-8DCA20A2A084}"/>
                </a:ext>
              </a:extLst>
            </p:cNvPr>
            <p:cNvSpPr txBox="1"/>
            <p:nvPr/>
          </p:nvSpPr>
          <p:spPr>
            <a:xfrm>
              <a:off x="630047" y="1754858"/>
              <a:ext cx="2547396" cy="26161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[CHEMO]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항암 관리</a:t>
              </a: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[BLOOD]</a:t>
              </a:r>
              <a:r>
                <a:rPr lang="en-US" altLang="ko-KR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수혈 관리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[CVR]</a:t>
              </a:r>
              <a:r>
                <a:rPr lang="en-US" altLang="ko-KR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위험 수치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[LIFE]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존엄</a:t>
              </a:r>
              <a:r>
                <a:rPr lang="en-US" altLang="ko-KR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/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임종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[MEET]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보호자 면담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[MARROW]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골수 검사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[ISO]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격리 관리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[C-Status]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상태 악화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[PAIN]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통증 조절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[OUT]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퇴원</a:t>
              </a:r>
              <a:r>
                <a:rPr lang="en-US" altLang="ko-KR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/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전과</a:t>
              </a:r>
              <a:r>
                <a:rPr lang="en-US" altLang="ko-KR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/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사망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C7E232E-6B0D-4C30-967C-1D82B967BC1B}"/>
              </a:ext>
            </a:extLst>
          </p:cNvPr>
          <p:cNvSpPr txBox="1"/>
          <p:nvPr/>
        </p:nvSpPr>
        <p:spPr>
          <a:xfrm>
            <a:off x="591795" y="875055"/>
            <a:ext cx="2574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하이패스 태그 </a:t>
            </a:r>
            <a:r>
              <a:rPr lang="en-US" altLang="ko-KR" sz="24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10</a:t>
            </a:r>
            <a:r>
              <a:rPr lang="ko-KR" altLang="en-US" sz="24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종</a:t>
            </a:r>
            <a:endParaRPr lang="en-US" altLang="ko-KR" sz="24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7FF5CD-F432-4D5C-924D-9C31E13C1988}"/>
              </a:ext>
            </a:extLst>
          </p:cNvPr>
          <p:cNvSpPr txBox="1"/>
          <p:nvPr/>
        </p:nvSpPr>
        <p:spPr>
          <a:xfrm>
            <a:off x="5193921" y="1509776"/>
            <a:ext cx="2855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근무 교대 시 미완료 건에 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'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답장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'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으로 인계 기록</a:t>
            </a:r>
            <a:endParaRPr lang="en-US" altLang="ko-KR" sz="20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1771CDF-B55B-4421-928F-D1D7D43CFAC8}"/>
              </a:ext>
            </a:extLst>
          </p:cNvPr>
          <p:cNvSpPr/>
          <p:nvPr/>
        </p:nvSpPr>
        <p:spPr>
          <a:xfrm>
            <a:off x="5087533" y="1391440"/>
            <a:ext cx="3498477" cy="963668"/>
          </a:xfrm>
          <a:prstGeom prst="roundRect">
            <a:avLst>
              <a:gd name="adj" fmla="val 13824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9BD57B0-0CB8-437B-91FF-358B1B271C52}"/>
              </a:ext>
            </a:extLst>
          </p:cNvPr>
          <p:cNvSpPr/>
          <p:nvPr/>
        </p:nvSpPr>
        <p:spPr>
          <a:xfrm>
            <a:off x="3217421" y="1396750"/>
            <a:ext cx="1819110" cy="958357"/>
          </a:xfrm>
          <a:prstGeom prst="roundRect">
            <a:avLst>
              <a:gd name="adj" fmla="val 1309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17CE27-01D2-4557-B697-30F1806A81B3}"/>
              </a:ext>
            </a:extLst>
          </p:cNvPr>
          <p:cNvSpPr txBox="1"/>
          <p:nvPr/>
        </p:nvSpPr>
        <p:spPr>
          <a:xfrm>
            <a:off x="3501645" y="1656841"/>
            <a:ext cx="12506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[IN-OUT]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306E135-233E-4999-A710-7E3C99EFDAEF}"/>
              </a:ext>
            </a:extLst>
          </p:cNvPr>
          <p:cNvSpPr/>
          <p:nvPr/>
        </p:nvSpPr>
        <p:spPr>
          <a:xfrm>
            <a:off x="4379873" y="853684"/>
            <a:ext cx="28632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나를 지키는 방어 기록</a:t>
            </a:r>
            <a:endParaRPr lang="en-US" altLang="ko-KR" sz="24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50ADB8-A755-4C4B-8102-F58976B5B6D4}"/>
              </a:ext>
            </a:extLst>
          </p:cNvPr>
          <p:cNvSpPr txBox="1"/>
          <p:nvPr/>
        </p:nvSpPr>
        <p:spPr>
          <a:xfrm>
            <a:off x="5193921" y="3448274"/>
            <a:ext cx="34430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PA 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지연 사유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응급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수술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대기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</a:t>
            </a:r>
            <a:r>
              <a:rPr lang="ko-KR" altLang="en-US" sz="2000" b="1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컨펌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명시</a:t>
            </a:r>
            <a:endParaRPr lang="en-US" altLang="ko-KR" sz="20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A688FE5-A3E9-4A7D-9640-97D9C0317280}"/>
              </a:ext>
            </a:extLst>
          </p:cNvPr>
          <p:cNvSpPr/>
          <p:nvPr/>
        </p:nvSpPr>
        <p:spPr>
          <a:xfrm>
            <a:off x="5087533" y="3379434"/>
            <a:ext cx="3498477" cy="832732"/>
          </a:xfrm>
          <a:prstGeom prst="roundRect">
            <a:avLst>
              <a:gd name="adj" fmla="val 13824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4D39DA0-5EC6-4030-BC9A-5BA4D6820777}"/>
              </a:ext>
            </a:extLst>
          </p:cNvPr>
          <p:cNvSpPr/>
          <p:nvPr/>
        </p:nvSpPr>
        <p:spPr>
          <a:xfrm>
            <a:off x="3217421" y="3384744"/>
            <a:ext cx="1819110" cy="832732"/>
          </a:xfrm>
          <a:prstGeom prst="roundRect">
            <a:avLst>
              <a:gd name="adj" fmla="val 1309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4779CB-7AE4-4301-8B2E-ADD0772F1C8C}"/>
              </a:ext>
            </a:extLst>
          </p:cNvPr>
          <p:cNvSpPr txBox="1"/>
          <p:nvPr/>
        </p:nvSpPr>
        <p:spPr>
          <a:xfrm>
            <a:off x="3588368" y="3609035"/>
            <a:ext cx="1077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C-Code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E2D936A-A45B-43D0-819F-2B99B59D02C1}"/>
              </a:ext>
            </a:extLst>
          </p:cNvPr>
          <p:cNvSpPr txBox="1"/>
          <p:nvPr/>
        </p:nvSpPr>
        <p:spPr>
          <a:xfrm>
            <a:off x="2192472" y="4289816"/>
            <a:ext cx="4772204" cy="465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“</a:t>
            </a:r>
            <a:r>
              <a:rPr lang="ko-KR" altLang="en-US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기록은 메신저에서</a:t>
            </a:r>
            <a:r>
              <a:rPr lang="en-US" altLang="ko-KR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정보는 </a:t>
            </a:r>
            <a:r>
              <a:rPr lang="en-US" altLang="ko-KR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QR</a:t>
            </a:r>
            <a:r>
              <a:rPr lang="ko-KR" altLang="en-US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에서</a:t>
            </a:r>
            <a:r>
              <a:rPr lang="en-US" altLang="ko-KR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!”</a:t>
            </a:r>
          </a:p>
        </p:txBody>
      </p:sp>
    </p:spTree>
    <p:extLst>
      <p:ext uri="{BB962C8B-B14F-4D97-AF65-F5344CB8AC3E}">
        <p14:creationId xmlns:p14="http://schemas.microsoft.com/office/powerpoint/2010/main" val="1216328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AB891-B574-18F3-1203-5340F2030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E8D9A6E3-3353-C408-CE40-BE039CFC378D}"/>
              </a:ext>
            </a:extLst>
          </p:cNvPr>
          <p:cNvSpPr/>
          <p:nvPr/>
        </p:nvSpPr>
        <p:spPr>
          <a:xfrm>
            <a:off x="593149" y="800399"/>
            <a:ext cx="2571917" cy="5510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7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D407008-A267-E2E1-2A47-45851F7B49C6}"/>
              </a:ext>
            </a:extLst>
          </p:cNvPr>
          <p:cNvSpPr/>
          <p:nvPr/>
        </p:nvSpPr>
        <p:spPr>
          <a:xfrm>
            <a:off x="3217421" y="800399"/>
            <a:ext cx="5368589" cy="55102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7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07A990-88E5-7E9B-E74A-87C64C3E8F7A}"/>
              </a:ext>
            </a:extLst>
          </p:cNvPr>
          <p:cNvSpPr txBox="1"/>
          <p:nvPr/>
        </p:nvSpPr>
        <p:spPr>
          <a:xfrm>
            <a:off x="5193921" y="2506427"/>
            <a:ext cx="2855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야간 응급 유선 보고 후 사후 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[A]-[D] 1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줄 기록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2EC9BEFA-4CAD-2DAC-58D4-F2F28DBC9ED4}"/>
              </a:ext>
            </a:extLst>
          </p:cNvPr>
          <p:cNvSpPr/>
          <p:nvPr/>
        </p:nvSpPr>
        <p:spPr>
          <a:xfrm>
            <a:off x="5087533" y="2388092"/>
            <a:ext cx="3498477" cy="963668"/>
          </a:xfrm>
          <a:prstGeom prst="roundRect">
            <a:avLst>
              <a:gd name="adj" fmla="val 13824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C80535F-8D43-0B66-8571-9E0C42AEF140}"/>
              </a:ext>
            </a:extLst>
          </p:cNvPr>
          <p:cNvSpPr/>
          <p:nvPr/>
        </p:nvSpPr>
        <p:spPr>
          <a:xfrm>
            <a:off x="3217421" y="2393402"/>
            <a:ext cx="1819110" cy="958357"/>
          </a:xfrm>
          <a:prstGeom prst="roundRect">
            <a:avLst>
              <a:gd name="adj" fmla="val 1309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9BE170-0919-00A6-4B2D-C57BBE5A104F}"/>
              </a:ext>
            </a:extLst>
          </p:cNvPr>
          <p:cNvSpPr txBox="1"/>
          <p:nvPr/>
        </p:nvSpPr>
        <p:spPr>
          <a:xfrm>
            <a:off x="3354969" y="2653493"/>
            <a:ext cx="1544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[D-</a:t>
            </a:r>
            <a:r>
              <a:rPr lang="ko-KR" altLang="en-US" sz="2000" b="1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야간유선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8ABC7E-4EB5-23DC-7275-7AF2F68A9C24}"/>
              </a:ext>
            </a:extLst>
          </p:cNvPr>
          <p:cNvSpPr txBox="1"/>
          <p:nvPr/>
        </p:nvSpPr>
        <p:spPr>
          <a:xfrm>
            <a:off x="302548" y="175069"/>
            <a:ext cx="3089475" cy="3116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1417" spc="-3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순천향대학교 천안병원 </a:t>
            </a:r>
            <a:r>
              <a:rPr lang="en-US" altLang="ko-KR" sz="1417" spc="-3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| </a:t>
            </a:r>
            <a:r>
              <a:rPr lang="ko-KR" altLang="en-US" sz="1417" spc="-3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진료지원간호팀 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152D493-D9E3-A1B1-9C69-6645A7A894CF}"/>
              </a:ext>
            </a:extLst>
          </p:cNvPr>
          <p:cNvGrpSpPr/>
          <p:nvPr/>
        </p:nvGrpSpPr>
        <p:grpSpPr>
          <a:xfrm>
            <a:off x="594503" y="1391440"/>
            <a:ext cx="2595628" cy="2826036"/>
            <a:chOff x="592138" y="1592949"/>
            <a:chExt cx="2585305" cy="2814796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2D55C1FB-9D2C-7E0D-A6C9-32A9A71486C0}"/>
                </a:ext>
              </a:extLst>
            </p:cNvPr>
            <p:cNvSpPr/>
            <p:nvPr/>
          </p:nvSpPr>
          <p:spPr>
            <a:xfrm>
              <a:off x="592138" y="1592949"/>
              <a:ext cx="2561688" cy="2814796"/>
            </a:xfrm>
            <a:prstGeom prst="roundRect">
              <a:avLst>
                <a:gd name="adj" fmla="val 5214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10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2EADEF6-67C9-36D0-7CC2-202D0B571FC9}"/>
                </a:ext>
              </a:extLst>
            </p:cNvPr>
            <p:cNvSpPr txBox="1"/>
            <p:nvPr/>
          </p:nvSpPr>
          <p:spPr>
            <a:xfrm>
              <a:off x="630047" y="1754858"/>
              <a:ext cx="2547396" cy="26161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[CHEMO]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항암 관리</a:t>
              </a: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[BLOOD]</a:t>
              </a:r>
              <a:r>
                <a:rPr lang="en-US" altLang="ko-KR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수혈 관리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[CVR]</a:t>
              </a:r>
              <a:r>
                <a:rPr lang="en-US" altLang="ko-KR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위험 수치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[LIFE]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존엄</a:t>
              </a:r>
              <a:r>
                <a:rPr lang="en-US" altLang="ko-KR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/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임종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[MEET]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보호자 면담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[MARROW]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골수 검사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[ISO]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격리 관리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[C-Status]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상태 악화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[PAIN]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통증 조절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[OUT]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퇴원</a:t>
              </a:r>
              <a:r>
                <a:rPr lang="en-US" altLang="ko-KR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/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전과</a:t>
              </a:r>
              <a:r>
                <a:rPr lang="en-US" altLang="ko-KR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/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사망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765A0F5-842D-6208-5557-F27F42C1A1B5}"/>
              </a:ext>
            </a:extLst>
          </p:cNvPr>
          <p:cNvSpPr txBox="1"/>
          <p:nvPr/>
        </p:nvSpPr>
        <p:spPr>
          <a:xfrm>
            <a:off x="591795" y="875055"/>
            <a:ext cx="2574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하이패스 태그 </a:t>
            </a:r>
            <a:r>
              <a:rPr lang="en-US" altLang="ko-KR" sz="24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10</a:t>
            </a:r>
            <a:r>
              <a:rPr lang="ko-KR" altLang="en-US" sz="24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종</a:t>
            </a:r>
            <a:endParaRPr lang="en-US" altLang="ko-KR" sz="24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C6C323-6694-1353-1A0E-9D59B13ED70E}"/>
              </a:ext>
            </a:extLst>
          </p:cNvPr>
          <p:cNvSpPr txBox="1"/>
          <p:nvPr/>
        </p:nvSpPr>
        <p:spPr>
          <a:xfrm>
            <a:off x="5193921" y="1509776"/>
            <a:ext cx="2855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근무 교대 시 미완료 건에 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'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답장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'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으로 인계 기록</a:t>
            </a:r>
            <a:endParaRPr lang="en-US" altLang="ko-KR" sz="20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42251D4-5AE8-DA83-2549-D4F66CFA8D0E}"/>
              </a:ext>
            </a:extLst>
          </p:cNvPr>
          <p:cNvSpPr/>
          <p:nvPr/>
        </p:nvSpPr>
        <p:spPr>
          <a:xfrm>
            <a:off x="5087533" y="1391440"/>
            <a:ext cx="3498477" cy="963668"/>
          </a:xfrm>
          <a:prstGeom prst="roundRect">
            <a:avLst>
              <a:gd name="adj" fmla="val 13824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B61E606-1BDB-3293-B0F1-1D3965AF8F94}"/>
              </a:ext>
            </a:extLst>
          </p:cNvPr>
          <p:cNvSpPr/>
          <p:nvPr/>
        </p:nvSpPr>
        <p:spPr>
          <a:xfrm>
            <a:off x="3217421" y="1396750"/>
            <a:ext cx="1819110" cy="958357"/>
          </a:xfrm>
          <a:prstGeom prst="roundRect">
            <a:avLst>
              <a:gd name="adj" fmla="val 1309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F0726F-16CE-B800-0D27-03AF0E44B34D}"/>
              </a:ext>
            </a:extLst>
          </p:cNvPr>
          <p:cNvSpPr txBox="1"/>
          <p:nvPr/>
        </p:nvSpPr>
        <p:spPr>
          <a:xfrm>
            <a:off x="3501645" y="1656841"/>
            <a:ext cx="12506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[IN-OUT]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3A0C8CA-3C67-5208-23D7-0C15D2EE1557}"/>
              </a:ext>
            </a:extLst>
          </p:cNvPr>
          <p:cNvSpPr/>
          <p:nvPr/>
        </p:nvSpPr>
        <p:spPr>
          <a:xfrm>
            <a:off x="4379873" y="853684"/>
            <a:ext cx="28632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나를 지키는 방어 기록</a:t>
            </a:r>
            <a:endParaRPr lang="en-US" altLang="ko-KR" sz="24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07AAA3-348F-EAE4-D78D-8D4C5C7CED2D}"/>
              </a:ext>
            </a:extLst>
          </p:cNvPr>
          <p:cNvSpPr txBox="1"/>
          <p:nvPr/>
        </p:nvSpPr>
        <p:spPr>
          <a:xfrm>
            <a:off x="5193921" y="3448274"/>
            <a:ext cx="34430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PA 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지연 사유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응급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수술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대기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</a:t>
            </a:r>
            <a:r>
              <a:rPr lang="ko-KR" altLang="en-US" sz="2000" b="1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컨펌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명시</a:t>
            </a:r>
            <a:endParaRPr lang="en-US" altLang="ko-KR" sz="20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CDA2298-CFE1-6251-CF5D-279ECDEE010F}"/>
              </a:ext>
            </a:extLst>
          </p:cNvPr>
          <p:cNvSpPr/>
          <p:nvPr/>
        </p:nvSpPr>
        <p:spPr>
          <a:xfrm>
            <a:off x="5087533" y="3379434"/>
            <a:ext cx="3498477" cy="832732"/>
          </a:xfrm>
          <a:prstGeom prst="roundRect">
            <a:avLst>
              <a:gd name="adj" fmla="val 13824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4809360B-3D2A-7996-1CC1-48D098A949C6}"/>
              </a:ext>
            </a:extLst>
          </p:cNvPr>
          <p:cNvSpPr/>
          <p:nvPr/>
        </p:nvSpPr>
        <p:spPr>
          <a:xfrm>
            <a:off x="3217421" y="3384744"/>
            <a:ext cx="1819110" cy="832732"/>
          </a:xfrm>
          <a:prstGeom prst="roundRect">
            <a:avLst>
              <a:gd name="adj" fmla="val 1309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80DAEF-1339-966B-F1DC-5DE81069A5AD}"/>
              </a:ext>
            </a:extLst>
          </p:cNvPr>
          <p:cNvSpPr txBox="1"/>
          <p:nvPr/>
        </p:nvSpPr>
        <p:spPr>
          <a:xfrm>
            <a:off x="3588368" y="3609035"/>
            <a:ext cx="1077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C-Code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F64AB2-4B27-E76A-BA62-590B96A1A221}"/>
              </a:ext>
            </a:extLst>
          </p:cNvPr>
          <p:cNvSpPr txBox="1"/>
          <p:nvPr/>
        </p:nvSpPr>
        <p:spPr>
          <a:xfrm>
            <a:off x="2192472" y="4289816"/>
            <a:ext cx="4772204" cy="465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“</a:t>
            </a:r>
            <a:r>
              <a:rPr lang="ko-KR" altLang="en-US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기록은 메신저에서</a:t>
            </a:r>
            <a:r>
              <a:rPr lang="en-US" altLang="ko-KR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정보는 </a:t>
            </a:r>
            <a:r>
              <a:rPr lang="en-US" altLang="ko-KR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QR</a:t>
            </a:r>
            <a:r>
              <a:rPr lang="ko-KR" altLang="en-US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에서</a:t>
            </a:r>
            <a:r>
              <a:rPr lang="en-US" altLang="ko-KR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!”</a:t>
            </a:r>
          </a:p>
        </p:txBody>
      </p:sp>
    </p:spTree>
    <p:extLst>
      <p:ext uri="{BB962C8B-B14F-4D97-AF65-F5344CB8AC3E}">
        <p14:creationId xmlns:p14="http://schemas.microsoft.com/office/powerpoint/2010/main" val="4009365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93137-ED37-0A87-CFD8-5A03E0609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52C6F2A5-46AC-E8BF-7DE3-CFACCB973873}"/>
              </a:ext>
            </a:extLst>
          </p:cNvPr>
          <p:cNvSpPr/>
          <p:nvPr/>
        </p:nvSpPr>
        <p:spPr>
          <a:xfrm>
            <a:off x="593149" y="800399"/>
            <a:ext cx="2571917" cy="5510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7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4C973999-D2AD-27CA-94F9-947A50D673B3}"/>
              </a:ext>
            </a:extLst>
          </p:cNvPr>
          <p:cNvSpPr/>
          <p:nvPr/>
        </p:nvSpPr>
        <p:spPr>
          <a:xfrm>
            <a:off x="3217421" y="800399"/>
            <a:ext cx="5368589" cy="55102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7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8F3061-C630-8F8D-B1BC-8EDFC4759FAA}"/>
              </a:ext>
            </a:extLst>
          </p:cNvPr>
          <p:cNvSpPr txBox="1"/>
          <p:nvPr/>
        </p:nvSpPr>
        <p:spPr>
          <a:xfrm>
            <a:off x="5193921" y="2506427"/>
            <a:ext cx="2855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야간 응급 유선 보고 후 사후 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[A]-[D] 1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줄 기록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D43DCA1-D747-29AC-7448-5D99D3F5544A}"/>
              </a:ext>
            </a:extLst>
          </p:cNvPr>
          <p:cNvSpPr/>
          <p:nvPr/>
        </p:nvSpPr>
        <p:spPr>
          <a:xfrm>
            <a:off x="5087533" y="2388092"/>
            <a:ext cx="3498477" cy="963668"/>
          </a:xfrm>
          <a:prstGeom prst="roundRect">
            <a:avLst>
              <a:gd name="adj" fmla="val 13824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1E8BAC9-6099-5245-FF46-008CD08CA333}"/>
              </a:ext>
            </a:extLst>
          </p:cNvPr>
          <p:cNvSpPr/>
          <p:nvPr/>
        </p:nvSpPr>
        <p:spPr>
          <a:xfrm>
            <a:off x="3217421" y="2393402"/>
            <a:ext cx="1819110" cy="958357"/>
          </a:xfrm>
          <a:prstGeom prst="roundRect">
            <a:avLst>
              <a:gd name="adj" fmla="val 1309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B6A62F-B2AF-8FA6-88E3-9143E6264F51}"/>
              </a:ext>
            </a:extLst>
          </p:cNvPr>
          <p:cNvSpPr txBox="1"/>
          <p:nvPr/>
        </p:nvSpPr>
        <p:spPr>
          <a:xfrm>
            <a:off x="3354969" y="2653493"/>
            <a:ext cx="1544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[D-</a:t>
            </a:r>
            <a:r>
              <a:rPr lang="ko-KR" altLang="en-US" sz="2000" b="1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야간유선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00974C-1C81-7433-477E-8FF4B95B6112}"/>
              </a:ext>
            </a:extLst>
          </p:cNvPr>
          <p:cNvSpPr txBox="1"/>
          <p:nvPr/>
        </p:nvSpPr>
        <p:spPr>
          <a:xfrm>
            <a:off x="302548" y="175069"/>
            <a:ext cx="3089475" cy="3116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1417" spc="-3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순천향대학교 천안병원 </a:t>
            </a:r>
            <a:r>
              <a:rPr lang="en-US" altLang="ko-KR" sz="1417" spc="-3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| </a:t>
            </a:r>
            <a:r>
              <a:rPr lang="ko-KR" altLang="en-US" sz="1417" spc="-3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진료지원간호팀 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217199C-B5F8-6099-5826-17EF37254266}"/>
              </a:ext>
            </a:extLst>
          </p:cNvPr>
          <p:cNvGrpSpPr/>
          <p:nvPr/>
        </p:nvGrpSpPr>
        <p:grpSpPr>
          <a:xfrm>
            <a:off x="594503" y="1391440"/>
            <a:ext cx="2595628" cy="2826036"/>
            <a:chOff x="592138" y="1592949"/>
            <a:chExt cx="2585305" cy="2814796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64E5891C-1491-57F2-1478-6C49886C6112}"/>
                </a:ext>
              </a:extLst>
            </p:cNvPr>
            <p:cNvSpPr/>
            <p:nvPr/>
          </p:nvSpPr>
          <p:spPr>
            <a:xfrm>
              <a:off x="592138" y="1592949"/>
              <a:ext cx="2561688" cy="2814796"/>
            </a:xfrm>
            <a:prstGeom prst="roundRect">
              <a:avLst>
                <a:gd name="adj" fmla="val 5214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10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A1449DA-1DB7-2E48-BDFC-7A4C0383A3E1}"/>
                </a:ext>
              </a:extLst>
            </p:cNvPr>
            <p:cNvSpPr txBox="1"/>
            <p:nvPr/>
          </p:nvSpPr>
          <p:spPr>
            <a:xfrm>
              <a:off x="630047" y="1754858"/>
              <a:ext cx="2547396" cy="26161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[CHEMO]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항암 관리</a:t>
              </a: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[BLOOD]</a:t>
              </a:r>
              <a:r>
                <a:rPr lang="en-US" altLang="ko-KR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수혈 관리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[CVR]</a:t>
              </a:r>
              <a:r>
                <a:rPr lang="en-US" altLang="ko-KR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위험 수치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[LIFE]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존엄</a:t>
              </a:r>
              <a:r>
                <a:rPr lang="en-US" altLang="ko-KR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/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임종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[MEET]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보호자 면담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[MARROW]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골수 검사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[ISO]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격리 관리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[C-Status]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상태 악화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[PAIN]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통증 조절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[OUT]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퇴원</a:t>
              </a:r>
              <a:r>
                <a:rPr lang="en-US" altLang="ko-KR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/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전과</a:t>
              </a:r>
              <a:r>
                <a:rPr lang="en-US" altLang="ko-KR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/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사망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96EB6C8-C5C3-CB8A-F040-B99A52E2DADA}"/>
              </a:ext>
            </a:extLst>
          </p:cNvPr>
          <p:cNvSpPr txBox="1"/>
          <p:nvPr/>
        </p:nvSpPr>
        <p:spPr>
          <a:xfrm>
            <a:off x="591795" y="875055"/>
            <a:ext cx="2574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하이패스 태그 </a:t>
            </a:r>
            <a:r>
              <a:rPr lang="en-US" altLang="ko-KR" sz="24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10</a:t>
            </a:r>
            <a:r>
              <a:rPr lang="ko-KR" altLang="en-US" sz="24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종</a:t>
            </a:r>
            <a:endParaRPr lang="en-US" altLang="ko-KR" sz="24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2BC0D4-04BB-F8C5-ECAE-E502B266F64D}"/>
              </a:ext>
            </a:extLst>
          </p:cNvPr>
          <p:cNvSpPr txBox="1"/>
          <p:nvPr/>
        </p:nvSpPr>
        <p:spPr>
          <a:xfrm>
            <a:off x="5193921" y="1509776"/>
            <a:ext cx="2855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근무 교대 시 미완료 건에 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'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답장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'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으로 인계 기록</a:t>
            </a:r>
            <a:endParaRPr lang="en-US" altLang="ko-KR" sz="20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F28CAB5-AEE1-ACB1-631A-5F3028FA4BDE}"/>
              </a:ext>
            </a:extLst>
          </p:cNvPr>
          <p:cNvSpPr/>
          <p:nvPr/>
        </p:nvSpPr>
        <p:spPr>
          <a:xfrm>
            <a:off x="5087533" y="1391440"/>
            <a:ext cx="3498477" cy="963668"/>
          </a:xfrm>
          <a:prstGeom prst="roundRect">
            <a:avLst>
              <a:gd name="adj" fmla="val 13824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BBF0A20-E419-C03C-9D4B-59099E5257F7}"/>
              </a:ext>
            </a:extLst>
          </p:cNvPr>
          <p:cNvSpPr/>
          <p:nvPr/>
        </p:nvSpPr>
        <p:spPr>
          <a:xfrm>
            <a:off x="3217421" y="1396750"/>
            <a:ext cx="1819110" cy="958357"/>
          </a:xfrm>
          <a:prstGeom prst="roundRect">
            <a:avLst>
              <a:gd name="adj" fmla="val 1309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4E8DA3-552E-B54F-57A4-CE4894D3CE5A}"/>
              </a:ext>
            </a:extLst>
          </p:cNvPr>
          <p:cNvSpPr txBox="1"/>
          <p:nvPr/>
        </p:nvSpPr>
        <p:spPr>
          <a:xfrm>
            <a:off x="3501645" y="1656841"/>
            <a:ext cx="12506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[IN-OUT]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35535E3-4980-6B7B-BE8D-8EC4AB94594A}"/>
              </a:ext>
            </a:extLst>
          </p:cNvPr>
          <p:cNvSpPr/>
          <p:nvPr/>
        </p:nvSpPr>
        <p:spPr>
          <a:xfrm>
            <a:off x="4379873" y="853684"/>
            <a:ext cx="28632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나를 지키는 방어 기록</a:t>
            </a:r>
            <a:endParaRPr lang="en-US" altLang="ko-KR" sz="24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212D9F-9BAC-5AE0-01B0-D1B97227F909}"/>
              </a:ext>
            </a:extLst>
          </p:cNvPr>
          <p:cNvSpPr txBox="1"/>
          <p:nvPr/>
        </p:nvSpPr>
        <p:spPr>
          <a:xfrm>
            <a:off x="5193921" y="3448274"/>
            <a:ext cx="34430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PA 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지연 사유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응급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수술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대기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</a:t>
            </a:r>
            <a:r>
              <a:rPr lang="ko-KR" altLang="en-US" sz="2000" b="1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컨펌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명시</a:t>
            </a:r>
            <a:endParaRPr lang="en-US" altLang="ko-KR" sz="20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A826D77-1BA6-3A5C-DC6C-483A74847A80}"/>
              </a:ext>
            </a:extLst>
          </p:cNvPr>
          <p:cNvSpPr/>
          <p:nvPr/>
        </p:nvSpPr>
        <p:spPr>
          <a:xfrm>
            <a:off x="5087533" y="3379434"/>
            <a:ext cx="3498477" cy="832732"/>
          </a:xfrm>
          <a:prstGeom prst="roundRect">
            <a:avLst>
              <a:gd name="adj" fmla="val 13824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8967012-4C80-7DD8-C2A4-2679288AF517}"/>
              </a:ext>
            </a:extLst>
          </p:cNvPr>
          <p:cNvSpPr/>
          <p:nvPr/>
        </p:nvSpPr>
        <p:spPr>
          <a:xfrm>
            <a:off x="3217421" y="3384744"/>
            <a:ext cx="1819110" cy="832732"/>
          </a:xfrm>
          <a:prstGeom prst="roundRect">
            <a:avLst>
              <a:gd name="adj" fmla="val 1309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B45438-AE69-D0DE-61CF-141996BFEA94}"/>
              </a:ext>
            </a:extLst>
          </p:cNvPr>
          <p:cNvSpPr txBox="1"/>
          <p:nvPr/>
        </p:nvSpPr>
        <p:spPr>
          <a:xfrm>
            <a:off x="3588368" y="3609035"/>
            <a:ext cx="1077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C-Code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CD88DB-33DB-F02B-AFA9-2BDC4517AA8D}"/>
              </a:ext>
            </a:extLst>
          </p:cNvPr>
          <p:cNvSpPr txBox="1"/>
          <p:nvPr/>
        </p:nvSpPr>
        <p:spPr>
          <a:xfrm>
            <a:off x="2192472" y="4289816"/>
            <a:ext cx="4772204" cy="465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“</a:t>
            </a:r>
            <a:r>
              <a:rPr lang="ko-KR" altLang="en-US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기록은 메신저에서</a:t>
            </a:r>
            <a:r>
              <a:rPr lang="en-US" altLang="ko-KR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정보는 </a:t>
            </a:r>
            <a:r>
              <a:rPr lang="en-US" altLang="ko-KR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QR</a:t>
            </a:r>
            <a:r>
              <a:rPr lang="ko-KR" altLang="en-US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에서</a:t>
            </a:r>
            <a:r>
              <a:rPr lang="en-US" altLang="ko-KR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!”</a:t>
            </a:r>
          </a:p>
        </p:txBody>
      </p:sp>
    </p:spTree>
    <p:extLst>
      <p:ext uri="{BB962C8B-B14F-4D97-AF65-F5344CB8AC3E}">
        <p14:creationId xmlns:p14="http://schemas.microsoft.com/office/powerpoint/2010/main" val="3132546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1F57F-E96B-F75D-4B53-F75B35D71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58DA3752-0EF7-B345-20A7-F8302DB8E64D}"/>
              </a:ext>
            </a:extLst>
          </p:cNvPr>
          <p:cNvSpPr/>
          <p:nvPr/>
        </p:nvSpPr>
        <p:spPr>
          <a:xfrm>
            <a:off x="593149" y="800399"/>
            <a:ext cx="2571917" cy="5510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7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9C6E467D-FACC-80EF-314F-3832B4461E3B}"/>
              </a:ext>
            </a:extLst>
          </p:cNvPr>
          <p:cNvSpPr/>
          <p:nvPr/>
        </p:nvSpPr>
        <p:spPr>
          <a:xfrm>
            <a:off x="3217421" y="800399"/>
            <a:ext cx="5368589" cy="55102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7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7DD5AB-E806-7D82-FA15-4294350C9878}"/>
              </a:ext>
            </a:extLst>
          </p:cNvPr>
          <p:cNvSpPr txBox="1"/>
          <p:nvPr/>
        </p:nvSpPr>
        <p:spPr>
          <a:xfrm>
            <a:off x="5193921" y="2506427"/>
            <a:ext cx="2855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야간 응급 유선 보고 후 사후 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[A]-[D] 1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줄 기록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7CB09B7-DE50-D34B-5787-D85B8769079B}"/>
              </a:ext>
            </a:extLst>
          </p:cNvPr>
          <p:cNvSpPr/>
          <p:nvPr/>
        </p:nvSpPr>
        <p:spPr>
          <a:xfrm>
            <a:off x="5087533" y="2388092"/>
            <a:ext cx="3498477" cy="963668"/>
          </a:xfrm>
          <a:prstGeom prst="roundRect">
            <a:avLst>
              <a:gd name="adj" fmla="val 13824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CB20227E-227F-2F7B-D179-094807C1D782}"/>
              </a:ext>
            </a:extLst>
          </p:cNvPr>
          <p:cNvSpPr/>
          <p:nvPr/>
        </p:nvSpPr>
        <p:spPr>
          <a:xfrm>
            <a:off x="3217421" y="2393402"/>
            <a:ext cx="1819110" cy="958357"/>
          </a:xfrm>
          <a:prstGeom prst="roundRect">
            <a:avLst>
              <a:gd name="adj" fmla="val 1309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3288B6-E823-DC5B-14E8-37DB8B61BD03}"/>
              </a:ext>
            </a:extLst>
          </p:cNvPr>
          <p:cNvSpPr txBox="1"/>
          <p:nvPr/>
        </p:nvSpPr>
        <p:spPr>
          <a:xfrm>
            <a:off x="3354969" y="2653493"/>
            <a:ext cx="1544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[D-</a:t>
            </a:r>
            <a:r>
              <a:rPr lang="ko-KR" altLang="en-US" sz="2000" b="1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야간유선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C9D6C2-F3DB-0336-0325-25BF2F3F43EF}"/>
              </a:ext>
            </a:extLst>
          </p:cNvPr>
          <p:cNvSpPr txBox="1"/>
          <p:nvPr/>
        </p:nvSpPr>
        <p:spPr>
          <a:xfrm>
            <a:off x="302548" y="175069"/>
            <a:ext cx="3089475" cy="3116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1417" spc="-3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순천향대학교 천안병원 </a:t>
            </a:r>
            <a:r>
              <a:rPr lang="en-US" altLang="ko-KR" sz="1417" spc="-3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| </a:t>
            </a:r>
            <a:r>
              <a:rPr lang="ko-KR" altLang="en-US" sz="1417" spc="-3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진료지원간호팀 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ACA73A7-D3EA-9548-00A0-5D148FDF10F3}"/>
              </a:ext>
            </a:extLst>
          </p:cNvPr>
          <p:cNvGrpSpPr/>
          <p:nvPr/>
        </p:nvGrpSpPr>
        <p:grpSpPr>
          <a:xfrm>
            <a:off x="594503" y="1391440"/>
            <a:ext cx="2595628" cy="2826036"/>
            <a:chOff x="592138" y="1592949"/>
            <a:chExt cx="2585305" cy="2814796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E120B616-CC54-685C-ED46-FEA0488CA7CF}"/>
                </a:ext>
              </a:extLst>
            </p:cNvPr>
            <p:cNvSpPr/>
            <p:nvPr/>
          </p:nvSpPr>
          <p:spPr>
            <a:xfrm>
              <a:off x="592138" y="1592949"/>
              <a:ext cx="2561688" cy="2814796"/>
            </a:xfrm>
            <a:prstGeom prst="roundRect">
              <a:avLst>
                <a:gd name="adj" fmla="val 5214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10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E1E58A6-5047-5588-97EE-09E3C3D65E3B}"/>
                </a:ext>
              </a:extLst>
            </p:cNvPr>
            <p:cNvSpPr txBox="1"/>
            <p:nvPr/>
          </p:nvSpPr>
          <p:spPr>
            <a:xfrm>
              <a:off x="630047" y="1754858"/>
              <a:ext cx="2547396" cy="26161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[CHEMO]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항암 관리</a:t>
              </a: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[BLOOD]</a:t>
              </a:r>
              <a:r>
                <a:rPr lang="en-US" altLang="ko-KR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수혈 관리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[CVR]</a:t>
              </a:r>
              <a:r>
                <a:rPr lang="en-US" altLang="ko-KR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위험 수치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[LIFE]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존엄</a:t>
              </a:r>
              <a:r>
                <a:rPr lang="en-US" altLang="ko-KR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/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임종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[MEET]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보호자 면담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[MARROW]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골수 검사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[ISO]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격리 관리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[C-Status]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상태 악화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[PAIN]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통증 조절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[OUT]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퇴원</a:t>
              </a:r>
              <a:r>
                <a:rPr lang="en-US" altLang="ko-KR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/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전과</a:t>
              </a:r>
              <a:r>
                <a:rPr lang="en-US" altLang="ko-KR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/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사망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6947DE9-DED1-9903-3FD7-C89E991F2856}"/>
              </a:ext>
            </a:extLst>
          </p:cNvPr>
          <p:cNvSpPr txBox="1"/>
          <p:nvPr/>
        </p:nvSpPr>
        <p:spPr>
          <a:xfrm>
            <a:off x="591795" y="875055"/>
            <a:ext cx="2574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하이패스 태그 </a:t>
            </a:r>
            <a:r>
              <a:rPr lang="en-US" altLang="ko-KR" sz="24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10</a:t>
            </a:r>
            <a:r>
              <a:rPr lang="ko-KR" altLang="en-US" sz="24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종</a:t>
            </a:r>
            <a:endParaRPr lang="en-US" altLang="ko-KR" sz="24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B07858-B5FC-C458-6201-DF02B55294E6}"/>
              </a:ext>
            </a:extLst>
          </p:cNvPr>
          <p:cNvSpPr txBox="1"/>
          <p:nvPr/>
        </p:nvSpPr>
        <p:spPr>
          <a:xfrm>
            <a:off x="5193921" y="1509776"/>
            <a:ext cx="2855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근무 교대 시 미완료 건에 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'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답장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'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으로 인계 기록</a:t>
            </a:r>
            <a:endParaRPr lang="en-US" altLang="ko-KR" sz="20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AD284FC-B987-5600-5C2C-AAD8F03B810C}"/>
              </a:ext>
            </a:extLst>
          </p:cNvPr>
          <p:cNvSpPr/>
          <p:nvPr/>
        </p:nvSpPr>
        <p:spPr>
          <a:xfrm>
            <a:off x="5087533" y="1391440"/>
            <a:ext cx="3498477" cy="963668"/>
          </a:xfrm>
          <a:prstGeom prst="roundRect">
            <a:avLst>
              <a:gd name="adj" fmla="val 13824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4B2826B-049F-B77F-D710-6BD388BA1109}"/>
              </a:ext>
            </a:extLst>
          </p:cNvPr>
          <p:cNvSpPr/>
          <p:nvPr/>
        </p:nvSpPr>
        <p:spPr>
          <a:xfrm>
            <a:off x="3217421" y="1396750"/>
            <a:ext cx="1819110" cy="958357"/>
          </a:xfrm>
          <a:prstGeom prst="roundRect">
            <a:avLst>
              <a:gd name="adj" fmla="val 1309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1A40A7-A989-5343-6AD4-F738F0967F35}"/>
              </a:ext>
            </a:extLst>
          </p:cNvPr>
          <p:cNvSpPr txBox="1"/>
          <p:nvPr/>
        </p:nvSpPr>
        <p:spPr>
          <a:xfrm>
            <a:off x="3501645" y="1656841"/>
            <a:ext cx="12506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[IN-OUT]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C4B9C35-A24B-4D76-50D3-5BF05EE5659B}"/>
              </a:ext>
            </a:extLst>
          </p:cNvPr>
          <p:cNvSpPr/>
          <p:nvPr/>
        </p:nvSpPr>
        <p:spPr>
          <a:xfrm>
            <a:off x="4379873" y="853684"/>
            <a:ext cx="28632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나를 지키는 방어 기록</a:t>
            </a:r>
            <a:endParaRPr lang="en-US" altLang="ko-KR" sz="24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A2DB03-5BA2-14D6-BBB7-FD7341FBF3E3}"/>
              </a:ext>
            </a:extLst>
          </p:cNvPr>
          <p:cNvSpPr txBox="1"/>
          <p:nvPr/>
        </p:nvSpPr>
        <p:spPr>
          <a:xfrm>
            <a:off x="5193921" y="3448274"/>
            <a:ext cx="34430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PA 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지연 사유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응급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수술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대기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</a:t>
            </a:r>
            <a:r>
              <a:rPr lang="ko-KR" altLang="en-US" sz="2000" b="1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컨펌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명시</a:t>
            </a:r>
            <a:endParaRPr lang="en-US" altLang="ko-KR" sz="20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145F3EB-D771-5C22-6844-0F4218ED0FDF}"/>
              </a:ext>
            </a:extLst>
          </p:cNvPr>
          <p:cNvSpPr/>
          <p:nvPr/>
        </p:nvSpPr>
        <p:spPr>
          <a:xfrm>
            <a:off x="5087533" y="3379434"/>
            <a:ext cx="3498477" cy="832732"/>
          </a:xfrm>
          <a:prstGeom prst="roundRect">
            <a:avLst>
              <a:gd name="adj" fmla="val 13824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7A38269-1130-C55F-A5CA-A5E71629CAE3}"/>
              </a:ext>
            </a:extLst>
          </p:cNvPr>
          <p:cNvSpPr/>
          <p:nvPr/>
        </p:nvSpPr>
        <p:spPr>
          <a:xfrm>
            <a:off x="3217421" y="3384744"/>
            <a:ext cx="1819110" cy="832732"/>
          </a:xfrm>
          <a:prstGeom prst="roundRect">
            <a:avLst>
              <a:gd name="adj" fmla="val 1309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B9D114-B073-BFCB-4F31-1FB3F7912B61}"/>
              </a:ext>
            </a:extLst>
          </p:cNvPr>
          <p:cNvSpPr txBox="1"/>
          <p:nvPr/>
        </p:nvSpPr>
        <p:spPr>
          <a:xfrm>
            <a:off x="3588368" y="3609035"/>
            <a:ext cx="1077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C-Code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43D035-85D4-FAB3-4D6D-00AA870D0EFD}"/>
              </a:ext>
            </a:extLst>
          </p:cNvPr>
          <p:cNvSpPr txBox="1"/>
          <p:nvPr/>
        </p:nvSpPr>
        <p:spPr>
          <a:xfrm>
            <a:off x="2192472" y="4289816"/>
            <a:ext cx="4772204" cy="465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“</a:t>
            </a:r>
            <a:r>
              <a:rPr lang="ko-KR" altLang="en-US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기록은 메신저에서</a:t>
            </a:r>
            <a:r>
              <a:rPr lang="en-US" altLang="ko-KR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정보는 </a:t>
            </a:r>
            <a:r>
              <a:rPr lang="en-US" altLang="ko-KR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QR</a:t>
            </a:r>
            <a:r>
              <a:rPr lang="ko-KR" altLang="en-US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에서</a:t>
            </a:r>
            <a:r>
              <a:rPr lang="en-US" altLang="ko-KR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!”</a:t>
            </a:r>
          </a:p>
        </p:txBody>
      </p:sp>
    </p:spTree>
    <p:extLst>
      <p:ext uri="{BB962C8B-B14F-4D97-AF65-F5344CB8AC3E}">
        <p14:creationId xmlns:p14="http://schemas.microsoft.com/office/powerpoint/2010/main" val="2114337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1E4BA-7A1D-F854-F39B-78E7047A9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E0A6521C-7D76-6C94-0E57-C4E960218D2A}"/>
              </a:ext>
            </a:extLst>
          </p:cNvPr>
          <p:cNvSpPr/>
          <p:nvPr/>
        </p:nvSpPr>
        <p:spPr>
          <a:xfrm>
            <a:off x="593149" y="800399"/>
            <a:ext cx="2571917" cy="5510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7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2264A3FA-12C4-3B7F-AEE8-960A975C4A8F}"/>
              </a:ext>
            </a:extLst>
          </p:cNvPr>
          <p:cNvSpPr/>
          <p:nvPr/>
        </p:nvSpPr>
        <p:spPr>
          <a:xfrm>
            <a:off x="3217421" y="800399"/>
            <a:ext cx="5368589" cy="55102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7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330537-CDBD-7764-7669-424386466FDC}"/>
              </a:ext>
            </a:extLst>
          </p:cNvPr>
          <p:cNvSpPr txBox="1"/>
          <p:nvPr/>
        </p:nvSpPr>
        <p:spPr>
          <a:xfrm>
            <a:off x="5193921" y="2506427"/>
            <a:ext cx="2855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야간 응급 유선 보고 후 사후 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[A]-[D] 1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줄 기록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B163EA5-16C0-08A7-542E-AB2774A41988}"/>
              </a:ext>
            </a:extLst>
          </p:cNvPr>
          <p:cNvSpPr/>
          <p:nvPr/>
        </p:nvSpPr>
        <p:spPr>
          <a:xfrm>
            <a:off x="5087533" y="2388092"/>
            <a:ext cx="3498477" cy="963668"/>
          </a:xfrm>
          <a:prstGeom prst="roundRect">
            <a:avLst>
              <a:gd name="adj" fmla="val 13824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230E952D-43BD-E3F7-2791-04739A9256BA}"/>
              </a:ext>
            </a:extLst>
          </p:cNvPr>
          <p:cNvSpPr/>
          <p:nvPr/>
        </p:nvSpPr>
        <p:spPr>
          <a:xfrm>
            <a:off x="3217421" y="2393402"/>
            <a:ext cx="1819110" cy="958357"/>
          </a:xfrm>
          <a:prstGeom prst="roundRect">
            <a:avLst>
              <a:gd name="adj" fmla="val 1309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EF8968-A148-048A-6B3B-00F9FEB14419}"/>
              </a:ext>
            </a:extLst>
          </p:cNvPr>
          <p:cNvSpPr txBox="1"/>
          <p:nvPr/>
        </p:nvSpPr>
        <p:spPr>
          <a:xfrm>
            <a:off x="3354969" y="2653493"/>
            <a:ext cx="1544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[D-</a:t>
            </a:r>
            <a:r>
              <a:rPr lang="ko-KR" altLang="en-US" sz="2000" b="1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야간유선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2E8136-71CB-3516-914E-65A980B258DD}"/>
              </a:ext>
            </a:extLst>
          </p:cNvPr>
          <p:cNvSpPr txBox="1"/>
          <p:nvPr/>
        </p:nvSpPr>
        <p:spPr>
          <a:xfrm>
            <a:off x="302548" y="175069"/>
            <a:ext cx="3089475" cy="3116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1417" spc="-3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순천향대학교 천안병원 </a:t>
            </a:r>
            <a:r>
              <a:rPr lang="en-US" altLang="ko-KR" sz="1417" spc="-3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| </a:t>
            </a:r>
            <a:r>
              <a:rPr lang="ko-KR" altLang="en-US" sz="1417" spc="-3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진료지원간호팀 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F8278FD-EF8C-3A06-C91E-3321C3C92A55}"/>
              </a:ext>
            </a:extLst>
          </p:cNvPr>
          <p:cNvGrpSpPr/>
          <p:nvPr/>
        </p:nvGrpSpPr>
        <p:grpSpPr>
          <a:xfrm>
            <a:off x="594503" y="1391440"/>
            <a:ext cx="2595628" cy="2826036"/>
            <a:chOff x="592138" y="1592949"/>
            <a:chExt cx="2585305" cy="2814796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2CCAD410-D671-90E6-8827-3D28A7E1E1B8}"/>
                </a:ext>
              </a:extLst>
            </p:cNvPr>
            <p:cNvSpPr/>
            <p:nvPr/>
          </p:nvSpPr>
          <p:spPr>
            <a:xfrm>
              <a:off x="592138" y="1592949"/>
              <a:ext cx="2561688" cy="2814796"/>
            </a:xfrm>
            <a:prstGeom prst="roundRect">
              <a:avLst>
                <a:gd name="adj" fmla="val 5214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10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D6E9067-3E7E-D8AB-B317-B078328B5E4F}"/>
                </a:ext>
              </a:extLst>
            </p:cNvPr>
            <p:cNvSpPr txBox="1"/>
            <p:nvPr/>
          </p:nvSpPr>
          <p:spPr>
            <a:xfrm>
              <a:off x="630047" y="1754858"/>
              <a:ext cx="2547396" cy="26161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[CHEMO]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항암 관리</a:t>
              </a: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[BLOOD]</a:t>
              </a:r>
              <a:r>
                <a:rPr lang="en-US" altLang="ko-KR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수혈 관리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[CVR]</a:t>
              </a:r>
              <a:r>
                <a:rPr lang="en-US" altLang="ko-KR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위험 수치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[LIFE]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존엄</a:t>
              </a:r>
              <a:r>
                <a:rPr lang="en-US" altLang="ko-KR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/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임종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[MEET]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보호자 면담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[MARROW]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골수 검사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[ISO]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격리 관리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[C-Status]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상태 악화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[PAIN]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통증 조절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[OUT]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퇴원</a:t>
              </a:r>
              <a:r>
                <a:rPr lang="en-US" altLang="ko-KR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/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전과</a:t>
              </a:r>
              <a:r>
                <a:rPr lang="en-US" altLang="ko-KR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/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사망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EF41990-9F78-10A3-8B26-5F706F297B04}"/>
              </a:ext>
            </a:extLst>
          </p:cNvPr>
          <p:cNvSpPr txBox="1"/>
          <p:nvPr/>
        </p:nvSpPr>
        <p:spPr>
          <a:xfrm>
            <a:off x="591795" y="875055"/>
            <a:ext cx="2574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하이패스 태그 </a:t>
            </a:r>
            <a:r>
              <a:rPr lang="en-US" altLang="ko-KR" sz="24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10</a:t>
            </a:r>
            <a:r>
              <a:rPr lang="ko-KR" altLang="en-US" sz="24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종</a:t>
            </a:r>
            <a:endParaRPr lang="en-US" altLang="ko-KR" sz="24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D3E866-98DD-17E8-1686-A3657F68A48B}"/>
              </a:ext>
            </a:extLst>
          </p:cNvPr>
          <p:cNvSpPr txBox="1"/>
          <p:nvPr/>
        </p:nvSpPr>
        <p:spPr>
          <a:xfrm>
            <a:off x="5193921" y="1509776"/>
            <a:ext cx="2855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근무 교대 시 미완료 건에 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'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답장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'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으로 인계 기록</a:t>
            </a:r>
            <a:endParaRPr lang="en-US" altLang="ko-KR" sz="20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6FC6F3D-F285-CF8E-326C-6D3E594F6364}"/>
              </a:ext>
            </a:extLst>
          </p:cNvPr>
          <p:cNvSpPr/>
          <p:nvPr/>
        </p:nvSpPr>
        <p:spPr>
          <a:xfrm>
            <a:off x="5087533" y="1391440"/>
            <a:ext cx="3498477" cy="963668"/>
          </a:xfrm>
          <a:prstGeom prst="roundRect">
            <a:avLst>
              <a:gd name="adj" fmla="val 13824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3F191C0-1D4E-9EB6-E143-64E75B482430}"/>
              </a:ext>
            </a:extLst>
          </p:cNvPr>
          <p:cNvSpPr/>
          <p:nvPr/>
        </p:nvSpPr>
        <p:spPr>
          <a:xfrm>
            <a:off x="3217421" y="1396750"/>
            <a:ext cx="1819110" cy="958357"/>
          </a:xfrm>
          <a:prstGeom prst="roundRect">
            <a:avLst>
              <a:gd name="adj" fmla="val 1309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F69FFE-48E9-D992-EB83-F3A8CF0BA63C}"/>
              </a:ext>
            </a:extLst>
          </p:cNvPr>
          <p:cNvSpPr txBox="1"/>
          <p:nvPr/>
        </p:nvSpPr>
        <p:spPr>
          <a:xfrm>
            <a:off x="3501645" y="1656841"/>
            <a:ext cx="12506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[IN-OUT]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FE0F88B-04F7-647F-6CE7-7D595FC5E87A}"/>
              </a:ext>
            </a:extLst>
          </p:cNvPr>
          <p:cNvSpPr/>
          <p:nvPr/>
        </p:nvSpPr>
        <p:spPr>
          <a:xfrm>
            <a:off x="4379873" y="853684"/>
            <a:ext cx="28632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나를 지키는 방어 기록</a:t>
            </a:r>
            <a:endParaRPr lang="en-US" altLang="ko-KR" sz="24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8305DC-C47C-99FB-0BC8-4862796A2D57}"/>
              </a:ext>
            </a:extLst>
          </p:cNvPr>
          <p:cNvSpPr txBox="1"/>
          <p:nvPr/>
        </p:nvSpPr>
        <p:spPr>
          <a:xfrm>
            <a:off x="5193921" y="3448274"/>
            <a:ext cx="34430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PA 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지연 사유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응급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수술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대기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</a:t>
            </a:r>
            <a:r>
              <a:rPr lang="ko-KR" altLang="en-US" sz="2000" b="1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컨펌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명시</a:t>
            </a:r>
            <a:endParaRPr lang="en-US" altLang="ko-KR" sz="20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ADF97D1B-B6AB-D5AD-B701-21358A35D5F9}"/>
              </a:ext>
            </a:extLst>
          </p:cNvPr>
          <p:cNvSpPr/>
          <p:nvPr/>
        </p:nvSpPr>
        <p:spPr>
          <a:xfrm>
            <a:off x="5087533" y="3379434"/>
            <a:ext cx="3498477" cy="832732"/>
          </a:xfrm>
          <a:prstGeom prst="roundRect">
            <a:avLst>
              <a:gd name="adj" fmla="val 13824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8002F01-5D0A-5CE6-51BA-825EDF62209F}"/>
              </a:ext>
            </a:extLst>
          </p:cNvPr>
          <p:cNvSpPr/>
          <p:nvPr/>
        </p:nvSpPr>
        <p:spPr>
          <a:xfrm>
            <a:off x="3217421" y="3384744"/>
            <a:ext cx="1819110" cy="832732"/>
          </a:xfrm>
          <a:prstGeom prst="roundRect">
            <a:avLst>
              <a:gd name="adj" fmla="val 1309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A7B9BE-98ED-61D5-BB29-3572DC4F41C4}"/>
              </a:ext>
            </a:extLst>
          </p:cNvPr>
          <p:cNvSpPr txBox="1"/>
          <p:nvPr/>
        </p:nvSpPr>
        <p:spPr>
          <a:xfrm>
            <a:off x="3588368" y="3609035"/>
            <a:ext cx="1077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C-Code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6AA51B-7ADF-3EE6-8929-BA20D17E6225}"/>
              </a:ext>
            </a:extLst>
          </p:cNvPr>
          <p:cNvSpPr txBox="1"/>
          <p:nvPr/>
        </p:nvSpPr>
        <p:spPr>
          <a:xfrm>
            <a:off x="2192472" y="4289816"/>
            <a:ext cx="4772204" cy="465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“</a:t>
            </a:r>
            <a:r>
              <a:rPr lang="ko-KR" altLang="en-US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기록은 메신저에서</a:t>
            </a:r>
            <a:r>
              <a:rPr lang="en-US" altLang="ko-KR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정보는 </a:t>
            </a:r>
            <a:r>
              <a:rPr lang="en-US" altLang="ko-KR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QR</a:t>
            </a:r>
            <a:r>
              <a:rPr lang="ko-KR" altLang="en-US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에서</a:t>
            </a:r>
            <a:r>
              <a:rPr lang="en-US" altLang="ko-KR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!”</a:t>
            </a:r>
          </a:p>
        </p:txBody>
      </p:sp>
    </p:spTree>
    <p:extLst>
      <p:ext uri="{BB962C8B-B14F-4D97-AF65-F5344CB8AC3E}">
        <p14:creationId xmlns:p14="http://schemas.microsoft.com/office/powerpoint/2010/main" val="231824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6A123-8B5F-CAF7-5A8D-82107CC3D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23C391A-F9EA-9DDE-A7C4-6777C5FFB881}"/>
              </a:ext>
            </a:extLst>
          </p:cNvPr>
          <p:cNvSpPr/>
          <p:nvPr/>
        </p:nvSpPr>
        <p:spPr>
          <a:xfrm>
            <a:off x="593149" y="800399"/>
            <a:ext cx="2571917" cy="5510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7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648ABFA5-B66E-F0EC-C902-433AD5ECAEBE}"/>
              </a:ext>
            </a:extLst>
          </p:cNvPr>
          <p:cNvSpPr/>
          <p:nvPr/>
        </p:nvSpPr>
        <p:spPr>
          <a:xfrm>
            <a:off x="3217421" y="800399"/>
            <a:ext cx="5368589" cy="55102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7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B85AED-3368-88D1-B8BB-12A94D6F08CD}"/>
              </a:ext>
            </a:extLst>
          </p:cNvPr>
          <p:cNvSpPr txBox="1"/>
          <p:nvPr/>
        </p:nvSpPr>
        <p:spPr>
          <a:xfrm>
            <a:off x="5193921" y="2506427"/>
            <a:ext cx="2855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야간 응급 유선 보고 후 사후 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[A]-[D] 1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줄 기록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634AE2B-F9BC-F3E9-22E2-B1377E2495F4}"/>
              </a:ext>
            </a:extLst>
          </p:cNvPr>
          <p:cNvSpPr/>
          <p:nvPr/>
        </p:nvSpPr>
        <p:spPr>
          <a:xfrm>
            <a:off x="5087533" y="2388092"/>
            <a:ext cx="3498477" cy="963668"/>
          </a:xfrm>
          <a:prstGeom prst="roundRect">
            <a:avLst>
              <a:gd name="adj" fmla="val 13824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0FF1BAC-4BDB-FD37-8021-5CE9779E8BB8}"/>
              </a:ext>
            </a:extLst>
          </p:cNvPr>
          <p:cNvSpPr/>
          <p:nvPr/>
        </p:nvSpPr>
        <p:spPr>
          <a:xfrm>
            <a:off x="3217421" y="2393402"/>
            <a:ext cx="1819110" cy="958357"/>
          </a:xfrm>
          <a:prstGeom prst="roundRect">
            <a:avLst>
              <a:gd name="adj" fmla="val 1309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FD4369-5EAD-5C5D-73C4-AD6AA1F543E0}"/>
              </a:ext>
            </a:extLst>
          </p:cNvPr>
          <p:cNvSpPr txBox="1"/>
          <p:nvPr/>
        </p:nvSpPr>
        <p:spPr>
          <a:xfrm>
            <a:off x="3354969" y="2653493"/>
            <a:ext cx="1544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[D-</a:t>
            </a:r>
            <a:r>
              <a:rPr lang="ko-KR" altLang="en-US" sz="2000" b="1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야간유선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D32E2A-8A40-BE61-2762-021C4B4FDC34}"/>
              </a:ext>
            </a:extLst>
          </p:cNvPr>
          <p:cNvSpPr txBox="1"/>
          <p:nvPr/>
        </p:nvSpPr>
        <p:spPr>
          <a:xfrm>
            <a:off x="302548" y="175069"/>
            <a:ext cx="3089475" cy="3116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1417" spc="-3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순천향대학교 천안병원 </a:t>
            </a:r>
            <a:r>
              <a:rPr lang="en-US" altLang="ko-KR" sz="1417" spc="-3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| </a:t>
            </a:r>
            <a:r>
              <a:rPr lang="ko-KR" altLang="en-US" sz="1417" spc="-3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진료지원간호팀 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FE0FED4-1113-B2EB-825C-FAF783BD47A3}"/>
              </a:ext>
            </a:extLst>
          </p:cNvPr>
          <p:cNvGrpSpPr/>
          <p:nvPr/>
        </p:nvGrpSpPr>
        <p:grpSpPr>
          <a:xfrm>
            <a:off x="594503" y="1391440"/>
            <a:ext cx="2595628" cy="2826036"/>
            <a:chOff x="592138" y="1592949"/>
            <a:chExt cx="2585305" cy="2814796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86D198F6-0DCB-F78B-2C1B-22CA81C0D223}"/>
                </a:ext>
              </a:extLst>
            </p:cNvPr>
            <p:cNvSpPr/>
            <p:nvPr/>
          </p:nvSpPr>
          <p:spPr>
            <a:xfrm>
              <a:off x="592138" y="1592949"/>
              <a:ext cx="2561688" cy="2814796"/>
            </a:xfrm>
            <a:prstGeom prst="roundRect">
              <a:avLst>
                <a:gd name="adj" fmla="val 5214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10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FAAB80F-D690-7B95-E546-AAA24D3B3348}"/>
                </a:ext>
              </a:extLst>
            </p:cNvPr>
            <p:cNvSpPr txBox="1"/>
            <p:nvPr/>
          </p:nvSpPr>
          <p:spPr>
            <a:xfrm>
              <a:off x="630047" y="1754858"/>
              <a:ext cx="2547396" cy="26161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[CHEMO]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항암 관리</a:t>
              </a: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[BLOOD]</a:t>
              </a:r>
              <a:r>
                <a:rPr lang="en-US" altLang="ko-KR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수혈 관리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[CVR]</a:t>
              </a:r>
              <a:r>
                <a:rPr lang="en-US" altLang="ko-KR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위험 수치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[LIFE]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존엄</a:t>
              </a:r>
              <a:r>
                <a:rPr lang="en-US" altLang="ko-KR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/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임종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[MEET]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보호자 면담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[MARROW]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골수 검사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[ISO]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격리 관리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[C-Status]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상태 악화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[PAIN]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통증 조절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606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[OUT] 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퇴원</a:t>
              </a:r>
              <a:r>
                <a:rPr lang="en-US" altLang="ko-KR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/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전과</a:t>
              </a:r>
              <a:r>
                <a:rPr lang="en-US" altLang="ko-KR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/</a:t>
              </a:r>
              <a:r>
                <a:rPr lang="ko-KR" altLang="en-US" sz="1606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사망</a:t>
              </a:r>
              <a:endParaRPr lang="en-US" altLang="ko-KR" sz="1606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64B3DFA-22B4-73BA-A5AD-21D83B83507E}"/>
              </a:ext>
            </a:extLst>
          </p:cNvPr>
          <p:cNvSpPr txBox="1"/>
          <p:nvPr/>
        </p:nvSpPr>
        <p:spPr>
          <a:xfrm>
            <a:off x="591795" y="875055"/>
            <a:ext cx="2574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하이패스 태그 </a:t>
            </a:r>
            <a:r>
              <a:rPr lang="en-US" altLang="ko-KR" sz="24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10</a:t>
            </a:r>
            <a:r>
              <a:rPr lang="ko-KR" altLang="en-US" sz="24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종</a:t>
            </a:r>
            <a:endParaRPr lang="en-US" altLang="ko-KR" sz="24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6066B-7E00-6978-5B37-3811364670A0}"/>
              </a:ext>
            </a:extLst>
          </p:cNvPr>
          <p:cNvSpPr txBox="1"/>
          <p:nvPr/>
        </p:nvSpPr>
        <p:spPr>
          <a:xfrm>
            <a:off x="5193921" y="1509776"/>
            <a:ext cx="2855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근무 교대 시 미완료 건에 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'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답장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'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으로 인계 기록</a:t>
            </a:r>
            <a:endParaRPr lang="en-US" altLang="ko-KR" sz="20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D929AB7-6770-3E74-53D7-2CB50979F96F}"/>
              </a:ext>
            </a:extLst>
          </p:cNvPr>
          <p:cNvSpPr/>
          <p:nvPr/>
        </p:nvSpPr>
        <p:spPr>
          <a:xfrm>
            <a:off x="5087533" y="1391440"/>
            <a:ext cx="3498477" cy="963668"/>
          </a:xfrm>
          <a:prstGeom prst="roundRect">
            <a:avLst>
              <a:gd name="adj" fmla="val 13824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7542B2E-5C05-46B6-9B9E-14A122ED54F4}"/>
              </a:ext>
            </a:extLst>
          </p:cNvPr>
          <p:cNvSpPr/>
          <p:nvPr/>
        </p:nvSpPr>
        <p:spPr>
          <a:xfrm>
            <a:off x="3217421" y="1396750"/>
            <a:ext cx="1819110" cy="958357"/>
          </a:xfrm>
          <a:prstGeom prst="roundRect">
            <a:avLst>
              <a:gd name="adj" fmla="val 1309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815E68-4542-9C1C-00A2-69876DCCF04F}"/>
              </a:ext>
            </a:extLst>
          </p:cNvPr>
          <p:cNvSpPr txBox="1"/>
          <p:nvPr/>
        </p:nvSpPr>
        <p:spPr>
          <a:xfrm>
            <a:off x="3501645" y="1656841"/>
            <a:ext cx="12506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[IN-OUT]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E29C3A7-2D4A-A945-2F68-FF5E1200997F}"/>
              </a:ext>
            </a:extLst>
          </p:cNvPr>
          <p:cNvSpPr/>
          <p:nvPr/>
        </p:nvSpPr>
        <p:spPr>
          <a:xfrm>
            <a:off x="4379873" y="853684"/>
            <a:ext cx="28632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나를 지키는 방어 기록</a:t>
            </a:r>
            <a:endParaRPr lang="en-US" altLang="ko-KR" sz="24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1F3FC8-25B0-DEF6-CFEC-1DDA78BE8A95}"/>
              </a:ext>
            </a:extLst>
          </p:cNvPr>
          <p:cNvSpPr txBox="1"/>
          <p:nvPr/>
        </p:nvSpPr>
        <p:spPr>
          <a:xfrm>
            <a:off x="5193921" y="3448274"/>
            <a:ext cx="34430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PA 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지연 사유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응급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수술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대기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</a:t>
            </a:r>
            <a:r>
              <a:rPr lang="ko-KR" altLang="en-US" sz="2000" b="1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컨펌</a:t>
            </a:r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</a:t>
            </a:r>
            <a:r>
              <a:rPr lang="ko-KR" altLang="en-US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명시</a:t>
            </a:r>
            <a:endParaRPr lang="en-US" altLang="ko-KR" sz="20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E23D2E0-5107-3F3F-6B08-95D877E5A602}"/>
              </a:ext>
            </a:extLst>
          </p:cNvPr>
          <p:cNvSpPr/>
          <p:nvPr/>
        </p:nvSpPr>
        <p:spPr>
          <a:xfrm>
            <a:off x="5087533" y="3379434"/>
            <a:ext cx="3498477" cy="832732"/>
          </a:xfrm>
          <a:prstGeom prst="roundRect">
            <a:avLst>
              <a:gd name="adj" fmla="val 13824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CFFCE44-9CE7-96DE-EBCD-84906D12D0CF}"/>
              </a:ext>
            </a:extLst>
          </p:cNvPr>
          <p:cNvSpPr/>
          <p:nvPr/>
        </p:nvSpPr>
        <p:spPr>
          <a:xfrm>
            <a:off x="3217421" y="3384744"/>
            <a:ext cx="1819110" cy="832732"/>
          </a:xfrm>
          <a:prstGeom prst="roundRect">
            <a:avLst>
              <a:gd name="adj" fmla="val 1309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4A1500-FE53-2048-8D2B-3968671C60BE}"/>
              </a:ext>
            </a:extLst>
          </p:cNvPr>
          <p:cNvSpPr txBox="1"/>
          <p:nvPr/>
        </p:nvSpPr>
        <p:spPr>
          <a:xfrm>
            <a:off x="3588368" y="3609035"/>
            <a:ext cx="1077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C-Code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8085D7-7B84-BF96-1630-B43E5B6A9982}"/>
              </a:ext>
            </a:extLst>
          </p:cNvPr>
          <p:cNvSpPr txBox="1"/>
          <p:nvPr/>
        </p:nvSpPr>
        <p:spPr>
          <a:xfrm>
            <a:off x="2192472" y="4289816"/>
            <a:ext cx="4772204" cy="465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“</a:t>
            </a:r>
            <a:r>
              <a:rPr lang="ko-KR" altLang="en-US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기록은 메신저에서</a:t>
            </a:r>
            <a:r>
              <a:rPr lang="en-US" altLang="ko-KR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정보는 </a:t>
            </a:r>
            <a:r>
              <a:rPr lang="en-US" altLang="ko-KR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QR</a:t>
            </a:r>
            <a:r>
              <a:rPr lang="ko-KR" altLang="en-US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에서</a:t>
            </a:r>
            <a:r>
              <a:rPr lang="en-US" altLang="ko-KR" sz="2410" b="1" dirty="0">
                <a:solidFill>
                  <a:srgbClr val="7030A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!”</a:t>
            </a:r>
          </a:p>
        </p:txBody>
      </p:sp>
    </p:spTree>
    <p:extLst>
      <p:ext uri="{BB962C8B-B14F-4D97-AF65-F5344CB8AC3E}">
        <p14:creationId xmlns:p14="http://schemas.microsoft.com/office/powerpoint/2010/main" val="896073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3440</TotalTime>
  <Words>720</Words>
  <Application>Microsoft Office PowerPoint</Application>
  <PresentationFormat>사용자 지정</PresentationFormat>
  <Paragraphs>120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KoPub돋움체 Bold</vt:lpstr>
      <vt:lpstr>KoPub돋움체 Light</vt:lpstr>
      <vt:lpstr>KoPub돋움체 Medium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라희 임</dc:creator>
  <cp:lastModifiedBy>성민 임</cp:lastModifiedBy>
  <cp:revision>2403</cp:revision>
  <cp:lastPrinted>2026-03-02T14:34:21Z</cp:lastPrinted>
  <dcterms:created xsi:type="dcterms:W3CDTF">2025-05-04T13:56:03Z</dcterms:created>
  <dcterms:modified xsi:type="dcterms:W3CDTF">2026-04-09T11:58:04Z</dcterms:modified>
</cp:coreProperties>
</file>