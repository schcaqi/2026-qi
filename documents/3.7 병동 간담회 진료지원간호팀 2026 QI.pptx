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69" r:id="rId3"/>
    <p:sldId id="310" r:id="rId4"/>
    <p:sldId id="312" r:id="rId5"/>
    <p:sldId id="313" r:id="rId6"/>
    <p:sldId id="302" r:id="rId7"/>
    <p:sldId id="287" r:id="rId8"/>
    <p:sldId id="304" r:id="rId9"/>
    <p:sldId id="305" r:id="rId10"/>
    <p:sldId id="306" r:id="rId11"/>
    <p:sldId id="307" r:id="rId12"/>
    <p:sldId id="315" r:id="rId13"/>
    <p:sldId id="297" r:id="rId14"/>
    <p:sldId id="298" r:id="rId15"/>
    <p:sldId id="308" r:id="rId16"/>
    <p:sldId id="309" r:id="rId17"/>
    <p:sldId id="314" r:id="rId18"/>
    <p:sldId id="288" r:id="rId19"/>
    <p:sldId id="316" r:id="rId20"/>
    <p:sldId id="289" r:id="rId21"/>
    <p:sldId id="311" r:id="rId22"/>
    <p:sldId id="29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서론" id="{F93E12DA-42D8-404A-84C2-3A0715DE0C7D}">
          <p14:sldIdLst>
            <p14:sldId id="256"/>
            <p14:sldId id="269"/>
            <p14:sldId id="310"/>
            <p14:sldId id="312"/>
            <p14:sldId id="313"/>
          </p14:sldIdLst>
        </p14:section>
        <p14:section name="협업도구" id="{8E448607-3618-4921-8806-CF3FB55F21F4}">
          <p14:sldIdLst>
            <p14:sldId id="302"/>
          </p14:sldIdLst>
        </p14:section>
        <p14:section name="메신저" id="{DB401F8B-F3C1-41CE-A364-B43C5F7E7F54}">
          <p14:sldIdLst>
            <p14:sldId id="287"/>
            <p14:sldId id="304"/>
            <p14:sldId id="305"/>
            <p14:sldId id="306"/>
            <p14:sldId id="307"/>
            <p14:sldId id="315"/>
          </p14:sldIdLst>
        </p14:section>
        <p14:section name="QR" id="{1DEE4342-AD08-44AD-822C-9AF878D8E4A3}">
          <p14:sldIdLst>
            <p14:sldId id="297"/>
          </p14:sldIdLst>
        </p14:section>
        <p14:section name="기타 업무지원 도구" id="{DC1B6667-BE4E-412E-98D2-D0F15D70E288}">
          <p14:sldIdLst>
            <p14:sldId id="298"/>
            <p14:sldId id="308"/>
            <p14:sldId id="309"/>
            <p14:sldId id="314"/>
          </p14:sldIdLst>
        </p14:section>
        <p14:section name="6. 실제 협업 사례" id="{4BAE83C5-117B-444E-9EF2-4B6475FC2633}">
          <p14:sldIdLst>
            <p14:sldId id="288"/>
            <p14:sldId id="316"/>
          </p14:sldIdLst>
        </p14:section>
        <p14:section name="마무리" id="{9C83DF44-326A-44FD-ADE4-BC55786084E6}">
          <p14:sldIdLst>
            <p14:sldId id="289"/>
            <p14:sldId id="311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2" pos="234" userDrawn="1">
          <p15:clr>
            <a:srgbClr val="A4A3A4"/>
          </p15:clr>
        </p15:guide>
        <p15:guide id="3" pos="7446" userDrawn="1">
          <p15:clr>
            <a:srgbClr val="A4A3A4"/>
          </p15:clr>
        </p15:guide>
        <p15:guide id="4" pos="529" userDrawn="1">
          <p15:clr>
            <a:srgbClr val="A4A3A4"/>
          </p15:clr>
        </p15:guide>
        <p15:guide id="7" pos="3840" userDrawn="1">
          <p15:clr>
            <a:srgbClr val="A4A3A4"/>
          </p15:clr>
        </p15:guide>
        <p15:guide id="9" pos="7151" userDrawn="1">
          <p15:clr>
            <a:srgbClr val="A4A3A4"/>
          </p15:clr>
        </p15:guide>
        <p15:guide id="10" orient="horz" pos="2160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  <p15:guide id="12" orient="horz" pos="867" userDrawn="1">
          <p15:clr>
            <a:srgbClr val="A4A3A4"/>
          </p15:clr>
        </p15:guide>
        <p15:guide id="13" orient="horz" pos="12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5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506" autoAdjust="0"/>
  </p:normalViewPr>
  <p:slideViewPr>
    <p:cSldViewPr snapToGrid="0">
      <p:cViewPr varScale="1">
        <p:scale>
          <a:sx n="90" d="100"/>
          <a:sy n="90" d="100"/>
        </p:scale>
        <p:origin x="486" y="78"/>
      </p:cViewPr>
      <p:guideLst>
        <p:guide pos="234"/>
        <p:guide pos="7446"/>
        <p:guide pos="529"/>
        <p:guide pos="3840"/>
        <p:guide pos="7151"/>
        <p:guide orient="horz" pos="2160"/>
        <p:guide orient="horz" pos="3952"/>
        <p:guide orient="horz" pos="867"/>
        <p:guide orient="horz" pos="120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2001C-857C-44DF-8FE3-7E7EA72EA642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A9A12-E110-4E26-8834-B65FA9FF0C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38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4A9A12-E110-4E26-8834-B65FA9FF0C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4928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23" indent="0" algn="ctr">
              <a:buNone/>
              <a:defRPr sz="2000"/>
            </a:lvl2pPr>
            <a:lvl3pPr marL="914446" indent="0" algn="ctr">
              <a:buNone/>
              <a:defRPr sz="1800"/>
            </a:lvl3pPr>
            <a:lvl4pPr marL="1371669" indent="0" algn="ctr">
              <a:buNone/>
              <a:defRPr sz="1600"/>
            </a:lvl4pPr>
            <a:lvl5pPr marL="1828891" indent="0" algn="ctr">
              <a:buNone/>
              <a:defRPr sz="1600"/>
            </a:lvl5pPr>
            <a:lvl6pPr marL="2286114" indent="0" algn="ctr">
              <a:buNone/>
              <a:defRPr sz="1600"/>
            </a:lvl6pPr>
            <a:lvl7pPr marL="2743337" indent="0" algn="ctr">
              <a:buNone/>
              <a:defRPr sz="1600"/>
            </a:lvl7pPr>
            <a:lvl8pPr marL="3200560" indent="0" algn="ctr">
              <a:buNone/>
              <a:defRPr sz="1600"/>
            </a:lvl8pPr>
            <a:lvl9pPr marL="3657783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763B2B-AF03-07AD-EE0A-B42A3C6B7980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2539239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46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3667" kern="1200" baseline="0" dirty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73A9FFC-5E32-F50E-16FF-71E12955C696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_x189390376" descr="EMB000038242a1a">
            <a:extLst>
              <a:ext uri="{FF2B5EF4-FFF2-40B4-BE49-F238E27FC236}">
                <a16:creationId xmlns:a16="http://schemas.microsoft.com/office/drawing/2014/main" id="{3B75B0BB-08A8-4824-8F99-4276338C56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5C1B334-1EF5-DB6E-79C6-F0904302352B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68252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67" baseline="0">
                <a:solidFill>
                  <a:srgbClr val="091C78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55E2E-83CD-4389-B2E3-FB6950584B2A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518D108-BBB9-0418-457E-A2BC08201BD7}"/>
              </a:ext>
            </a:extLst>
          </p:cNvPr>
          <p:cNvCxnSpPr/>
          <p:nvPr userDrawn="1"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162BFC0-2B93-4ACD-6516-DF91A308E5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1" y="292069"/>
            <a:ext cx="1252699" cy="74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B1A33-C984-3543-525C-D33AE1A27553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4120379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5239836" y="2955379"/>
            <a:ext cx="2004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Q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4400" b="0" dirty="0">
                <a:solidFill>
                  <a:srgbClr val="24549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&amp;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sz="60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A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1A77E5-BC2C-5174-FE30-64288EF652B5}"/>
              </a:ext>
            </a:extLst>
          </p:cNvPr>
          <p:cNvSpPr txBox="1"/>
          <p:nvPr userDrawn="1"/>
        </p:nvSpPr>
        <p:spPr>
          <a:xfrm flipH="1">
            <a:off x="10010507" y="6308208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</p:spTree>
    <p:extLst>
      <p:ext uri="{BB962C8B-B14F-4D97-AF65-F5344CB8AC3E}">
        <p14:creationId xmlns:p14="http://schemas.microsoft.com/office/powerpoint/2010/main" val="1576951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_x189390376" descr="EMB000038242a1a">
            <a:extLst>
              <a:ext uri="{FF2B5EF4-FFF2-40B4-BE49-F238E27FC236}">
                <a16:creationId xmlns:a16="http://schemas.microsoft.com/office/drawing/2014/main" id="{2388D911-2050-41D3-35D1-D680581078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204" y="2856850"/>
            <a:ext cx="1912990" cy="1144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B0AADCA-E65D-9A8A-E9E6-C0B34E39F5C3}"/>
              </a:ext>
            </a:extLst>
          </p:cNvPr>
          <p:cNvSpPr txBox="1"/>
          <p:nvPr userDrawn="1"/>
        </p:nvSpPr>
        <p:spPr>
          <a:xfrm>
            <a:off x="6165299" y="2955379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감사합니다</a:t>
            </a:r>
            <a:r>
              <a:rPr lang="en-US" altLang="ko-KR" sz="4400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endParaRPr lang="ko-KR" altLang="en-US" sz="4400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2F4C66-AEE7-4773-FBFC-D3B3A41A27E7}"/>
              </a:ext>
            </a:extLst>
          </p:cNvPr>
          <p:cNvSpPr txBox="1"/>
          <p:nvPr userDrawn="1"/>
        </p:nvSpPr>
        <p:spPr>
          <a:xfrm flipH="1">
            <a:off x="6568807" y="3724820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24549C"/>
                </a:solidFill>
              </a:rPr>
              <a:t>진료지원간호팀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9EEB4C2-158E-04B1-36F8-7F9B0E2539F0}"/>
              </a:ext>
            </a:extLst>
          </p:cNvPr>
          <p:cNvCxnSpPr>
            <a:cxnSpLocks/>
          </p:cNvCxnSpPr>
          <p:nvPr userDrawn="1"/>
        </p:nvCxnSpPr>
        <p:spPr>
          <a:xfrm>
            <a:off x="6210300" y="3724820"/>
            <a:ext cx="2616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758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778000" y="365126"/>
            <a:ext cx="9575800" cy="7820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55E2E-83CD-4389-B2E3-FB6950584B2A}" type="datetimeFigureOut">
              <a:rPr lang="ko-KR" altLang="en-US" smtClean="0"/>
              <a:t>2026-03-08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223E0D-8027-4312-A40C-E315FC59675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1AF2F3-873C-4833-A021-6053E3D69AA7}"/>
              </a:ext>
            </a:extLst>
          </p:cNvPr>
          <p:cNvSpPr/>
          <p:nvPr userDrawn="1"/>
        </p:nvSpPr>
        <p:spPr>
          <a:xfrm>
            <a:off x="0" y="-25400"/>
            <a:ext cx="12192000" cy="211667"/>
          </a:xfrm>
          <a:prstGeom prst="rect">
            <a:avLst/>
          </a:prstGeom>
          <a:solidFill>
            <a:srgbClr val="2454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46029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6" r:id="rId3"/>
    <p:sldLayoutId id="2147483668" r:id="rId4"/>
    <p:sldLayoutId id="2147483667" r:id="rId5"/>
  </p:sldLayoutIdLst>
  <p:txStyles>
    <p:titleStyle>
      <a:lvl1pPr algn="l" defTabSz="91444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91444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3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57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80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503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6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9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1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4" indent="-228611" algn="l" defTabSz="91444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6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9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1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4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7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240">
          <p15:clr>
            <a:srgbClr val="F26B43"/>
          </p15:clr>
        </p15:guide>
        <p15:guide id="2" pos="57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AD07D6-7EED-E5FD-9A0C-A37F9EB366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5840" y="1122363"/>
            <a:ext cx="10180320" cy="2387600"/>
          </a:xfrm>
        </p:spPr>
        <p:txBody>
          <a:bodyPr/>
          <a:lstStyle/>
          <a:p>
            <a:r>
              <a:rPr lang="en-US" altLang="ko-KR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[2026 QI] </a:t>
            </a:r>
            <a:r>
              <a:rPr lang="en-US" altLang="ko-KR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WeValue</a:t>
            </a:r>
            <a:r>
              <a:rPr lang="ko-KR" altLang="en-US" b="1" dirty="0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ko-KR" altLang="en-US" b="1" dirty="0" err="1">
                <a:solidFill>
                  <a:srgbClr val="24549C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우리가치</a:t>
            </a:r>
            <a:endParaRPr lang="ko-KR" altLang="en-US" b="1" dirty="0">
              <a:solidFill>
                <a:srgbClr val="24549C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DA704A-5687-F92C-E2BA-36DBE27870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959329"/>
          </a:xfrm>
        </p:spPr>
        <p:txBody>
          <a:bodyPr/>
          <a:lstStyle/>
          <a:p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이보다 더 좋을 순 없다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!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협업기반 간호 현장</a:t>
            </a:r>
            <a:endParaRPr lang="en-US" altLang="ko-KR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ko-KR" altLang="en-US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시스템 간담회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34ADC97-FBE3-B49F-2F37-CB487B0CFABF}"/>
              </a:ext>
            </a:extLst>
          </p:cNvPr>
          <p:cNvCxnSpPr/>
          <p:nvPr/>
        </p:nvCxnSpPr>
        <p:spPr>
          <a:xfrm>
            <a:off x="1384300" y="3500438"/>
            <a:ext cx="94615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97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7553C289-4693-A1E1-ACA9-3EFD52D20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F98D6-0ABC-F63F-EE74-930F57BEDD20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78000" y="1406131"/>
            <a:ext cx="8470900" cy="4981966"/>
          </a:xfrm>
        </p:spPr>
        <p:txBody>
          <a:bodyPr wrap="none">
            <a:normAutofit/>
          </a:bodyPr>
          <a:lstStyle/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프로젝트 필요성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문제 분석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핵심지표 및 목표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도구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기타 업무지원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실제 협업 사례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변화 및 기대 효과</a:t>
            </a:r>
          </a:p>
          <a:p>
            <a:pPr marL="514350" indent="-514350">
              <a:lnSpc>
                <a:spcPct val="150000"/>
              </a:lnSpc>
              <a:buClr>
                <a:srgbClr val="0070C0"/>
              </a:buClr>
              <a:buFont typeface="+mj-lt"/>
              <a:buAutoNum type="arabicPeriod"/>
            </a:pPr>
            <a:r>
              <a:rPr lang="en-US" altLang="ko-KR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FAQ</a:t>
            </a:r>
            <a:endParaRPr lang="ko-KR" altLang="en-US" sz="20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6926918-9A45-1CC6-3FE4-C26ABF297F02}"/>
              </a:ext>
            </a:extLst>
          </p:cNvPr>
          <p:cNvCxnSpPr/>
          <p:nvPr/>
        </p:nvCxnSpPr>
        <p:spPr>
          <a:xfrm>
            <a:off x="1778000" y="1147203"/>
            <a:ext cx="991325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116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51D1B-0DB5-A282-D99E-57AC7CC3D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프로젝트 필요성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44747B-0715-334D-0F5E-269400C8CA05}"/>
              </a:ext>
            </a:extLst>
          </p:cNvPr>
          <p:cNvSpPr txBox="1"/>
          <p:nvPr/>
        </p:nvSpPr>
        <p:spPr>
          <a:xfrm>
            <a:off x="839787" y="1394124"/>
            <a:ext cx="10512426" cy="4423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fontAlgn="base" latinLnBrk="1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PA(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진료지원간호사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)–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 간호사간의 소통 체계를 ‘하나의 기준’ 으로 정리하여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누구든 같은 방식으로 소통하고 움직일 수 있도록 합니다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fontAlgn="base" latinLnBrk="1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24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시 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업무의 처리 </a:t>
            </a:r>
            <a:r>
              <a:rPr lang="ko-KR" altLang="en-US" sz="24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상황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과 소요 시간 예측이 가능하도록 간호 환경을 개선합니다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br>
              <a:rPr lang="en-US" altLang="ko-KR" sz="24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en-US" altLang="ko-KR" sz="24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“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우리는 서로의 노력이 맞물릴 때 가장 안전한 진료 환경을 완성합니다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.”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fontAlgn="base" latinLnBrk="1">
              <a:lnSpc>
                <a:spcPct val="2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소통 협업 만족도 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점 이상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/PA) 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달성을 목표로 하며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‘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업무를 더 하는’ 이 아니고 서로의 시간을 </a:t>
            </a:r>
            <a:r>
              <a:rPr lang="ko-KR" altLang="en-US" sz="2400" kern="0" dirty="0">
                <a:solidFill>
                  <a:srgbClr val="000000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지키면서</a:t>
            </a:r>
            <a:r>
              <a:rPr lang="ko-KR" altLang="en-US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견해차를 좁혀 나가는 협업 장치를 만드는 활동입니다</a:t>
            </a:r>
            <a:r>
              <a:rPr lang="en-US" altLang="ko-KR" sz="2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2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13013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BD699-8AA1-EC47-6DC6-879B432C6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문제 분석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8C8F6F-003A-38D0-FA39-42332175C953}"/>
              </a:ext>
            </a:extLst>
          </p:cNvPr>
          <p:cNvSpPr txBox="1"/>
          <p:nvPr/>
        </p:nvSpPr>
        <p:spPr>
          <a:xfrm>
            <a:off x="839787" y="1376363"/>
            <a:ext cx="10420091" cy="5023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제도적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시스템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측면</a:t>
            </a:r>
            <a:endParaRPr lang="ko-KR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요청 방식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해석의 차이로 혼선 발생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완료 여부가 보이지 않아 재확인이 늘어남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환경적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측면</a:t>
            </a:r>
            <a:endParaRPr lang="ko-KR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채널이 분산되어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전화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문자 등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정보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자료 찾기 시간이 늘어남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교대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업무시간 차이로 공백이 생김</a:t>
            </a: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조직문화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인식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en-US" altLang="ko-KR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측면</a:t>
            </a:r>
            <a:endParaRPr lang="ko-KR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서로의 업무 상황을 체감하기 어려워 오해가 생김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ko-KR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협업의 경험이 일관되지 않아 만족도가 흔들림</a:t>
            </a:r>
            <a:endParaRPr lang="ko-KR" altLang="en-US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8345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F3DF9C-2068-64C9-2DC8-15CE2894F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핵심지표 및 목표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46976-A943-2919-7051-473CEFEFB6D0}"/>
              </a:ext>
            </a:extLst>
          </p:cNvPr>
          <p:cNvSpPr txBox="1"/>
          <p:nvPr/>
        </p:nvSpPr>
        <p:spPr>
          <a:xfrm>
            <a:off x="839787" y="1376363"/>
            <a:ext cx="10420091" cy="3361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핵심 목표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병동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/PA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소통 만족도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80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점 이상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endParaRPr lang="ko-KR" altLang="en-US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indent="-3429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보조 지표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[D]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완료 </a:t>
            </a:r>
            <a:r>
              <a:rPr lang="ko-KR" altLang="en-US" sz="2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기록률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(95%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이상 목표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):</a:t>
            </a:r>
          </a:p>
          <a:p>
            <a:pPr lvl="1">
              <a:lnSpc>
                <a:spcPct val="150000"/>
              </a:lnSpc>
              <a:buClr>
                <a:srgbClr val="0070C0"/>
              </a:buClr>
            </a:pP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10·4·12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시간 기준 </a:t>
            </a:r>
            <a:r>
              <a:rPr lang="ko-KR" altLang="en-US" sz="2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준수율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(90%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이상 목표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63158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763ED-CD4D-A40F-1D4A-AFE32F145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F45BE54-394A-335D-EEB8-E03B6837772D}"/>
              </a:ext>
            </a:extLst>
          </p:cNvPr>
          <p:cNvSpPr/>
          <p:nvPr/>
        </p:nvSpPr>
        <p:spPr>
          <a:xfrm>
            <a:off x="2694714" y="2546357"/>
            <a:ext cx="3116149" cy="312572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94A3B8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rgbClr val="002060"/>
                </a:solidFill>
              </a:rPr>
              <a:t>협업 메신저 대화방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C634575-D09F-7E0F-0502-2086C1DA5163}"/>
              </a:ext>
            </a:extLst>
          </p:cNvPr>
          <p:cNvSpPr/>
          <p:nvPr/>
        </p:nvSpPr>
        <p:spPr>
          <a:xfrm>
            <a:off x="6392851" y="2546357"/>
            <a:ext cx="3116149" cy="3125720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94A3B8"/>
            </a:solidFill>
            <a:prstDash val="solid"/>
          </a:ln>
        </p:spPr>
        <p:txBody>
          <a:bodyPr rtlCol="0" anchor="ctr"/>
          <a:lstStyle/>
          <a:p>
            <a:pPr algn="ctr"/>
            <a:r>
              <a:rPr lang="en-US" altLang="ko-KR" sz="2800" b="1">
                <a:solidFill>
                  <a:srgbClr val="002060"/>
                </a:solidFill>
              </a:rPr>
              <a:t>QR</a:t>
            </a:r>
            <a:r>
              <a:rPr lang="en-US" altLang="ko-KR" sz="2800" b="1" dirty="0">
                <a:solidFill>
                  <a:srgbClr val="002060"/>
                </a:solidFill>
              </a:rPr>
              <a:t> </a:t>
            </a:r>
            <a:r>
              <a:rPr lang="ko-KR" altLang="en-US" sz="2800" b="1" dirty="0">
                <a:solidFill>
                  <a:srgbClr val="002060"/>
                </a:solidFill>
              </a:rPr>
              <a:t>안내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E19A9C0-51AB-9303-A09B-297E819556FE}"/>
              </a:ext>
            </a:extLst>
          </p:cNvPr>
          <p:cNvSpPr txBox="1">
            <a:spLocks/>
          </p:cNvSpPr>
          <p:nvPr/>
        </p:nvSpPr>
        <p:spPr>
          <a:xfrm>
            <a:off x="990600" y="1567497"/>
            <a:ext cx="10515600" cy="501016"/>
          </a:xfrm>
          <a:prstGeom prst="rect">
            <a:avLst/>
          </a:prstGeom>
        </p:spPr>
        <p:txBody>
          <a:bodyPr/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v"/>
            </a:pPr>
            <a:r>
              <a:rPr lang="ko-KR" altLang="en-US" dirty="0"/>
              <a:t> 통합 환경 제시 두 가지</a:t>
            </a:r>
          </a:p>
        </p:txBody>
      </p:sp>
    </p:spTree>
    <p:extLst>
      <p:ext uri="{BB962C8B-B14F-4D97-AF65-F5344CB8AC3E}">
        <p14:creationId xmlns:p14="http://schemas.microsoft.com/office/powerpoint/2010/main" val="232477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C998D-1486-8B28-23B3-2024AEF8B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 </a:t>
            </a:r>
            <a:r>
              <a:rPr lang="en-US" altLang="ko-KR" dirty="0"/>
              <a:t>( </a:t>
            </a:r>
            <a:r>
              <a:rPr lang="ko-KR" altLang="en-US" dirty="0" err="1"/>
              <a:t>협업메신저</a:t>
            </a:r>
            <a:r>
              <a:rPr lang="ko-KR" altLang="en-US" dirty="0"/>
              <a:t> 대화방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75F63-B850-6BC3-2484-79746B792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5097"/>
            <a:ext cx="10515600" cy="501016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메신저 대화방 상시 운영</a:t>
            </a: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13094C2-26C0-080C-5E7B-3E836B85D22E}"/>
              </a:ext>
            </a:extLst>
          </p:cNvPr>
          <p:cNvSpPr/>
          <p:nvPr/>
        </p:nvSpPr>
        <p:spPr>
          <a:xfrm>
            <a:off x="822960" y="2425383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288A0F9-A653-1902-507F-76DEF1741D4C}"/>
              </a:ext>
            </a:extLst>
          </p:cNvPr>
          <p:cNvSpPr/>
          <p:nvPr/>
        </p:nvSpPr>
        <p:spPr>
          <a:xfrm>
            <a:off x="1051560" y="2653983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92W–MC</a:t>
            </a:r>
            <a:endParaRPr lang="en-US"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1CDAA3-6C60-D568-ED05-C15104E1F4BD}"/>
              </a:ext>
            </a:extLst>
          </p:cNvPr>
          <p:cNvSpPr/>
          <p:nvPr/>
        </p:nvSpPr>
        <p:spPr>
          <a:xfrm>
            <a:off x="1051560" y="3156903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82233E3-B035-CC1D-D180-0553AE77EEAD}"/>
              </a:ext>
            </a:extLst>
          </p:cNvPr>
          <p:cNvSpPr/>
          <p:nvPr/>
        </p:nvSpPr>
        <p:spPr>
          <a:xfrm>
            <a:off x="4419600" y="2425383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2EF7BCE-BB42-F718-F756-25AB966AC8FE}"/>
              </a:ext>
            </a:extLst>
          </p:cNvPr>
          <p:cNvSpPr/>
          <p:nvPr/>
        </p:nvSpPr>
        <p:spPr>
          <a:xfrm>
            <a:off x="4648200" y="2653983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92W–CS</a:t>
            </a:r>
            <a:endParaRPr lang="en-US" sz="20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00058B-5F8E-0FB0-0C36-A350FF3DB63F}"/>
              </a:ext>
            </a:extLst>
          </p:cNvPr>
          <p:cNvSpPr/>
          <p:nvPr/>
        </p:nvSpPr>
        <p:spPr>
          <a:xfrm>
            <a:off x="4648200" y="3156903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D7C19B30-DCFB-4D64-E5C4-E0C71EEE25B0}"/>
              </a:ext>
            </a:extLst>
          </p:cNvPr>
          <p:cNvSpPr/>
          <p:nvPr/>
        </p:nvSpPr>
        <p:spPr>
          <a:xfrm>
            <a:off x="8016240" y="2425383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38009EC-AEEF-BB93-9E4B-C3B83518B5EF}"/>
              </a:ext>
            </a:extLst>
          </p:cNvPr>
          <p:cNvSpPr/>
          <p:nvPr/>
        </p:nvSpPr>
        <p:spPr>
          <a:xfrm>
            <a:off x="8244840" y="2653983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131W–URO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02E57CE-6A03-E398-6CDF-3380632DC824}"/>
              </a:ext>
            </a:extLst>
          </p:cNvPr>
          <p:cNvSpPr/>
          <p:nvPr/>
        </p:nvSpPr>
        <p:spPr>
          <a:xfrm>
            <a:off x="8244840" y="3156903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50D6BB63-8D20-B66F-BFF9-84A75D47ABCF}"/>
              </a:ext>
            </a:extLst>
          </p:cNvPr>
          <p:cNvSpPr/>
          <p:nvPr/>
        </p:nvSpPr>
        <p:spPr>
          <a:xfrm>
            <a:off x="822960" y="4162743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427E68C-9E04-8C05-A244-E5935CA9957D}"/>
              </a:ext>
            </a:extLst>
          </p:cNvPr>
          <p:cNvSpPr/>
          <p:nvPr/>
        </p:nvSpPr>
        <p:spPr>
          <a:xfrm>
            <a:off x="1051560" y="4391343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131W–ENT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45CE79B-1ADA-D905-B2AD-A7ED8BE94018}"/>
              </a:ext>
            </a:extLst>
          </p:cNvPr>
          <p:cNvSpPr/>
          <p:nvPr/>
        </p:nvSpPr>
        <p:spPr>
          <a:xfrm>
            <a:off x="1051560" y="4894263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A·C·D + 10·4·12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44A7A95-BB1E-AF8A-C1E6-FC6D7B265C14}"/>
              </a:ext>
            </a:extLst>
          </p:cNvPr>
          <p:cNvSpPr/>
          <p:nvPr/>
        </p:nvSpPr>
        <p:spPr>
          <a:xfrm>
            <a:off x="4419600" y="4162743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3883A58-310C-DB14-8394-DCADA3C0D454}"/>
              </a:ext>
            </a:extLst>
          </p:cNvPr>
          <p:cNvSpPr/>
          <p:nvPr/>
        </p:nvSpPr>
        <p:spPr>
          <a:xfrm>
            <a:off x="4648200" y="4391343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141W–MH</a:t>
            </a:r>
            <a:endParaRPr lang="en-US" sz="20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8F1AF0B-7847-E2B3-AE0D-2B9F80116F7F}"/>
              </a:ext>
            </a:extLst>
          </p:cNvPr>
          <p:cNvSpPr/>
          <p:nvPr/>
        </p:nvSpPr>
        <p:spPr>
          <a:xfrm>
            <a:off x="4648200" y="4894263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</a:t>
            </a:r>
            <a:r>
              <a:rPr lang="en-US" sz="1400" b="1" dirty="0">
                <a:solidFill>
                  <a:srgbClr val="475569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400" b="1" dirty="0">
                <a:solidFill>
                  <a:srgbClr val="475569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r>
              <a:rPr lang="en-US" altLang="ko-KR" sz="1400" b="1" dirty="0">
                <a:solidFill>
                  <a:srgbClr val="475569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en-US" altLang="ko-KR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A·C·D + 10·4·12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8955DB2-C12C-5FB4-163C-403266635D34}"/>
              </a:ext>
            </a:extLst>
          </p:cNvPr>
          <p:cNvSpPr/>
          <p:nvPr/>
        </p:nvSpPr>
        <p:spPr>
          <a:xfrm>
            <a:off x="8016240" y="4162743"/>
            <a:ext cx="338328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2B73F94-AFC5-E681-0BA5-E29A25F5F748}"/>
              </a:ext>
            </a:extLst>
          </p:cNvPr>
          <p:cNvSpPr/>
          <p:nvPr/>
        </p:nvSpPr>
        <p:spPr>
          <a:xfrm>
            <a:off x="8244840" y="4391343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142W–MH</a:t>
            </a:r>
            <a:endParaRPr lang="en-US" sz="20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C3F7ED4-C74A-9D48-FD82-2BAD7716F1BF}"/>
              </a:ext>
            </a:extLst>
          </p:cNvPr>
          <p:cNvSpPr/>
          <p:nvPr/>
        </p:nvSpPr>
        <p:spPr>
          <a:xfrm>
            <a:off x="8244840" y="4894263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</a:t>
            </a:r>
            <a:r>
              <a:rPr lang="en-US" sz="1400" b="1" dirty="0">
                <a:solidFill>
                  <a:srgbClr val="475569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</a:t>
            </a:r>
            <a:r>
              <a:rPr lang="ko-KR" altLang="en-US" sz="1400" b="1" dirty="0">
                <a:solidFill>
                  <a:srgbClr val="475569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태그</a:t>
            </a:r>
            <a:r>
              <a:rPr lang="en-US" sz="1400" b="1" dirty="0">
                <a:solidFill>
                  <a:srgbClr val="475569"/>
                </a:solidFill>
                <a:highlight>
                  <a:srgbClr val="FFFF0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]</a:t>
            </a:r>
            <a:r>
              <a:rPr lang="en-US" sz="1400" b="1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47556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A·C·D + 10·4·12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491319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4BBBF-D232-2948-7233-E0CB3819C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 </a:t>
            </a:r>
            <a:r>
              <a:rPr lang="en-US" altLang="ko-KR" dirty="0"/>
              <a:t>( </a:t>
            </a:r>
            <a:r>
              <a:rPr lang="ko-KR" altLang="en-US" dirty="0" err="1"/>
              <a:t>협업메신저</a:t>
            </a:r>
            <a:r>
              <a:rPr lang="ko-KR" altLang="en-US" dirty="0"/>
              <a:t> 대화방 </a:t>
            </a:r>
            <a:r>
              <a:rPr lang="en-US" altLang="ko-KR" dirty="0"/>
              <a:t>)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5573745-79D2-9F03-42D1-306554C05DB7}"/>
              </a:ext>
            </a:extLst>
          </p:cNvPr>
          <p:cNvSpPr txBox="1">
            <a:spLocks/>
          </p:cNvSpPr>
          <p:nvPr/>
        </p:nvSpPr>
        <p:spPr>
          <a:xfrm>
            <a:off x="838200" y="2053273"/>
            <a:ext cx="10039350" cy="422245"/>
          </a:xfrm>
          <a:prstGeom prst="rect">
            <a:avLst/>
          </a:prstGeom>
        </p:spPr>
        <p:txBody>
          <a:bodyPr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80"/>
              </a:spcAft>
              <a:buSzPct val="100000"/>
              <a:buFont typeface="Arial" panose="020B0604020202020204" pitchFamily="34" charset="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10·4·12 (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골든타임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보고 체계 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AF34CE4-4BB6-63F7-9F34-EF41FEAC8224}"/>
              </a:ext>
            </a:extLst>
          </p:cNvPr>
          <p:cNvSpPr/>
          <p:nvPr/>
        </p:nvSpPr>
        <p:spPr>
          <a:xfrm>
            <a:off x="822960" y="2488302"/>
            <a:ext cx="10607040" cy="24723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0738DA-73A7-4471-D9EC-004C6F9845F2}"/>
              </a:ext>
            </a:extLst>
          </p:cNvPr>
          <p:cNvSpPr/>
          <p:nvPr/>
        </p:nvSpPr>
        <p:spPr>
          <a:xfrm>
            <a:off x="1097280" y="2697206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262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10</a:t>
            </a:r>
            <a:endParaRPr lang="en-US" sz="2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E62940-EB71-6D88-A2B0-F1AE1DB98752}"/>
              </a:ext>
            </a:extLst>
          </p:cNvPr>
          <p:cNvSpPr/>
          <p:nvPr/>
        </p:nvSpPr>
        <p:spPr>
          <a:xfrm>
            <a:off x="2103120" y="274292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응급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0DC1BF-E2AE-6CE9-58E4-5862C2994458}"/>
              </a:ext>
            </a:extLst>
          </p:cNvPr>
          <p:cNvSpPr/>
          <p:nvPr/>
        </p:nvSpPr>
        <p:spPr>
          <a:xfrm>
            <a:off x="3108960" y="2605766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환자 안전/</a:t>
            </a:r>
            <a:r>
              <a:rPr lang="en-US" sz="2000" dirty="0" err="1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상태</a:t>
            </a: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급변</a:t>
            </a: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→ 유선 우선 + 사후 1줄 기록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4D5061FE-ADD2-6642-0F4E-BDC4E416F4AC}"/>
              </a:ext>
            </a:extLst>
          </p:cNvPr>
          <p:cNvSpPr/>
          <p:nvPr/>
        </p:nvSpPr>
        <p:spPr>
          <a:xfrm>
            <a:off x="1005840" y="3384840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BED0270-E141-6F9A-0A89-320F9E09F303}"/>
              </a:ext>
            </a:extLst>
          </p:cNvPr>
          <p:cNvSpPr/>
          <p:nvPr/>
        </p:nvSpPr>
        <p:spPr>
          <a:xfrm>
            <a:off x="1097280" y="347947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A580C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4</a:t>
            </a:r>
            <a:endParaRPr lang="en-US" sz="2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3F0B800-A6B4-040A-BA2A-EF3574F8F2D7}"/>
              </a:ext>
            </a:extLst>
          </p:cNvPr>
          <p:cNvSpPr/>
          <p:nvPr/>
        </p:nvSpPr>
        <p:spPr>
          <a:xfrm>
            <a:off x="2103120" y="352519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우선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E9BD6EC-7EB7-8AD2-9F8B-DF333A79C9F9}"/>
              </a:ext>
            </a:extLst>
          </p:cNvPr>
          <p:cNvSpPr/>
          <p:nvPr/>
        </p:nvSpPr>
        <p:spPr>
          <a:xfrm>
            <a:off x="3108960" y="338803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당일 내 방향/</a:t>
            </a:r>
            <a:r>
              <a:rPr lang="en-US" sz="2000" dirty="0" err="1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처리</a:t>
            </a: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필요</a:t>
            </a: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→ 4시간 내 진행이 보이게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BFF6844-64EC-55E2-7F86-B82EB210F300}"/>
              </a:ext>
            </a:extLst>
          </p:cNvPr>
          <p:cNvSpPr/>
          <p:nvPr/>
        </p:nvSpPr>
        <p:spPr>
          <a:xfrm>
            <a:off x="1005840" y="4371301"/>
            <a:ext cx="10241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1DB55A-5D0F-EE55-8868-AA36204FAFFE}"/>
              </a:ext>
            </a:extLst>
          </p:cNvPr>
          <p:cNvSpPr/>
          <p:nvPr/>
        </p:nvSpPr>
        <p:spPr>
          <a:xfrm>
            <a:off x="1097280" y="4238111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12</a:t>
            </a:r>
            <a:endParaRPr lang="en-US" sz="2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3C0A31D-F7A3-BD0F-1162-D9334244505A}"/>
              </a:ext>
            </a:extLst>
          </p:cNvPr>
          <p:cNvSpPr/>
          <p:nvPr/>
        </p:nvSpPr>
        <p:spPr>
          <a:xfrm>
            <a:off x="2103120" y="4283831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루틴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9224020-64DC-B599-EA5D-6A4166B64CD9}"/>
              </a:ext>
            </a:extLst>
          </p:cNvPr>
          <p:cNvSpPr/>
          <p:nvPr/>
        </p:nvSpPr>
        <p:spPr>
          <a:xfrm>
            <a:off x="3108960" y="4146671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근무시간 내 </a:t>
            </a:r>
            <a:r>
              <a:rPr lang="en-US" sz="2000" dirty="0" err="1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순차</a:t>
            </a: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en-US" sz="2000" dirty="0" err="1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처리</a:t>
            </a:r>
            <a:r>
              <a:rPr lang="en-US" sz="20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→ 12시간 내 완료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08C2B9C-527E-A624-872E-EC92270DF4DF}"/>
              </a:ext>
            </a:extLst>
          </p:cNvPr>
          <p:cNvSpPr/>
          <p:nvPr/>
        </p:nvSpPr>
        <p:spPr>
          <a:xfrm>
            <a:off x="822960" y="5143500"/>
            <a:ext cx="10607040" cy="914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9B97541-0E68-C990-F997-C0F73FD0E07E}"/>
              </a:ext>
            </a:extLst>
          </p:cNvPr>
          <p:cNvSpPr/>
          <p:nvPr/>
        </p:nvSpPr>
        <p:spPr>
          <a:xfrm>
            <a:off x="1051560" y="528066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3A8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10은 “전화 먼저” (현행 프로토콜 유지)</a:t>
            </a:r>
            <a:endParaRPr 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indent="0">
              <a:buNone/>
            </a:pPr>
            <a:r>
              <a:rPr lang="en-US" dirty="0">
                <a:solidFill>
                  <a:srgbClr val="1E3A8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전화 후에도 협업방에 A 또는 D로 1줄 남깁니다.</a:t>
            </a:r>
            <a:endParaRPr 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5CFA1601-1FE2-2042-0AD8-DB082CC58D53}"/>
              </a:ext>
            </a:extLst>
          </p:cNvPr>
          <p:cNvSpPr txBox="1">
            <a:spLocks/>
          </p:cNvSpPr>
          <p:nvPr/>
        </p:nvSpPr>
        <p:spPr>
          <a:xfrm>
            <a:off x="838200" y="1415097"/>
            <a:ext cx="10515600" cy="501016"/>
          </a:xfrm>
          <a:prstGeom prst="rect">
            <a:avLst/>
          </a:prstGeom>
        </p:spPr>
        <p:txBody>
          <a:bodyPr/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공통언어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(A-C-D)</a:t>
            </a:r>
          </a:p>
        </p:txBody>
      </p:sp>
    </p:spTree>
    <p:extLst>
      <p:ext uri="{BB962C8B-B14F-4D97-AF65-F5344CB8AC3E}">
        <p14:creationId xmlns:p14="http://schemas.microsoft.com/office/powerpoint/2010/main" val="1934432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96685A-8179-110A-74F3-14E6D4E3E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 </a:t>
            </a:r>
            <a:r>
              <a:rPr lang="en-US" altLang="ko-KR" dirty="0"/>
              <a:t>( </a:t>
            </a:r>
            <a:r>
              <a:rPr lang="ko-KR" altLang="en-US" dirty="0" err="1"/>
              <a:t>협업메신저</a:t>
            </a:r>
            <a:r>
              <a:rPr lang="ko-KR" altLang="en-US" dirty="0"/>
              <a:t> 대화방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BBB0A6E6-C85B-ECDA-1E33-0A99C9DC7362}"/>
              </a:ext>
            </a:extLst>
          </p:cNvPr>
          <p:cNvSpPr txBox="1">
            <a:spLocks/>
          </p:cNvSpPr>
          <p:nvPr/>
        </p:nvSpPr>
        <p:spPr>
          <a:xfrm>
            <a:off x="838200" y="1966615"/>
            <a:ext cx="3313728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80"/>
              </a:spcAft>
              <a:buSzPct val="100000"/>
              <a:buFont typeface="Arial" panose="020B0604020202020204" pitchFamily="34" charset="0"/>
              <a:buNone/>
            </a:pP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현장 표준 템플릿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(A–C–D)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BBD9888-6486-25C8-182C-E82D851E90EE}"/>
              </a:ext>
            </a:extLst>
          </p:cNvPr>
          <p:cNvSpPr/>
          <p:nvPr/>
        </p:nvSpPr>
        <p:spPr>
          <a:xfrm>
            <a:off x="822960" y="2418811"/>
            <a:ext cx="10607040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A22FCE-D6D5-312E-0327-9B1132B1F73C}"/>
              </a:ext>
            </a:extLst>
          </p:cNvPr>
          <p:cNvSpPr/>
          <p:nvPr/>
        </p:nvSpPr>
        <p:spPr>
          <a:xfrm>
            <a:off x="1097280" y="2546407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8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A(보고)  병동→PA</a:t>
            </a:r>
            <a:endParaRPr 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639A5B8-188E-C2CC-9F6E-6F483FC2A853}"/>
              </a:ext>
            </a:extLst>
          </p:cNvPr>
          <p:cNvSpPr/>
          <p:nvPr/>
        </p:nvSpPr>
        <p:spPr>
          <a:xfrm>
            <a:off x="1203603" y="2720773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[A] {CaseID} / 지금:__ / 근거:__ / 요청:__ / 10·4·12</a:t>
            </a:r>
            <a:endParaRPr lang="ko-KR" altLang="en-US" sz="105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1050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050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태그</a:t>
            </a:r>
            <a:r>
              <a:rPr lang="en-US" altLang="ko-KR" sz="1050" dirty="0"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</a:t>
            </a:r>
            <a:r>
              <a:rPr lang="en-US" altLang="ko-KR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[A] {CaseID} / </a:t>
            </a:r>
            <a:r>
              <a:rPr lang="ko-KR" altLang="en-US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지금</a:t>
            </a:r>
            <a:r>
              <a:rPr lang="en-US" altLang="ko-KR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___</a:t>
            </a:r>
            <a:r>
              <a:rPr lang="ko-KR" altLang="en-US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근거</a:t>
            </a:r>
            <a:r>
              <a:rPr lang="en-US" altLang="ko-KR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___</a:t>
            </a:r>
            <a:r>
              <a:rPr lang="ko-KR" altLang="en-US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요청</a:t>
            </a:r>
            <a:r>
              <a:rPr lang="en-US" altLang="ko-KR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___</a:t>
            </a:r>
            <a:r>
              <a:rPr lang="ko-KR" altLang="en-US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05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en-US" altLang="ko-KR" sz="105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10·4·12</a:t>
            </a:r>
            <a:endParaRPr lang="en-US" sz="105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F271868-D09D-CC38-49D9-211A7F79CD4F}"/>
              </a:ext>
            </a:extLst>
          </p:cNvPr>
          <p:cNvSpPr/>
          <p:nvPr/>
        </p:nvSpPr>
        <p:spPr>
          <a:xfrm>
            <a:off x="822960" y="3552614"/>
            <a:ext cx="10607040" cy="899085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91548F-545A-3589-EF99-AD014667047B}"/>
              </a:ext>
            </a:extLst>
          </p:cNvPr>
          <p:cNvSpPr/>
          <p:nvPr/>
        </p:nvSpPr>
        <p:spPr>
          <a:xfrm>
            <a:off x="1097280" y="368021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A3412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C(보호기록)  기준 초과 시</a:t>
            </a:r>
            <a:endParaRPr 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7A03314-DDA9-C167-3BBB-B9320D6B94BD}"/>
              </a:ext>
            </a:extLst>
          </p:cNvPr>
          <p:cNvSpPr/>
          <p:nvPr/>
        </p:nvSpPr>
        <p:spPr>
          <a:xfrm>
            <a:off x="1203603" y="3991369"/>
            <a:ext cx="5261377" cy="338554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[C] {CaseID} / {사유코드} / 다음확인 HH:MM  (전화 1회 후)</a:t>
            </a:r>
            <a:endParaRPr lang="en-US" sz="16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F69B8CD-03DA-02AD-7FBB-6755A9E89F48}"/>
              </a:ext>
            </a:extLst>
          </p:cNvPr>
          <p:cNvSpPr/>
          <p:nvPr/>
        </p:nvSpPr>
        <p:spPr>
          <a:xfrm>
            <a:off x="822960" y="4560361"/>
            <a:ext cx="10607040" cy="899085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1287D78-8F10-B0B8-5753-85FF92FC8D7E}"/>
              </a:ext>
            </a:extLst>
          </p:cNvPr>
          <p:cNvSpPr/>
          <p:nvPr/>
        </p:nvSpPr>
        <p:spPr>
          <a:xfrm>
            <a:off x="1097280" y="4687957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F4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D(완료)  PA→병동</a:t>
            </a:r>
            <a:endParaRPr 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18815B4-E763-E572-862E-E3D0901081EE}"/>
              </a:ext>
            </a:extLst>
          </p:cNvPr>
          <p:cNvSpPr/>
          <p:nvPr/>
        </p:nvSpPr>
        <p:spPr>
          <a:xfrm>
            <a:off x="1192970" y="5013086"/>
            <a:ext cx="5112297" cy="338554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[D] {CaseID} / {이름} / 결과:__ / 현재:__ / F/U:__  (필수)</a:t>
            </a:r>
            <a:endParaRPr lang="en-US" sz="16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B7DBD8B-A748-A8C5-339B-649EF0F007AC}"/>
              </a:ext>
            </a:extLst>
          </p:cNvPr>
          <p:cNvSpPr/>
          <p:nvPr/>
        </p:nvSpPr>
        <p:spPr>
          <a:xfrm>
            <a:off x="822960" y="5552123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D에는 반드시 F/U(재보고 기준)를 넣어 “인계 가능한 완료”로 만듭니다.</a:t>
            </a:r>
            <a:endParaRPr lang="en-US" sz="16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3FBA748-B70C-A416-6DB5-8296883BCA74}"/>
              </a:ext>
            </a:extLst>
          </p:cNvPr>
          <p:cNvSpPr/>
          <p:nvPr/>
        </p:nvSpPr>
        <p:spPr>
          <a:xfrm>
            <a:off x="822960" y="5968385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fontAlgn="base"/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141·142W(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종양혈액내과</a:t>
            </a:r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전용 특수 소통 규칙</a:t>
            </a:r>
            <a:r>
              <a:rPr lang="en-US" altLang="ko-KR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: </a:t>
            </a:r>
            <a:r>
              <a:rPr lang="ko-KR" altLang="en-US" sz="16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앞머리 태그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A70C113-EAAC-66CD-FC58-2201054FBAF1}"/>
              </a:ext>
            </a:extLst>
          </p:cNvPr>
          <p:cNvGrpSpPr/>
          <p:nvPr/>
        </p:nvGrpSpPr>
        <p:grpSpPr>
          <a:xfrm>
            <a:off x="5114260" y="2972410"/>
            <a:ext cx="981740" cy="276999"/>
            <a:chOff x="5114260" y="2734824"/>
            <a:chExt cx="981740" cy="276999"/>
          </a:xfrm>
        </p:grpSpPr>
        <p:sp>
          <p:nvSpPr>
            <p:cNvPr id="16" name="화살표: 오각형 15">
              <a:extLst>
                <a:ext uri="{FF2B5EF4-FFF2-40B4-BE49-F238E27FC236}">
                  <a16:creationId xmlns:a16="http://schemas.microsoft.com/office/drawing/2014/main" id="{1733B383-F5F4-1D97-8E4D-5C578D292ECD}"/>
                </a:ext>
              </a:extLst>
            </p:cNvPr>
            <p:cNvSpPr/>
            <p:nvPr/>
          </p:nvSpPr>
          <p:spPr>
            <a:xfrm rot="10800000">
              <a:off x="5114260" y="2785730"/>
              <a:ext cx="981740" cy="216753"/>
            </a:xfrm>
            <a:prstGeom prst="homePlat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87D114B-6427-4719-4430-1D62DDDC46B6}"/>
                </a:ext>
              </a:extLst>
            </p:cNvPr>
            <p:cNvSpPr txBox="1"/>
            <p:nvPr/>
          </p:nvSpPr>
          <p:spPr>
            <a:xfrm>
              <a:off x="5169754" y="2734824"/>
              <a:ext cx="87075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>
                  <a:solidFill>
                    <a:schemeClr val="bg1"/>
                  </a:solidFill>
                  <a:latin typeface="+mj-lt"/>
                </a:rPr>
                <a:t>14</a:t>
              </a:r>
              <a:r>
                <a:rPr lang="ko-KR" altLang="en-US" sz="1200" dirty="0">
                  <a:solidFill>
                    <a:schemeClr val="bg1"/>
                  </a:solidFill>
                  <a:latin typeface="+mj-lt"/>
                </a:rPr>
                <a:t>층 전용</a:t>
              </a:r>
            </a:p>
          </p:txBody>
        </p:sp>
      </p:grp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F142D8F4-0C36-34B5-AF46-A3EDF470CFFF}"/>
              </a:ext>
            </a:extLst>
          </p:cNvPr>
          <p:cNvSpPr txBox="1">
            <a:spLocks/>
          </p:cNvSpPr>
          <p:nvPr/>
        </p:nvSpPr>
        <p:spPr>
          <a:xfrm>
            <a:off x="838200" y="1415097"/>
            <a:ext cx="10515600" cy="501016"/>
          </a:xfrm>
          <a:prstGeom prst="rect">
            <a:avLst/>
          </a:prstGeom>
        </p:spPr>
        <p:txBody>
          <a:bodyPr/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공통언어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(A-C-D)</a:t>
            </a:r>
          </a:p>
        </p:txBody>
      </p:sp>
    </p:spTree>
    <p:extLst>
      <p:ext uri="{BB962C8B-B14F-4D97-AF65-F5344CB8AC3E}">
        <p14:creationId xmlns:p14="http://schemas.microsoft.com/office/powerpoint/2010/main" val="612279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DFD1B-2BFB-A59D-1643-055D97072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 </a:t>
            </a:r>
            <a:r>
              <a:rPr lang="en-US" altLang="ko-KR" dirty="0"/>
              <a:t>( </a:t>
            </a:r>
            <a:r>
              <a:rPr lang="ko-KR" altLang="en-US" dirty="0" err="1"/>
              <a:t>협업메신저</a:t>
            </a:r>
            <a:r>
              <a:rPr lang="ko-KR" altLang="en-US" dirty="0"/>
              <a:t> 대화방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277E5FC-F635-2B34-4E98-6C3C17DF884B}"/>
              </a:ext>
            </a:extLst>
          </p:cNvPr>
          <p:cNvSpPr txBox="1">
            <a:spLocks/>
          </p:cNvSpPr>
          <p:nvPr/>
        </p:nvSpPr>
        <p:spPr>
          <a:xfrm>
            <a:off x="838200" y="2119139"/>
            <a:ext cx="5687776" cy="424732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80"/>
              </a:spcAft>
              <a:buSzPct val="100000"/>
              <a:buFont typeface="Arial" panose="020B0604020202020204" pitchFamily="34" charset="0"/>
              <a:buNone/>
            </a:pP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정보성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보고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입원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검사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·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자가약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— </a:t>
            </a:r>
            <a:r>
              <a:rPr lang="ko-KR" altLang="en-US" sz="2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라이트루프</a:t>
            </a:r>
            <a:endParaRPr lang="ko-KR" altLang="en-US" sz="24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C6D0EA7-68C0-1604-C311-EB3D417D5F89}"/>
              </a:ext>
            </a:extLst>
          </p:cNvPr>
          <p:cNvSpPr/>
          <p:nvPr/>
        </p:nvSpPr>
        <p:spPr>
          <a:xfrm>
            <a:off x="1003935" y="2470164"/>
            <a:ext cx="4538422" cy="338554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알림 왕복을 줄이되 “확인 완료”는 기록으로 남깁니다.</a:t>
            </a:r>
            <a:endParaRPr lang="en-US" sz="16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C99ADBA-7ED1-1C65-69D4-8215F91D94D6}"/>
              </a:ext>
            </a:extLst>
          </p:cNvPr>
          <p:cNvSpPr/>
          <p:nvPr/>
        </p:nvSpPr>
        <p:spPr>
          <a:xfrm>
            <a:off x="822960" y="2892426"/>
            <a:ext cx="10607040" cy="782077"/>
          </a:xfrm>
          <a:prstGeom prst="roundRect">
            <a:avLst>
              <a:gd name="adj" fmla="val 275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43E845-1FE9-AEC4-F9FC-D94C28429C39}"/>
              </a:ext>
            </a:extLst>
          </p:cNvPr>
          <p:cNvSpPr/>
          <p:nvPr/>
        </p:nvSpPr>
        <p:spPr>
          <a:xfrm>
            <a:off x="1097280" y="3074322"/>
            <a:ext cx="6001964" cy="40011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[A](보고){CaseID}/12  →  [D]{CaseID}/{이름}/</a:t>
            </a:r>
            <a:r>
              <a:rPr lang="en-US" sz="2000" b="1" dirty="0" err="1">
                <a:solidFill>
                  <a:srgbClr val="0B3A6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확인완료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DA045F0-72CC-42D8-904D-30219E6E8FA4}"/>
              </a:ext>
            </a:extLst>
          </p:cNvPr>
          <p:cNvSpPr/>
          <p:nvPr/>
        </p:nvSpPr>
        <p:spPr>
          <a:xfrm>
            <a:off x="792480" y="3758211"/>
            <a:ext cx="10607040" cy="2377440"/>
          </a:xfrm>
          <a:prstGeom prst="roundRect">
            <a:avLst>
              <a:gd name="adj" fmla="val 817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8AD5008-2123-4AD3-CD8D-D8EC3AB05C78}"/>
              </a:ext>
            </a:extLst>
          </p:cNvPr>
          <p:cNvSpPr/>
          <p:nvPr/>
        </p:nvSpPr>
        <p:spPr>
          <a:xfrm>
            <a:off x="1097280" y="376301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예시</a:t>
            </a:r>
            <a:r>
              <a:rPr lang="en-US" sz="1600" b="1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) </a:t>
            </a:r>
            <a:endParaRPr lang="en-US" sz="16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9BBDEAE-ED13-D752-1943-ED0E08FB6BA2}"/>
              </a:ext>
            </a:extLst>
          </p:cNvPr>
          <p:cNvSpPr/>
          <p:nvPr/>
        </p:nvSpPr>
        <p:spPr>
          <a:xfrm>
            <a:off x="1097280" y="4119394"/>
            <a:ext cx="7119257" cy="1938992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[A][1311]-[12345678]-[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가나다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박재홍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]-[0308]-[1911] / </a:t>
            </a:r>
            <a:r>
              <a:rPr lang="ko-KR" altLang="en-US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신환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/ 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근거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: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입원 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/ 12</a:t>
            </a:r>
          </a:p>
          <a:p>
            <a:pPr marL="0" indent="0">
              <a:buNone/>
            </a:pP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[D][1311]-[12345678]-[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가나다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박재홍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]-[0308]-[1921] / </a:t>
            </a:r>
            <a:r>
              <a:rPr lang="ko-KR" altLang="en-US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확인</a:t>
            </a:r>
            <a:br>
              <a:rPr lang="en-US" altLang="ko-KR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</a:br>
            <a:endParaRPr lang="en-US" sz="15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[A][1311]-[12345678]-[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가나다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박재홍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]-[0308]-[1918] / </a:t>
            </a:r>
            <a:r>
              <a:rPr lang="en-US" altLang="ko-KR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MRI</a:t>
            </a:r>
            <a:r>
              <a:rPr lang="ko-KR" altLang="en-US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검사준비완료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/ 12</a:t>
            </a:r>
            <a:endParaRPr lang="en-US" sz="1500" dirty="0">
              <a:solidFill>
                <a:srgbClr val="0F172A"/>
              </a:solidFill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 pitchFamily="34" charset="-120"/>
            </a:endParaRPr>
          </a:p>
          <a:p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[D][1311]-[12345678]-[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가나다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박재홍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]-[0308]-[1928] / </a:t>
            </a:r>
            <a:r>
              <a:rPr lang="ko-KR" altLang="en-US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확인</a:t>
            </a:r>
            <a:endParaRPr lang="en-US" altLang="ko-KR" sz="1500" dirty="0">
              <a:solidFill>
                <a:srgbClr val="0F172A"/>
              </a:solidFill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 pitchFamily="34" charset="-120"/>
            </a:endParaRPr>
          </a:p>
          <a:p>
            <a:endParaRPr lang="en-US" sz="1500" dirty="0"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indent="0">
              <a:buNone/>
            </a:pP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[A][1311]-[12345678]-[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가나다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박재홍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]-[0308]-[1922] / </a:t>
            </a:r>
            <a:r>
              <a:rPr lang="ko-KR" altLang="en-US" sz="1500" dirty="0" err="1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자가약소지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ko-KR" altLang="en-US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사진첨부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 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/ 12</a:t>
            </a:r>
          </a:p>
          <a:p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[D][1311]-[12345678]-[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가나다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</a:t>
            </a:r>
            <a:r>
              <a:rPr lang="ko-KR" altLang="en-US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박재홍</a:t>
            </a:r>
            <a:r>
              <a:rPr lang="en-US" altLang="ko-KR" sz="15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]-[0308]-[1932] / </a:t>
            </a:r>
            <a:r>
              <a:rPr lang="ko-KR" altLang="en-US" sz="1500" dirty="0">
                <a:solidFill>
                  <a:srgbClr val="0F172A"/>
                </a:solidFill>
                <a:highlight>
                  <a:srgbClr val="FFFF00"/>
                </a:highlight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확인</a:t>
            </a:r>
            <a:endParaRPr lang="en-US" altLang="ko-KR" sz="1500" dirty="0">
              <a:solidFill>
                <a:srgbClr val="0F172A"/>
              </a:solidFill>
              <a:highlight>
                <a:srgbClr val="FFFF00"/>
              </a:highlight>
              <a:latin typeface="KoPub돋움체 Light" panose="02020603020101020101" pitchFamily="18" charset="-127"/>
              <a:ea typeface="KoPub돋움체 Light" panose="02020603020101020101" pitchFamily="18" charset="-127"/>
              <a:cs typeface="Malgun Gothic" pitchFamily="34" charset="-120"/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CC2C188-21E3-2263-79E1-029EAFEB70FB}"/>
              </a:ext>
            </a:extLst>
          </p:cNvPr>
          <p:cNvSpPr txBox="1">
            <a:spLocks/>
          </p:cNvSpPr>
          <p:nvPr/>
        </p:nvSpPr>
        <p:spPr>
          <a:xfrm>
            <a:off x="838200" y="1415097"/>
            <a:ext cx="10515600" cy="501016"/>
          </a:xfrm>
          <a:prstGeom prst="rect">
            <a:avLst/>
          </a:prstGeom>
        </p:spPr>
        <p:txBody>
          <a:bodyPr/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공통언어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(A-C-D)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37E7629-6C10-36D7-001C-A333C637A204}"/>
              </a:ext>
            </a:extLst>
          </p:cNvPr>
          <p:cNvGrpSpPr/>
          <p:nvPr/>
        </p:nvGrpSpPr>
        <p:grpSpPr>
          <a:xfrm>
            <a:off x="8431622" y="5143501"/>
            <a:ext cx="3388905" cy="793361"/>
            <a:chOff x="5114260" y="2725485"/>
            <a:chExt cx="1080382" cy="276998"/>
          </a:xfrm>
        </p:grpSpPr>
        <p:sp>
          <p:nvSpPr>
            <p:cNvPr id="12" name="화살표: 오각형 11">
              <a:extLst>
                <a:ext uri="{FF2B5EF4-FFF2-40B4-BE49-F238E27FC236}">
                  <a16:creationId xmlns:a16="http://schemas.microsoft.com/office/drawing/2014/main" id="{4D150C82-BEBB-9FE8-AAA1-58B2E5F913C9}"/>
                </a:ext>
              </a:extLst>
            </p:cNvPr>
            <p:cNvSpPr/>
            <p:nvPr/>
          </p:nvSpPr>
          <p:spPr>
            <a:xfrm rot="10800000">
              <a:off x="5114260" y="2725485"/>
              <a:ext cx="1080381" cy="276998"/>
            </a:xfrm>
            <a:prstGeom prst="homePlat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827D4D1-A364-F92D-9C7E-1843896EB0B1}"/>
                </a:ext>
              </a:extLst>
            </p:cNvPr>
            <p:cNvSpPr txBox="1"/>
            <p:nvPr/>
          </p:nvSpPr>
          <p:spPr>
            <a:xfrm>
              <a:off x="5183198" y="2748520"/>
              <a:ext cx="1011444" cy="22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chemeClr val="bg1"/>
                  </a:solidFill>
                  <a:latin typeface="+mj-lt"/>
                </a:rPr>
                <a:t>메신저 답장 기능에는 사진첨부가 불가하여</a:t>
              </a:r>
              <a:endParaRPr lang="en-US" altLang="ko-KR" sz="1200" dirty="0">
                <a:solidFill>
                  <a:schemeClr val="bg1"/>
                </a:solidFill>
                <a:latin typeface="+mj-lt"/>
              </a:endParaRPr>
            </a:p>
            <a:p>
              <a:r>
                <a:rPr lang="ko-KR" altLang="en-US" sz="1200" dirty="0">
                  <a:solidFill>
                    <a:schemeClr val="bg1"/>
                  </a:solidFill>
                  <a:latin typeface="+mj-lt"/>
                </a:rPr>
                <a:t>사진을 먼저 첨부 발신 후 답장기능으로 </a:t>
              </a:r>
              <a:br>
                <a:rPr lang="en-US" altLang="ko-KR" sz="1200" dirty="0">
                  <a:solidFill>
                    <a:schemeClr val="bg1"/>
                  </a:solidFill>
                  <a:latin typeface="+mj-lt"/>
                </a:rPr>
              </a:br>
              <a:r>
                <a:rPr lang="en-US" altLang="ko-KR" sz="1200" dirty="0">
                  <a:solidFill>
                    <a:schemeClr val="bg1"/>
                  </a:solidFill>
                  <a:latin typeface="+mj-lt"/>
                </a:rPr>
                <a:t>[A] </a:t>
              </a:r>
              <a:r>
                <a:rPr lang="ko-KR" altLang="en-US" sz="1200" dirty="0">
                  <a:solidFill>
                    <a:schemeClr val="bg1"/>
                  </a:solidFill>
                  <a:latin typeface="+mj-lt"/>
                </a:rPr>
                <a:t>보고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8884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2">
            <a:extLst>
              <a:ext uri="{FF2B5EF4-FFF2-40B4-BE49-F238E27FC236}">
                <a16:creationId xmlns:a16="http://schemas.microsoft.com/office/drawing/2014/main" id="{8326BB8B-FC64-561A-85AC-5C51A64AC882}"/>
              </a:ext>
            </a:extLst>
          </p:cNvPr>
          <p:cNvSpPr/>
          <p:nvPr/>
        </p:nvSpPr>
        <p:spPr>
          <a:xfrm>
            <a:off x="822960" y="2796355"/>
            <a:ext cx="10607040" cy="14964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wrap="none">
            <a:noAutofit/>
          </a:bodyPr>
          <a:lstStyle/>
          <a:p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160F82C-85A9-FB20-BD16-79CAC539F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0" y="455377"/>
            <a:ext cx="6623929" cy="601575"/>
          </a:xfrm>
        </p:spPr>
        <p:txBody>
          <a:bodyPr wrap="none">
            <a:spAutoFit/>
          </a:bodyPr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 </a:t>
            </a:r>
            <a:r>
              <a:rPr lang="en-US" altLang="ko-KR" dirty="0"/>
              <a:t>( </a:t>
            </a:r>
            <a:r>
              <a:rPr lang="ko-KR" altLang="en-US" dirty="0" err="1"/>
              <a:t>협업메신저</a:t>
            </a:r>
            <a:r>
              <a:rPr lang="ko-KR" altLang="en-US" dirty="0"/>
              <a:t> 대화방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FD00A135-A554-E3C7-7E83-F2C2D435362B}"/>
              </a:ext>
            </a:extLst>
          </p:cNvPr>
          <p:cNvSpPr/>
          <p:nvPr/>
        </p:nvSpPr>
        <p:spPr>
          <a:xfrm>
            <a:off x="1097280" y="3171143"/>
            <a:ext cx="1508746" cy="369332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3A6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사유코드(권장)</a:t>
            </a:r>
            <a:endParaRPr 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B0BFB98-78BB-55E6-A909-59A122895C11}"/>
              </a:ext>
            </a:extLst>
          </p:cNvPr>
          <p:cNvSpPr/>
          <p:nvPr/>
        </p:nvSpPr>
        <p:spPr>
          <a:xfrm>
            <a:off x="1097280" y="3563544"/>
            <a:ext cx="7750840" cy="369332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72A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수술중 · 시술중 · 회진 · 인계 · 응급상황 · 담당부재 · 정보부족 · 인력부족 · 기타</a:t>
            </a:r>
            <a:endParaRPr 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7C0A2E6-5C7B-8BF8-1527-4F8EA34E563F}"/>
              </a:ext>
            </a:extLst>
          </p:cNvPr>
          <p:cNvSpPr/>
          <p:nvPr/>
        </p:nvSpPr>
        <p:spPr>
          <a:xfrm>
            <a:off x="822960" y="4395269"/>
            <a:ext cx="10607040" cy="149646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 wrap="none">
            <a:noAutofit/>
          </a:bodyPr>
          <a:lstStyle/>
          <a:p>
            <a:endParaRPr lang="ko-KR" altLang="en-US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E6FDE68-476D-2CDF-FA23-403819CC3E40}"/>
              </a:ext>
            </a:extLst>
          </p:cNvPr>
          <p:cNvSpPr/>
          <p:nvPr/>
        </p:nvSpPr>
        <p:spPr>
          <a:xfrm>
            <a:off x="1097280" y="4674001"/>
            <a:ext cx="3187091" cy="369332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334155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퇴근/전환은 중립 표현 사용(권장)</a:t>
            </a:r>
            <a:endParaRPr 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90A4068A-CABB-ACAB-796D-1203604F8858}"/>
              </a:ext>
            </a:extLst>
          </p:cNvPr>
          <p:cNvSpPr/>
          <p:nvPr/>
        </p:nvSpPr>
        <p:spPr>
          <a:xfrm>
            <a:off x="1097280" y="5114860"/>
            <a:ext cx="4769254" cy="400110"/>
          </a:xfrm>
          <a:prstGeom prst="rect">
            <a:avLst/>
          </a:prstGeom>
          <a:noFill/>
          <a:ln/>
        </p:spPr>
        <p:txBody>
          <a:bodyPr wrap="none" rtlCol="0" anchor="ctr">
            <a:sp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3A66"/>
                </a:solidFill>
                <a:latin typeface="KoPub돋움체 Light" panose="02020603020101020101" pitchFamily="18" charset="-127"/>
                <a:ea typeface="KoPub돋움체 Light" panose="02020603020101020101" pitchFamily="18" charset="-127"/>
                <a:cs typeface="Malgun Gothic" pitchFamily="34" charset="-120"/>
              </a:rPr>
              <a:t>[근무종료]  [업무종료]  [익일인계]  [야간전환]</a:t>
            </a:r>
            <a:endParaRPr lang="en-US" sz="20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98BC367-1AD5-75BF-4537-9D87D48B8FBA}"/>
              </a:ext>
            </a:extLst>
          </p:cNvPr>
          <p:cNvSpPr txBox="1">
            <a:spLocks/>
          </p:cNvSpPr>
          <p:nvPr/>
        </p:nvSpPr>
        <p:spPr>
          <a:xfrm>
            <a:off x="838200" y="2172781"/>
            <a:ext cx="3768980" cy="425566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680"/>
              </a:spcAft>
              <a:buSzPct val="100000"/>
              <a:buFont typeface="Arial" panose="020B0604020202020204" pitchFamily="34" charset="0"/>
              <a:buNone/>
            </a:pP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C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사유코드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권장</a:t>
            </a:r>
            <a:r>
              <a:rPr lang="en-US" altLang="ko-KR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 &amp; </a:t>
            </a:r>
            <a:r>
              <a:rPr lang="ko-KR" altLang="en-US" sz="2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중립 표현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20A6CF0-27BD-5464-E49C-5C0C24090514}"/>
              </a:ext>
            </a:extLst>
          </p:cNvPr>
          <p:cNvSpPr txBox="1">
            <a:spLocks/>
          </p:cNvSpPr>
          <p:nvPr/>
        </p:nvSpPr>
        <p:spPr>
          <a:xfrm>
            <a:off x="838200" y="1415097"/>
            <a:ext cx="3879588" cy="481094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공통언어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(A-C-D)</a:t>
            </a:r>
          </a:p>
        </p:txBody>
      </p:sp>
    </p:spTree>
    <p:extLst>
      <p:ext uri="{BB962C8B-B14F-4D97-AF65-F5344CB8AC3E}">
        <p14:creationId xmlns:p14="http://schemas.microsoft.com/office/powerpoint/2010/main" val="2047089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66A63-A232-7133-3ADD-7F9260DA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 </a:t>
            </a:r>
            <a:r>
              <a:rPr lang="en-US" altLang="ko-KR" dirty="0"/>
              <a:t>( </a:t>
            </a:r>
            <a:r>
              <a:rPr lang="ko-KR" altLang="en-US" dirty="0" err="1"/>
              <a:t>협업메신저</a:t>
            </a:r>
            <a:r>
              <a:rPr lang="ko-KR" altLang="en-US" dirty="0"/>
              <a:t> 대화방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7E25EE-D492-4A8F-AD12-F9922F5634B8}"/>
              </a:ext>
            </a:extLst>
          </p:cNvPr>
          <p:cNvSpPr txBox="1"/>
          <p:nvPr/>
        </p:nvSpPr>
        <p:spPr>
          <a:xfrm>
            <a:off x="1292451" y="2555409"/>
            <a:ext cx="5963492" cy="35022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[CHEMO]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항암 관리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전처치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처방 확인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투여 스케줄 조율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[BLOOD]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수혈 관리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시작 전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컨펌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부작용 보고 및 처방 요청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[CVR]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위험 수치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ANC,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전해질 등 위험 수치 즉시 보고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[LIFE]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존엄 및 임종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DNR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결정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임종 징후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통증 조절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(Comfort Care)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강화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[MEET]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보호자 면담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주치의 면담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Family Meeting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일정 조율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[MARROW]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골수 검사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BM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검사 전 처치 및 준비 완료 보고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[ISO]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격리 및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역격리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감염병 격리 및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역격리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설정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해제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[C-Status]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상태 변화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Vital Sign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변화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의식 저하 등 임상적 악화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[PAIN]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통증 조절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돌발성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통증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PCA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관리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 err="1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마약성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진통제 증량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342900" marR="0" lvl="0" indent="-342900" algn="just" fontAlgn="base" latinLnBrk="1">
              <a:lnSpc>
                <a:spcPct val="16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400" b="1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[OUT]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퇴원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전과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사망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사망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일반 퇴원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전동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호스피스 전원 행정 확인</a:t>
            </a:r>
            <a:r>
              <a:rPr lang="en-US" altLang="ko-KR" sz="1400" kern="0" spc="0" dirty="0">
                <a:solidFill>
                  <a:srgbClr val="000000"/>
                </a:solidFill>
                <a:effectLst/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3B4B703-C0DC-3BBD-E632-34001B46B3A4}"/>
              </a:ext>
            </a:extLst>
          </p:cNvPr>
          <p:cNvSpPr txBox="1">
            <a:spLocks/>
          </p:cNvSpPr>
          <p:nvPr/>
        </p:nvSpPr>
        <p:spPr>
          <a:xfrm>
            <a:off x="838200" y="2185371"/>
            <a:ext cx="4253087" cy="370038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141·142W </a:t>
            </a:r>
            <a:r>
              <a:rPr lang="ko-KR" altLang="en-US" sz="20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전용 ‘하이패스’ 태그 리스트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5F4E539-3E33-AF58-DC54-413E2C0A72E1}"/>
              </a:ext>
            </a:extLst>
          </p:cNvPr>
          <p:cNvSpPr txBox="1">
            <a:spLocks/>
          </p:cNvSpPr>
          <p:nvPr/>
        </p:nvSpPr>
        <p:spPr>
          <a:xfrm>
            <a:off x="838200" y="1415097"/>
            <a:ext cx="3879588" cy="481094"/>
          </a:xfrm>
          <a:prstGeom prst="rect">
            <a:avLst/>
          </a:prstGeom>
        </p:spPr>
        <p:txBody>
          <a:bodyPr wrap="none">
            <a:sp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 공통언어</a:t>
            </a:r>
            <a:r>
              <a:rPr lang="en-US" altLang="ko-KR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(A-C-D)</a:t>
            </a:r>
          </a:p>
        </p:txBody>
      </p:sp>
    </p:spTree>
    <p:extLst>
      <p:ext uri="{BB962C8B-B14F-4D97-AF65-F5344CB8AC3E}">
        <p14:creationId xmlns:p14="http://schemas.microsoft.com/office/powerpoint/2010/main" val="457544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76906-9389-5052-A934-93F0CEAA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">
            <a:extLst>
              <a:ext uri="{FF2B5EF4-FFF2-40B4-BE49-F238E27FC236}">
                <a16:creationId xmlns:a16="http://schemas.microsoft.com/office/drawing/2014/main" id="{0928CD19-6178-D9E6-AC00-4B75438C106A}"/>
              </a:ext>
            </a:extLst>
          </p:cNvPr>
          <p:cNvSpPr/>
          <p:nvPr/>
        </p:nvSpPr>
        <p:spPr>
          <a:xfrm>
            <a:off x="6603048" y="2416175"/>
            <a:ext cx="4968240" cy="4156074"/>
          </a:xfrm>
          <a:prstGeom prst="roundRect">
            <a:avLst>
              <a:gd name="adj" fmla="val 70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2EE6E3-2DF6-EEC7-4B21-EE55BC47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협업 도구 </a:t>
            </a:r>
            <a:r>
              <a:rPr lang="en-US" altLang="ko-KR" dirty="0"/>
              <a:t>( QR</a:t>
            </a:r>
            <a:r>
              <a:rPr lang="ko-KR" altLang="en-US" dirty="0"/>
              <a:t>안내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6C9E2E-2AEA-1A84-AFDB-F1DAF9850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29"/>
            <a:ext cx="10298113" cy="590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dirty="0"/>
              <a:t>2. QR </a:t>
            </a:r>
            <a:r>
              <a:rPr lang="ko-KR" altLang="en-US" dirty="0"/>
              <a:t>안내 </a:t>
            </a:r>
            <a:r>
              <a:rPr lang="en-US" altLang="ko-KR" dirty="0">
                <a:sym typeface="Wingdings" panose="05000000000000000000" pitchFamily="2" charset="2"/>
              </a:rPr>
              <a:t> “</a:t>
            </a:r>
            <a:r>
              <a:rPr lang="en-US" altLang="ko-KR" dirty="0" err="1">
                <a:sym typeface="Wingdings" panose="05000000000000000000" pitchFamily="2" charset="2"/>
              </a:rPr>
              <a:t>WeValue</a:t>
            </a:r>
            <a:r>
              <a:rPr lang="en-US" altLang="ko-KR" dirty="0">
                <a:sym typeface="Wingdings" panose="05000000000000000000" pitchFamily="2" charset="2"/>
              </a:rPr>
              <a:t>–</a:t>
            </a:r>
            <a:r>
              <a:rPr lang="ko-KR" altLang="en-US" dirty="0" err="1">
                <a:sym typeface="Wingdings" panose="05000000000000000000" pitchFamily="2" charset="2"/>
              </a:rPr>
              <a:t>우리가치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Hub </a:t>
            </a:r>
            <a:r>
              <a:rPr lang="ko-KR" altLang="en-US" dirty="0">
                <a:sym typeface="Wingdings" panose="05000000000000000000" pitchFamily="2" charset="2"/>
              </a:rPr>
              <a:t>웹페이지</a:t>
            </a:r>
            <a:r>
              <a:rPr lang="en-US" altLang="ko-KR" dirty="0">
                <a:sym typeface="Wingdings" panose="05000000000000000000" pitchFamily="2" charset="2"/>
              </a:rPr>
              <a:t>”</a:t>
            </a:r>
            <a:endParaRPr lang="ko-KR" alt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2DCD26BE-8B33-ABCE-9B58-57C2004073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8" y="2439990"/>
            <a:ext cx="3193142" cy="179614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40F2125B-FE47-1422-B6A5-63E0A788CA2F}"/>
              </a:ext>
            </a:extLst>
          </p:cNvPr>
          <p:cNvSpPr txBox="1"/>
          <p:nvPr/>
        </p:nvSpPr>
        <p:spPr>
          <a:xfrm>
            <a:off x="1723344" y="4253307"/>
            <a:ext cx="1857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배포 명함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6292743-E97B-41D6-7A8E-CAFAE37F1D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216" y="2455862"/>
            <a:ext cx="3703904" cy="4076700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7B48B31C-5B4C-9E65-D3A1-913FA02D6057}"/>
              </a:ext>
            </a:extLst>
          </p:cNvPr>
          <p:cNvSpPr/>
          <p:nvPr/>
        </p:nvSpPr>
        <p:spPr>
          <a:xfrm>
            <a:off x="6565900" y="2018679"/>
            <a:ext cx="41986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0B3A66"/>
                </a:solidFill>
                <a:latin typeface="Malgun Gothic" pitchFamily="34" charset="0"/>
                <a:ea typeface="Malgun Gothic" pitchFamily="34" charset="-122"/>
              </a:rPr>
              <a:t>https://schcaqi.github.io/2026-QI/</a:t>
            </a:r>
            <a:endParaRPr lang="en-US" sz="180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4642CB60-CCDB-8A5C-1FB5-C7FBCF3B62D0}"/>
              </a:ext>
            </a:extLst>
          </p:cNvPr>
          <p:cNvSpPr/>
          <p:nvPr/>
        </p:nvSpPr>
        <p:spPr>
          <a:xfrm>
            <a:off x="769257" y="2381250"/>
            <a:ext cx="1509486" cy="1509486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F2B11B4E-A7BD-16A8-DB75-E7AA34CD7F18}"/>
              </a:ext>
            </a:extLst>
          </p:cNvPr>
          <p:cNvCxnSpPr>
            <a:stCxn id="30" idx="6"/>
          </p:cNvCxnSpPr>
          <p:nvPr/>
        </p:nvCxnSpPr>
        <p:spPr>
          <a:xfrm>
            <a:off x="2278743" y="3135993"/>
            <a:ext cx="4324305" cy="20639"/>
          </a:xfrm>
          <a:prstGeom prst="straightConnector1">
            <a:avLst/>
          </a:prstGeom>
          <a:noFill/>
          <a:ln w="28575">
            <a:solidFill>
              <a:srgbClr val="FF0000"/>
            </a:solidFill>
            <a:prstDash val="sysDot"/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37458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53B60F-58EE-85C2-3946-A1B1CA41D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기타 업무지원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85A51C-4552-B2D8-A9D2-9015D2FD3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900" y="2160358"/>
            <a:ext cx="2190598" cy="433251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0529553-EC1F-2DE8-38C1-DF9A9D8B2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8129"/>
            <a:ext cx="10298113" cy="5905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1. </a:t>
            </a:r>
            <a:r>
              <a:rPr lang="ko-KR" altLang="en-US" b="1" dirty="0"/>
              <a:t>카카오톡 오픈 </a:t>
            </a:r>
            <a:r>
              <a:rPr lang="ko-KR" altLang="en-US" b="1" dirty="0" err="1"/>
              <a:t>채팅방</a:t>
            </a:r>
            <a:endParaRPr lang="ko-KR" altLang="en-US" b="1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810CE25-DFC4-C052-2F50-0BE4C87F4A51}"/>
              </a:ext>
            </a:extLst>
          </p:cNvPr>
          <p:cNvSpPr txBox="1">
            <a:spLocks/>
          </p:cNvSpPr>
          <p:nvPr/>
        </p:nvSpPr>
        <p:spPr>
          <a:xfrm>
            <a:off x="4433583" y="2589271"/>
            <a:ext cx="7386941" cy="3463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solidFill>
                  <a:srgbClr val="7030A0"/>
                </a:solidFill>
              </a:rPr>
              <a:t>익명 소통 채널</a:t>
            </a:r>
            <a:endParaRPr lang="en-US" altLang="ko-KR" dirty="0">
              <a:solidFill>
                <a:srgbClr val="7030A0"/>
              </a:solidFill>
            </a:endParaRPr>
          </a:p>
          <a:p>
            <a:r>
              <a:rPr lang="ko-KR" altLang="en-US" dirty="0"/>
              <a:t>업무로 전하지 못하는 의사표현을 자유롭게</a:t>
            </a:r>
            <a:endParaRPr lang="en-US" altLang="ko-KR" dirty="0"/>
          </a:p>
          <a:p>
            <a:r>
              <a:rPr lang="ko-KR" altLang="en-US" dirty="0"/>
              <a:t>진료지원팀 책임하에 질문 답변처리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3305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23747D-B8C7-9752-16F8-E0948B174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기타 업무지원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4EE49FD3-2A95-69FD-6D41-14B5A7F3520C}"/>
              </a:ext>
            </a:extLst>
          </p:cNvPr>
          <p:cNvSpPr txBox="1">
            <a:spLocks/>
          </p:cNvSpPr>
          <p:nvPr/>
        </p:nvSpPr>
        <p:spPr>
          <a:xfrm>
            <a:off x="838200" y="1428129"/>
            <a:ext cx="10298113" cy="5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2. </a:t>
            </a:r>
            <a:r>
              <a:rPr lang="ko-KR" altLang="en-US" b="1" dirty="0" err="1"/>
              <a:t>협업메신저</a:t>
            </a:r>
            <a:r>
              <a:rPr lang="ko-KR" altLang="en-US" b="1" dirty="0"/>
              <a:t> 입력 표준양식 작성도구 지원</a:t>
            </a:r>
            <a:endParaRPr lang="ko-KR" altLang="en-US" b="1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ADFEEE3-5E39-F7E9-0F83-54C46FDEA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787" y="2551884"/>
            <a:ext cx="10612095" cy="3050629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403B7E2-A942-6CE9-7F7D-54D1B3CFD797}"/>
              </a:ext>
            </a:extLst>
          </p:cNvPr>
          <p:cNvSpPr txBox="1">
            <a:spLocks/>
          </p:cNvSpPr>
          <p:nvPr/>
        </p:nvSpPr>
        <p:spPr>
          <a:xfrm>
            <a:off x="838200" y="2018679"/>
            <a:ext cx="10298113" cy="5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  1)</a:t>
            </a:r>
            <a:r>
              <a:rPr lang="ko-KR" altLang="en-US" dirty="0"/>
              <a:t> </a:t>
            </a:r>
            <a:r>
              <a:rPr lang="en-US" altLang="ko-KR" dirty="0"/>
              <a:t>PC</a:t>
            </a:r>
            <a:r>
              <a:rPr lang="ko-KR" altLang="en-US" dirty="0"/>
              <a:t>환경 </a:t>
            </a:r>
            <a:r>
              <a:rPr lang="en-US" altLang="ko-KR" dirty="0"/>
              <a:t>( </a:t>
            </a:r>
            <a:r>
              <a:rPr lang="ko-KR" altLang="en-US" dirty="0"/>
              <a:t>엑셀 문서 및 웹페이지 </a:t>
            </a:r>
            <a:r>
              <a:rPr lang="en-US" altLang="ko-KR" dirty="0"/>
              <a:t>)</a:t>
            </a:r>
            <a:endParaRPr lang="ko-KR" altLang="en-US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621657A-8B26-D648-FF41-379D59D27B1D}"/>
              </a:ext>
            </a:extLst>
          </p:cNvPr>
          <p:cNvSpPr txBox="1">
            <a:spLocks/>
          </p:cNvSpPr>
          <p:nvPr/>
        </p:nvSpPr>
        <p:spPr>
          <a:xfrm>
            <a:off x="838200" y="5683250"/>
            <a:ext cx="10298113" cy="5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흰색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Cell 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에 정보 입력 시 요청양식 자동완성 </a:t>
            </a:r>
            <a:r>
              <a:rPr lang="en-US" altLang="ko-KR" sz="2400" dirty="0">
                <a:latin typeface="KoPub돋움체 Light" panose="02020603020101020101" pitchFamily="18" charset="-127"/>
                <a:ea typeface="KoPub돋움체 Light" panose="02020603020101020101" pitchFamily="18" charset="-127"/>
                <a:sym typeface="Wingdings" panose="05000000000000000000" pitchFamily="2" charset="2"/>
              </a:rPr>
              <a:t></a:t>
            </a: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노란 셀 내용을 복사하여 업무요청</a:t>
            </a:r>
          </a:p>
        </p:txBody>
      </p:sp>
    </p:spTree>
    <p:extLst>
      <p:ext uri="{BB962C8B-B14F-4D97-AF65-F5344CB8AC3E}">
        <p14:creationId xmlns:p14="http://schemas.microsoft.com/office/powerpoint/2010/main" val="1454191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1B79E-90DC-444C-3A26-1B0A5818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DD884-BD96-27FB-2D11-4A03E37FC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기타 업무지원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A34C25E-0624-4AD3-871A-6D27746E9510}"/>
              </a:ext>
            </a:extLst>
          </p:cNvPr>
          <p:cNvSpPr txBox="1">
            <a:spLocks/>
          </p:cNvSpPr>
          <p:nvPr/>
        </p:nvSpPr>
        <p:spPr>
          <a:xfrm>
            <a:off x="838200" y="1428129"/>
            <a:ext cx="10298113" cy="5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2. </a:t>
            </a:r>
            <a:r>
              <a:rPr lang="ko-KR" altLang="en-US" b="1" dirty="0" err="1"/>
              <a:t>협업메신저</a:t>
            </a:r>
            <a:r>
              <a:rPr lang="ko-KR" altLang="en-US" b="1" dirty="0"/>
              <a:t> 입력 표준양식 작성도구 지원</a:t>
            </a:r>
            <a:endParaRPr lang="ko-KR" altLang="en-US" b="1" dirty="0">
              <a:sym typeface="Wingdings" panose="05000000000000000000" pitchFamily="2" charset="2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FF20C9A-A005-DB3F-7CD2-CAAF11410D17}"/>
              </a:ext>
            </a:extLst>
          </p:cNvPr>
          <p:cNvSpPr txBox="1">
            <a:spLocks/>
          </p:cNvSpPr>
          <p:nvPr/>
        </p:nvSpPr>
        <p:spPr>
          <a:xfrm>
            <a:off x="838200" y="2018679"/>
            <a:ext cx="2979057" cy="5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  2)</a:t>
            </a:r>
            <a:r>
              <a:rPr lang="ko-KR" altLang="en-US" dirty="0"/>
              <a:t> 모바일 환경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5C4E5F2-2401-34D6-2A4B-509E80694FAC}"/>
              </a:ext>
            </a:extLst>
          </p:cNvPr>
          <p:cNvSpPr txBox="1">
            <a:spLocks/>
          </p:cNvSpPr>
          <p:nvPr/>
        </p:nvSpPr>
        <p:spPr>
          <a:xfrm>
            <a:off x="1335315" y="2759076"/>
            <a:ext cx="5152572" cy="35147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입력사항을 입력 후</a:t>
            </a:r>
            <a:endParaRPr lang="en-US" altLang="ko-KR" sz="2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ko-KR" altLang="en-US" sz="2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노랑배경 부분을 터치하여 업무 요청양식 자동복사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8656196-DFB4-3137-43B6-5E1046295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943" y="2168526"/>
            <a:ext cx="1954686" cy="410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50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6AC915-A513-6F19-895C-D20A710BF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</a:t>
            </a:r>
            <a:r>
              <a:rPr lang="ko-KR" altLang="en-US" dirty="0"/>
              <a:t>기타 업무지원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9130FD0-0656-C12F-E088-0D05382EFC76}"/>
              </a:ext>
            </a:extLst>
          </p:cNvPr>
          <p:cNvSpPr txBox="1">
            <a:spLocks/>
          </p:cNvSpPr>
          <p:nvPr/>
        </p:nvSpPr>
        <p:spPr>
          <a:xfrm>
            <a:off x="838200" y="1428129"/>
            <a:ext cx="10298113" cy="59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11" indent="-228611" algn="l" defTabSz="914446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3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57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80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503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6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9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1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4" indent="-228611" algn="l" defTabSz="914446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b="1" dirty="0"/>
              <a:t>3. </a:t>
            </a:r>
            <a:r>
              <a:rPr lang="ko-KR" altLang="en-US" b="1" dirty="0"/>
              <a:t>부착용 초소형 </a:t>
            </a:r>
            <a:r>
              <a:rPr lang="en-US" altLang="ko-KR" b="1" dirty="0"/>
              <a:t>PC</a:t>
            </a:r>
            <a:r>
              <a:rPr lang="ko-KR" altLang="en-US" b="1" dirty="0"/>
              <a:t>스티커 배포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4FA72E0-659F-03C4-DF69-17E0A0A960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868" y="2442830"/>
            <a:ext cx="3084058" cy="173478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ACB5B0F-CD91-D574-2CE7-4CF270C2D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9868" y="4276110"/>
            <a:ext cx="3084058" cy="173478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5D7D655-6A71-A6DD-D743-3550D7B4A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493" y="2448146"/>
            <a:ext cx="3084058" cy="173478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70B1E61-86A9-BBEA-7876-9D925E07D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2417" y="4276110"/>
            <a:ext cx="3084058" cy="173478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B59D283-9DB8-0FC4-9509-8D75DA7B52BF}"/>
              </a:ext>
            </a:extLst>
          </p:cNvPr>
          <p:cNvSpPr txBox="1"/>
          <p:nvPr/>
        </p:nvSpPr>
        <p:spPr>
          <a:xfrm>
            <a:off x="1884370" y="30621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앞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621FB-CFE4-46E9-CCFA-5696D3C8D492}"/>
              </a:ext>
            </a:extLst>
          </p:cNvPr>
          <p:cNvSpPr txBox="1"/>
          <p:nvPr/>
        </p:nvSpPr>
        <p:spPr>
          <a:xfrm>
            <a:off x="1884370" y="49588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뒤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A39760-ACB3-E960-14C7-8CA8BE784E46}"/>
              </a:ext>
            </a:extLst>
          </p:cNvPr>
          <p:cNvSpPr txBox="1"/>
          <p:nvPr/>
        </p:nvSpPr>
        <p:spPr>
          <a:xfrm>
            <a:off x="6432995" y="306217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앞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4F3AD8-5A99-627E-19E0-DDD573A0B063}"/>
              </a:ext>
            </a:extLst>
          </p:cNvPr>
          <p:cNvSpPr txBox="1"/>
          <p:nvPr/>
        </p:nvSpPr>
        <p:spPr>
          <a:xfrm>
            <a:off x="6432995" y="495883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CA9673-DA1D-9844-A202-ED9366577AEE}"/>
              </a:ext>
            </a:extLst>
          </p:cNvPr>
          <p:cNvSpPr txBox="1"/>
          <p:nvPr/>
        </p:nvSpPr>
        <p:spPr>
          <a:xfrm>
            <a:off x="3590065" y="2013363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QR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915A8-0DEF-3BEE-6F49-54A46F87AA75}"/>
              </a:ext>
            </a:extLst>
          </p:cNvPr>
          <p:cNvSpPr txBox="1"/>
          <p:nvPr/>
        </p:nvSpPr>
        <p:spPr>
          <a:xfrm>
            <a:off x="8082114" y="2013363"/>
            <a:ext cx="644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ACD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3095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6DC0CA-ACBB-C75D-F089-55E7E75D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실제 협업 사례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62CB63-C7B0-300C-C5D9-15D208E20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363"/>
            <a:ext cx="10376971" cy="4442242"/>
          </a:xfr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A </a:t>
            </a:r>
            <a:r>
              <a:rPr lang="ko-KR" altLang="en-US" sz="1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요청 </a:t>
            </a:r>
            <a:r>
              <a:rPr lang="ko-KR" altLang="en-US" sz="18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기록예시</a:t>
            </a:r>
            <a:endParaRPr lang="en-US" altLang="ko-KR" sz="18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[A] 1311-12345678-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김철수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이상철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-0306-1540 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지금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BT 38.5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℃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오한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근거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ANC 500 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요청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지시 처방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10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C </a:t>
            </a:r>
            <a:r>
              <a:rPr lang="ko-KR" altLang="en-US" sz="1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보호기록 </a:t>
            </a:r>
            <a:endParaRPr lang="en-US" altLang="ko-KR" sz="18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[A][1311]-[12345678]-[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가나다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]-[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박재홍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]-[0308]-[1824] 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지금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출혈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근거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트라내부딱지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요청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지혈제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상태확인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4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└─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답장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)[C][1311]-[12345678]-[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가나다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]-[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박재홍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]-[0308]-[1826] 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회진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다음확인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1900 (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전화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회 후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 marL="0" indent="0">
              <a:lnSpc>
                <a:spcPct val="100000"/>
              </a:lnSpc>
              <a:buNone/>
            </a:pPr>
            <a:endParaRPr lang="ko-KR" altLang="en-US" sz="18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00000"/>
              </a:lnSpc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altLang="ko-KR" sz="1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D </a:t>
            </a:r>
            <a:r>
              <a:rPr lang="ko-KR" altLang="en-US" sz="18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완료 기록</a:t>
            </a:r>
            <a:endParaRPr lang="en-US" altLang="ko-KR" sz="1800" b="1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[D][1311]-[12345678]-[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가나다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]-[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박재홍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]-[0308]-[1900] 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결과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출혈 무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현재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딱지제거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</a:t>
            </a:r>
            <a:r>
              <a:rPr lang="ko-KR" altLang="en-US" sz="1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출혈없음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F/U: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내관 소독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시간마다 후 </a:t>
            </a:r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</a:t>
            </a:r>
            <a:r>
              <a:rPr lang="ko-KR" altLang="en-US" sz="18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막힐경우</a:t>
            </a:r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노티</a:t>
            </a:r>
          </a:p>
        </p:txBody>
      </p:sp>
    </p:spTree>
    <p:extLst>
      <p:ext uri="{BB962C8B-B14F-4D97-AF65-F5344CB8AC3E}">
        <p14:creationId xmlns:p14="http://schemas.microsoft.com/office/powerpoint/2010/main" val="2045218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60457-8E0D-07E8-99C8-442DAF49E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963FD91-ADEB-BF44-A76F-3D7FFFFE1892}"/>
              </a:ext>
            </a:extLst>
          </p:cNvPr>
          <p:cNvSpPr/>
          <p:nvPr/>
        </p:nvSpPr>
        <p:spPr>
          <a:xfrm>
            <a:off x="371476" y="1916113"/>
            <a:ext cx="5561492" cy="435768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362CB9D-534B-FE80-0BCA-6C84F5A6D1CD}"/>
              </a:ext>
            </a:extLst>
          </p:cNvPr>
          <p:cNvSpPr/>
          <p:nvPr/>
        </p:nvSpPr>
        <p:spPr>
          <a:xfrm>
            <a:off x="6259032" y="1916113"/>
            <a:ext cx="5561492" cy="4357687"/>
          </a:xfrm>
          <a:prstGeom prst="roundRect">
            <a:avLst>
              <a:gd name="adj" fmla="val 4711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690CD11-25FB-62B3-AB0C-4627E51D0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실제 협업 사례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24F2FA-37AC-4814-E68D-6F734C763AF6}"/>
              </a:ext>
            </a:extLst>
          </p:cNvPr>
          <p:cNvSpPr txBox="1"/>
          <p:nvPr/>
        </p:nvSpPr>
        <p:spPr>
          <a:xfrm>
            <a:off x="371475" y="1488558"/>
            <a:ext cx="572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</a:t>
            </a:r>
            <a:r>
              <a:rPr lang="ko-KR" altLang="en-US" dirty="0"/>
              <a:t>오전 </a:t>
            </a:r>
            <a:r>
              <a:rPr lang="en-US" altLang="ko-KR" dirty="0"/>
              <a:t>8:00 ] </a:t>
            </a:r>
            <a:r>
              <a:rPr lang="ko-KR" altLang="en-US" dirty="0"/>
              <a:t>업무 개시 알림 </a:t>
            </a:r>
            <a:r>
              <a:rPr lang="en-US" altLang="ko-KR" dirty="0"/>
              <a:t>(Daily In-Out)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41357-67A2-010C-2709-FBC2E454AA7D}"/>
              </a:ext>
            </a:extLst>
          </p:cNvPr>
          <p:cNvSpPr txBox="1"/>
          <p:nvPr/>
        </p:nvSpPr>
        <p:spPr>
          <a:xfrm>
            <a:off x="6096000" y="1488558"/>
            <a:ext cx="5724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[ </a:t>
            </a:r>
            <a:r>
              <a:rPr lang="ko-KR" altLang="en-US" dirty="0"/>
              <a:t>오후 </a:t>
            </a:r>
            <a:r>
              <a:rPr lang="en-US" altLang="ko-KR" dirty="0"/>
              <a:t>16:30 ] </a:t>
            </a:r>
            <a:r>
              <a:rPr lang="ko-KR" altLang="en-US" dirty="0"/>
              <a:t>업무 마감 및 예정 처리 알림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AB6FB7-0C2D-9538-87C8-BCD1334CDEF6}"/>
              </a:ext>
            </a:extLst>
          </p:cNvPr>
          <p:cNvSpPr txBox="1"/>
          <p:nvPr/>
        </p:nvSpPr>
        <p:spPr>
          <a:xfrm>
            <a:off x="584792" y="2404900"/>
            <a:ext cx="5256214" cy="3292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금일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([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월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]) PA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인력 현황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휴가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반차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성함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선생님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수술실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(OR) 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입실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성함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([00:00~00:00]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 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연락 지연될 수 있음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• </a:t>
            </a:r>
            <a:r>
              <a:rPr lang="ko-KR" altLang="en-US" sz="1400" b="1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협업방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전담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성함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(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원내전화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 [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번호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])</a:t>
            </a:r>
          </a:p>
          <a:p>
            <a:pPr>
              <a:lnSpc>
                <a:spcPct val="150000"/>
              </a:lnSpc>
            </a:pPr>
            <a:endParaRPr lang="en-US" altLang="ko-KR" sz="1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오늘의 협업 약속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긴급 건은 전화 연결 후 선 조치하고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상황 종료 후 메신저 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[A]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기록 남겨주세요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3.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수술실 입실 중인 선생님께는 **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[A]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기록**을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남겨주시면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퇴실 후 순차적으로 해결하겠습니다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31F177-9384-91A3-E129-44954390431A}"/>
              </a:ext>
            </a:extLst>
          </p:cNvPr>
          <p:cNvSpPr txBox="1"/>
          <p:nvPr/>
        </p:nvSpPr>
        <p:spPr>
          <a:xfrm>
            <a:off x="6350996" y="2404900"/>
            <a:ext cx="5001217" cy="2645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마감 및 예정 사항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1. 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[16:30 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예정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] 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처리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현재 미완료된 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[A]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요청 중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비응급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건은 해당 태그를 달아 익일 오전 근무 시작 시 우선 해결하겠습니다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2. 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야간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/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공휴일 대응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이후 발생하는 요청은 기존 당직 시스템을 이용해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주시되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협업방에 기록을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남겨주시면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익일 인계 시 큰 도움이 됩니다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3. 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[D] </a:t>
            </a:r>
            <a:r>
              <a:rPr lang="ko-KR" altLang="en-US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완료 확인</a:t>
            </a:r>
            <a:r>
              <a:rPr lang="en-US" altLang="ko-KR" sz="1400" b="1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: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퇴근 전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나의 요청에 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[D] </a:t>
            </a:r>
            <a:r>
              <a:rPr lang="ko-KR" altLang="en-US" sz="1400" dirty="0" err="1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완료마침표가</a:t>
            </a:r>
            <a:r>
              <a:rPr lang="ko-KR" altLang="en-US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찍혔는지 최종 확인 부탁드립니다</a:t>
            </a:r>
            <a:r>
              <a:rPr lang="en-US" altLang="ko-KR" sz="14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400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3847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651A92-7737-1F6D-B885-6D7C613E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7. </a:t>
            </a:r>
            <a:r>
              <a:rPr lang="ko-KR" altLang="en-US" dirty="0"/>
              <a:t>협업 변화 및 기대 효과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A6FE00-9A8C-177A-4318-9C24B520F93A}"/>
              </a:ext>
            </a:extLst>
          </p:cNvPr>
          <p:cNvSpPr/>
          <p:nvPr/>
        </p:nvSpPr>
        <p:spPr>
          <a:xfrm>
            <a:off x="839788" y="2573080"/>
            <a:ext cx="5053013" cy="3056160"/>
          </a:xfrm>
          <a:prstGeom prst="roundRect">
            <a:avLst>
              <a:gd name="adj" fmla="val 5898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03C71E8-1EEC-82A8-5DCB-B5809122DB30}"/>
              </a:ext>
            </a:extLst>
          </p:cNvPr>
          <p:cNvSpPr/>
          <p:nvPr/>
        </p:nvSpPr>
        <p:spPr>
          <a:xfrm>
            <a:off x="6299199" y="2573080"/>
            <a:ext cx="5053013" cy="3056160"/>
          </a:xfrm>
          <a:prstGeom prst="roundRect">
            <a:avLst>
              <a:gd name="adj" fmla="val 5898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21136-A8D8-CC61-BD7B-0358BA608636}"/>
              </a:ext>
            </a:extLst>
          </p:cNvPr>
          <p:cNvSpPr txBox="1"/>
          <p:nvPr/>
        </p:nvSpPr>
        <p:spPr>
          <a:xfrm>
            <a:off x="943429" y="153203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병동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2D0BF0-9D63-0EFB-BA1A-CF26C48EAAF6}"/>
              </a:ext>
            </a:extLst>
          </p:cNvPr>
          <p:cNvSpPr txBox="1"/>
          <p:nvPr/>
        </p:nvSpPr>
        <p:spPr>
          <a:xfrm>
            <a:off x="6299200" y="153203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/>
              <a:t>진료지원간호팀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AC8DF2-3748-356D-17A4-F82D15D09F9A}"/>
              </a:ext>
            </a:extLst>
          </p:cNvPr>
          <p:cNvSpPr txBox="1"/>
          <p:nvPr/>
        </p:nvSpPr>
        <p:spPr>
          <a:xfrm>
            <a:off x="1233377" y="2931609"/>
            <a:ext cx="45188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ko-KR" dirty="0"/>
              <a:t>요청이 어디에 남았는지</a:t>
            </a:r>
            <a:r>
              <a:rPr lang="en-US" altLang="ko-KR" dirty="0"/>
              <a:t>, </a:t>
            </a:r>
            <a:r>
              <a:rPr lang="ko-KR" altLang="ko-KR" dirty="0"/>
              <a:t>언제 반영되는지</a:t>
            </a:r>
            <a:r>
              <a:rPr lang="en-US" altLang="ko-KR" dirty="0"/>
              <a:t> ‘</a:t>
            </a:r>
            <a:r>
              <a:rPr lang="ko-KR" altLang="ko-KR" dirty="0"/>
              <a:t>예측</a:t>
            </a:r>
            <a:r>
              <a:rPr lang="en-US" altLang="ko-KR" dirty="0"/>
              <a:t>’</a:t>
            </a:r>
            <a:r>
              <a:rPr lang="ko-KR" altLang="ko-KR" dirty="0"/>
              <a:t>이 되면 대기 부담이 줄고 인계가 쉬워집니다</a:t>
            </a:r>
            <a:r>
              <a:rPr lang="en-US" altLang="ko-KR" dirty="0"/>
              <a:t>.</a:t>
            </a:r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ko-KR" dirty="0"/>
              <a:t>기록이 한 곳에 모이면 교대 근무에서도</a:t>
            </a:r>
            <a:r>
              <a:rPr lang="en-US" altLang="ko-KR" dirty="0"/>
              <a:t> ‘</a:t>
            </a:r>
            <a:r>
              <a:rPr lang="ko-KR" altLang="ko-KR" dirty="0"/>
              <a:t>지금 어디까지</a:t>
            </a:r>
            <a:r>
              <a:rPr lang="en-US" altLang="ko-KR" dirty="0"/>
              <a:t>’</a:t>
            </a:r>
            <a:r>
              <a:rPr lang="ko-KR" altLang="ko-KR" dirty="0"/>
              <a:t>가 자연스럽게 이어집니다</a:t>
            </a:r>
            <a:r>
              <a:rPr lang="en-US" altLang="ko-KR" dirty="0"/>
              <a:t>.</a:t>
            </a:r>
            <a:endParaRPr lang="ko-KR" altLang="ko-KR" dirty="0"/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425EC-9362-40FA-0CEB-875D1E9A3C2A}"/>
              </a:ext>
            </a:extLst>
          </p:cNvPr>
          <p:cNvSpPr txBox="1"/>
          <p:nvPr/>
        </p:nvSpPr>
        <p:spPr>
          <a:xfrm>
            <a:off x="6539023" y="2931609"/>
            <a:ext cx="4419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ko-KR" dirty="0"/>
              <a:t>같은 내용이 여러 경로로 반복되지 않으면 업무 집중이 좋아집니다</a:t>
            </a:r>
            <a:r>
              <a:rPr lang="en-US" altLang="ko-KR" dirty="0"/>
              <a:t>.</a:t>
            </a:r>
            <a:endParaRPr lang="ko-KR" altLang="ko-KR" dirty="0"/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 marL="285750" indent="-28575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ko-KR" altLang="ko-KR" dirty="0"/>
              <a:t>완료</a:t>
            </a:r>
            <a:r>
              <a:rPr lang="en-US" altLang="ko-KR" dirty="0"/>
              <a:t>(D)</a:t>
            </a:r>
            <a:r>
              <a:rPr lang="ko-KR" altLang="ko-KR" dirty="0"/>
              <a:t>에 결과</a:t>
            </a:r>
            <a:r>
              <a:rPr lang="en-US" altLang="ko-KR" dirty="0"/>
              <a:t>·</a:t>
            </a:r>
            <a:r>
              <a:rPr lang="ko-KR" altLang="ko-KR" dirty="0"/>
              <a:t>현재</a:t>
            </a:r>
            <a:r>
              <a:rPr lang="en-US" altLang="ko-KR" dirty="0"/>
              <a:t>·F/U</a:t>
            </a:r>
            <a:r>
              <a:rPr lang="ko-KR" altLang="ko-KR" dirty="0"/>
              <a:t>가 있으면 추가 확인 요청이 줄어 전문성이 더 잘 발휘됩니다</a:t>
            </a:r>
            <a:r>
              <a:rPr lang="en-US" altLang="ko-KR" dirty="0"/>
              <a:t>.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7191178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A75A60-5BC2-E990-E002-C579F52F8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8. FAQ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421384-1ECF-1502-14F2-8B6E45CBD463}"/>
              </a:ext>
            </a:extLst>
          </p:cNvPr>
          <p:cNvSpPr txBox="1"/>
          <p:nvPr/>
        </p:nvSpPr>
        <p:spPr>
          <a:xfrm>
            <a:off x="839788" y="1376363"/>
            <a:ext cx="10514012" cy="5024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Q1. </a:t>
            </a:r>
            <a:r>
              <a:rPr lang="ko-KR" altLang="en-US" dirty="0"/>
              <a:t>응급 상황(10)이라 전화로 이미 </a:t>
            </a:r>
            <a:r>
              <a:rPr lang="ko-KR" altLang="en-US" dirty="0" err="1"/>
              <a:t>조치받았는데</a:t>
            </a:r>
            <a:r>
              <a:rPr lang="ko-KR" altLang="en-US" dirty="0"/>
              <a:t>, 굳이 메신저에 [</a:t>
            </a:r>
            <a:r>
              <a:rPr lang="ko-KR" altLang="en-US" dirty="0" err="1"/>
              <a:t>A</a:t>
            </a:r>
            <a:r>
              <a:rPr lang="ko-KR" altLang="en-US" dirty="0"/>
              <a:t>]를 또 남겨야 하나요?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Q2. </a:t>
            </a:r>
            <a:r>
              <a:rPr lang="ko-KR" altLang="en-US" dirty="0" err="1"/>
              <a:t>PA가</a:t>
            </a:r>
            <a:r>
              <a:rPr lang="ko-KR" altLang="en-US" dirty="0"/>
              <a:t> [C] 보호기록을 남겼는데, 상황이 더 안 좋아지면 어떡하죠?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Q3. </a:t>
            </a:r>
            <a:r>
              <a:rPr lang="ko-KR" altLang="en-US" dirty="0"/>
              <a:t>기존 [</a:t>
            </a:r>
            <a:r>
              <a:rPr lang="ko-KR" altLang="en-US" dirty="0" err="1"/>
              <a:t>A</a:t>
            </a:r>
            <a:r>
              <a:rPr lang="ko-KR" altLang="en-US" dirty="0"/>
              <a:t>]가 아직 [</a:t>
            </a:r>
            <a:r>
              <a:rPr lang="ko-KR" altLang="en-US" dirty="0" err="1"/>
              <a:t>D</a:t>
            </a:r>
            <a:r>
              <a:rPr lang="ko-KR" altLang="en-US" dirty="0"/>
              <a:t>] 처리가 안 됐는데 다시 [</a:t>
            </a:r>
            <a:r>
              <a:rPr lang="ko-KR" altLang="en-US" dirty="0" err="1"/>
              <a:t>A</a:t>
            </a:r>
            <a:r>
              <a:rPr lang="ko-KR" altLang="en-US" dirty="0"/>
              <a:t>]를 올려도 되나요?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Q4. </a:t>
            </a:r>
            <a:r>
              <a:rPr lang="ko-KR" altLang="en-US" dirty="0"/>
              <a:t>바빠 죽겠는데 </a:t>
            </a:r>
            <a:r>
              <a:rPr lang="ko-KR" altLang="en-US" dirty="0" err="1"/>
              <a:t>CaseID랑</a:t>
            </a:r>
            <a:r>
              <a:rPr lang="ko-KR" altLang="en-US" dirty="0"/>
              <a:t> 환자 정보를 다 적어야 하나요?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Q5. </a:t>
            </a:r>
            <a:r>
              <a:rPr lang="ko-KR" altLang="en-US" dirty="0"/>
              <a:t>밤새 있었던 자잘한 일들을 아침에 한꺼번에 인계하고 싶어요.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Q6. </a:t>
            </a:r>
            <a:r>
              <a:rPr lang="ko-KR" altLang="en-US" dirty="0" err="1"/>
              <a:t>PA가</a:t>
            </a:r>
            <a:r>
              <a:rPr lang="ko-KR" altLang="en-US" dirty="0"/>
              <a:t> 남긴 완료(</a:t>
            </a:r>
            <a:r>
              <a:rPr lang="ko-KR" altLang="en-US" dirty="0" err="1"/>
              <a:t>D</a:t>
            </a:r>
            <a:r>
              <a:rPr lang="ko-KR" altLang="en-US" dirty="0"/>
              <a:t>) 기록이 너무 짧아 인계하기 어려워요.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Q7. </a:t>
            </a:r>
            <a:r>
              <a:rPr lang="ko-KR" altLang="en-US" dirty="0"/>
              <a:t>이 메신저를 쓰면 정말 제 퇴근 시간이 빨라지나요?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Q8. </a:t>
            </a:r>
            <a:r>
              <a:rPr lang="ko-KR" altLang="en-US" dirty="0"/>
              <a:t>[C] 지연 보호기록을 남겼는데, 처치 후 [</a:t>
            </a:r>
            <a:r>
              <a:rPr lang="ko-KR" altLang="en-US" dirty="0" err="1"/>
              <a:t>D</a:t>
            </a:r>
            <a:r>
              <a:rPr lang="ko-KR" altLang="en-US" dirty="0"/>
              <a:t>]를 꼭 다시 남겨야 하나요?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Q9. </a:t>
            </a:r>
            <a:r>
              <a:rPr lang="ko-KR" altLang="en-US" dirty="0"/>
              <a:t>[</a:t>
            </a:r>
            <a:r>
              <a:rPr lang="ko-KR" altLang="en-US" dirty="0" err="1"/>
              <a:t>A</a:t>
            </a:r>
            <a:r>
              <a:rPr lang="ko-KR" altLang="en-US" dirty="0"/>
              <a:t>] 보고는 있는데 퇴근 때까지 [</a:t>
            </a:r>
            <a:r>
              <a:rPr lang="ko-KR" altLang="en-US" dirty="0" err="1"/>
              <a:t>D</a:t>
            </a:r>
            <a:r>
              <a:rPr lang="ko-KR" altLang="en-US" dirty="0"/>
              <a:t>]가 안 올라오면 어떻게 하나요?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Q10. </a:t>
            </a:r>
            <a:r>
              <a:rPr lang="ko-KR" altLang="en-US" dirty="0"/>
              <a:t>어제 올라온 [</a:t>
            </a:r>
            <a:r>
              <a:rPr lang="ko-KR" altLang="en-US" dirty="0" err="1"/>
              <a:t>A</a:t>
            </a:r>
            <a:r>
              <a:rPr lang="ko-KR" altLang="en-US" dirty="0"/>
              <a:t>] 기록에 오늘 [</a:t>
            </a:r>
            <a:r>
              <a:rPr lang="ko-KR" altLang="en-US" dirty="0" err="1"/>
              <a:t>D</a:t>
            </a:r>
            <a:r>
              <a:rPr lang="ko-KR" altLang="en-US" dirty="0"/>
              <a:t>]를 남겨도 되나요?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Q11. </a:t>
            </a:r>
            <a:r>
              <a:rPr lang="ko-KR" altLang="en-US" dirty="0"/>
              <a:t>전날 기록 </a:t>
            </a:r>
            <a:r>
              <a:rPr lang="ko-KR" altLang="en-US" dirty="0" err="1"/>
              <a:t>찾으려니</a:t>
            </a:r>
            <a:r>
              <a:rPr lang="ko-KR" altLang="en-US" dirty="0"/>
              <a:t> </a:t>
            </a:r>
            <a:r>
              <a:rPr lang="ko-KR" altLang="en-US" dirty="0" err="1"/>
              <a:t>렉</a:t>
            </a:r>
            <a:r>
              <a:rPr lang="ko-KR" altLang="en-US" dirty="0"/>
              <a:t>(</a:t>
            </a:r>
            <a:r>
              <a:rPr lang="ko-KR" altLang="en-US" dirty="0" err="1"/>
              <a:t>Lag</a:t>
            </a:r>
            <a:r>
              <a:rPr lang="ko-KR" altLang="en-US" dirty="0"/>
              <a:t>)이 너무 심해요. 해결 방안이 없나요?</a:t>
            </a:r>
          </a:p>
          <a:p>
            <a:pPr>
              <a:lnSpc>
                <a:spcPct val="150000"/>
              </a:lnSpc>
            </a:pPr>
            <a:r>
              <a:rPr lang="ko-KR" altLang="en-US" b="1" dirty="0"/>
              <a:t>Q12. </a:t>
            </a:r>
            <a:r>
              <a:rPr lang="ko-KR" altLang="en-US" dirty="0"/>
              <a:t>"실수로 잘못 올린 기록은 어떻게 하나요? 삭제해도 되나요?"</a:t>
            </a:r>
          </a:p>
        </p:txBody>
      </p:sp>
    </p:spTree>
    <p:extLst>
      <p:ext uri="{BB962C8B-B14F-4D97-AF65-F5344CB8AC3E}">
        <p14:creationId xmlns:p14="http://schemas.microsoft.com/office/powerpoint/2010/main" val="3744987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88894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</TotalTime>
  <Words>1757</Words>
  <Application>Microsoft Office PowerPoint</Application>
  <PresentationFormat>와이드스크린</PresentationFormat>
  <Paragraphs>187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KoPub돋움체 Bold</vt:lpstr>
      <vt:lpstr>KoPub돋움체 Light</vt:lpstr>
      <vt:lpstr>Malgun Gothic</vt:lpstr>
      <vt:lpstr>Malgun Gothic</vt:lpstr>
      <vt:lpstr>Arial</vt:lpstr>
      <vt:lpstr>Wingdings</vt:lpstr>
      <vt:lpstr>1_Office 테마</vt:lpstr>
      <vt:lpstr>[2026 QI] WeValue 우리가치</vt:lpstr>
      <vt:lpstr>목차</vt:lpstr>
      <vt:lpstr>1. 프로젝트 필요성</vt:lpstr>
      <vt:lpstr>2. 문제 분석</vt:lpstr>
      <vt:lpstr>3. 핵심지표 및 목표</vt:lpstr>
      <vt:lpstr>4. 협업 도구</vt:lpstr>
      <vt:lpstr>4. 협업 도구 ( 협업메신저 대화방 )</vt:lpstr>
      <vt:lpstr>4. 협업 도구 ( 협업메신저 대화방 )</vt:lpstr>
      <vt:lpstr>4. 협업 도구 ( 협업메신저 대화방 )</vt:lpstr>
      <vt:lpstr>4. 협업 도구 ( 협업메신저 대화방 )</vt:lpstr>
      <vt:lpstr>4. 협업 도구 ( 협업메신저 대화방 )</vt:lpstr>
      <vt:lpstr>4. 협업 도구 ( 협업메신저 대화방 )</vt:lpstr>
      <vt:lpstr>4. 협업 도구 ( QR안내 )</vt:lpstr>
      <vt:lpstr>5. 기타 업무지원</vt:lpstr>
      <vt:lpstr>5. 기타 업무지원</vt:lpstr>
      <vt:lpstr>5. 기타 업무지원</vt:lpstr>
      <vt:lpstr>5. 기타 업무지원</vt:lpstr>
      <vt:lpstr>6. 실제 협업 사례</vt:lpstr>
      <vt:lpstr>6. 실제 협업 사례</vt:lpstr>
      <vt:lpstr>7. 협업 변화 및 기대 효과</vt:lpstr>
      <vt:lpstr>8. FAQ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성민 임</dc:creator>
  <cp:lastModifiedBy>라희 임</cp:lastModifiedBy>
  <cp:revision>824</cp:revision>
  <dcterms:created xsi:type="dcterms:W3CDTF">2026-03-04T12:11:45Z</dcterms:created>
  <dcterms:modified xsi:type="dcterms:W3CDTF">2026-03-08T11:15:05Z</dcterms:modified>
</cp:coreProperties>
</file>