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69" r:id="rId3"/>
    <p:sldId id="310" r:id="rId4"/>
    <p:sldId id="294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7" pos="3863" userDrawn="1">
          <p15:clr>
            <a:srgbClr val="A4A3A4"/>
          </p15:clr>
        </p15:guide>
        <p15:guide id="9" pos="7151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  <p15:guide id="11" orient="horz" pos="3952" userDrawn="1">
          <p15:clr>
            <a:srgbClr val="A4A3A4"/>
          </p15:clr>
        </p15:guide>
        <p15:guide id="12" orient="horz" pos="867" userDrawn="1">
          <p15:clr>
            <a:srgbClr val="A4A3A4"/>
          </p15:clr>
        </p15:guide>
        <p15:guide id="13" orient="horz" pos="12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3487" autoAdjust="0"/>
  </p:normalViewPr>
  <p:slideViewPr>
    <p:cSldViewPr snapToGrid="0">
      <p:cViewPr varScale="1">
        <p:scale>
          <a:sx n="148" d="100"/>
          <a:sy n="148" d="100"/>
        </p:scale>
        <p:origin x="552" y="132"/>
      </p:cViewPr>
      <p:guideLst>
        <p:guide pos="234"/>
        <p:guide pos="7446"/>
        <p:guide pos="529"/>
        <p:guide pos="3863"/>
        <p:guide pos="7151"/>
        <p:guide orient="horz" pos="2160"/>
        <p:guide orient="horz" pos="3952"/>
        <p:guide orient="horz" pos="867"/>
        <p:guide orient="horz" pos="120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2001C-857C-44DF-8FE3-7E7EA72EA642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A9A12-E110-4E26-8834-B65FA9FF0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8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500" dirty="0"/>
              <a:t>안녕하십니까</a:t>
            </a:r>
            <a:r>
              <a:rPr lang="en-US" altLang="ko-KR" sz="500" dirty="0"/>
              <a:t>. 2026</a:t>
            </a:r>
            <a:r>
              <a:rPr lang="ko-KR" altLang="en-US" sz="500" dirty="0"/>
              <a:t>년 진료지원간호팀의 </a:t>
            </a:r>
            <a:r>
              <a:rPr lang="en-US" altLang="ko-KR" sz="500" dirty="0"/>
              <a:t>QI </a:t>
            </a:r>
            <a:r>
              <a:rPr lang="ko-KR" altLang="en-US" sz="500" dirty="0"/>
              <a:t>활동</a:t>
            </a:r>
            <a:r>
              <a:rPr lang="en-US" altLang="ko-KR" sz="500" dirty="0"/>
              <a:t>, **‘</a:t>
            </a:r>
            <a:r>
              <a:rPr lang="ko-KR" altLang="en-US" sz="500" dirty="0"/>
              <a:t>이보다 더 좋을 순 없다</a:t>
            </a:r>
            <a:r>
              <a:rPr lang="en-US" altLang="ko-KR" sz="500" dirty="0"/>
              <a:t>! </a:t>
            </a:r>
            <a:r>
              <a:rPr lang="ko-KR" altLang="en-US" sz="500" dirty="0"/>
              <a:t>협업 기반 간호 현장’**의 발표를 맡은 이비인후과 전담간호사 이미자입니다</a:t>
            </a:r>
            <a:r>
              <a:rPr lang="en-US" altLang="ko-KR" sz="500" dirty="0"/>
              <a:t>.</a:t>
            </a:r>
          </a:p>
          <a:p>
            <a:r>
              <a:rPr lang="ko-KR" altLang="en-US" sz="500" dirty="0"/>
              <a:t>저희 프로젝트 </a:t>
            </a:r>
            <a:r>
              <a:rPr lang="ko-KR" altLang="en-US" sz="500" dirty="0" err="1"/>
              <a:t>팀명인</a:t>
            </a:r>
            <a:r>
              <a:rPr lang="ko-KR" altLang="en-US" sz="500" dirty="0"/>
              <a:t> **‘</a:t>
            </a:r>
            <a:r>
              <a:rPr lang="en-US" altLang="ko-KR" sz="500" dirty="0" err="1"/>
              <a:t>WeValue</a:t>
            </a:r>
            <a:r>
              <a:rPr lang="en-US" altLang="ko-KR" sz="500" dirty="0"/>
              <a:t>(</a:t>
            </a:r>
            <a:r>
              <a:rPr lang="ko-KR" altLang="en-US" sz="500" dirty="0" err="1"/>
              <a:t>우리가치</a:t>
            </a:r>
            <a:r>
              <a:rPr lang="en-US" altLang="ko-KR" sz="500" dirty="0"/>
              <a:t>)’**</a:t>
            </a:r>
            <a:r>
              <a:rPr lang="ko-KR" altLang="en-US" sz="500" dirty="0"/>
              <a:t>에는 두 가지 큰 의미가 담겨 있습니다</a:t>
            </a:r>
            <a:r>
              <a:rPr lang="en-US" altLang="ko-KR" sz="500" dirty="0"/>
              <a:t>. </a:t>
            </a:r>
            <a:r>
              <a:rPr lang="ko-KR" altLang="en-US" sz="500" dirty="0"/>
              <a:t>첫 번째는 진료지원간호사</a:t>
            </a:r>
            <a:r>
              <a:rPr lang="en-US" altLang="ko-KR" sz="500" dirty="0"/>
              <a:t>(PA)</a:t>
            </a:r>
            <a:r>
              <a:rPr lang="ko-KR" altLang="en-US" sz="500" dirty="0"/>
              <a:t>와 병동 간호사가 환자의 회복이라는 하나의 목표를 위해 </a:t>
            </a:r>
            <a:r>
              <a:rPr lang="ko-KR" altLang="en-US" sz="500" b="1" dirty="0"/>
              <a:t>‘우리 같이’</a:t>
            </a:r>
            <a:r>
              <a:rPr lang="ko-KR" altLang="en-US" sz="500" dirty="0"/>
              <a:t> 움직이는 든든한 파트너라는 뜻이며</a:t>
            </a:r>
            <a:r>
              <a:rPr lang="en-US" altLang="ko-KR" sz="500" dirty="0"/>
              <a:t>, </a:t>
            </a:r>
            <a:r>
              <a:rPr lang="ko-KR" altLang="en-US" sz="500" dirty="0"/>
              <a:t>두 번째는 우리 모두가 전문가로서 </a:t>
            </a:r>
            <a:r>
              <a:rPr lang="ko-KR" altLang="en-US" sz="500" dirty="0" err="1"/>
              <a:t>존중받는</a:t>
            </a:r>
            <a:r>
              <a:rPr lang="ko-KR" altLang="en-US" sz="500" dirty="0"/>
              <a:t> **‘우리의 가치’**를 함께 높여보자는 약속입니다</a:t>
            </a:r>
            <a:r>
              <a:rPr lang="en-US" altLang="ko-KR" sz="500" dirty="0"/>
              <a:t>.</a:t>
            </a:r>
          </a:p>
          <a:p>
            <a:r>
              <a:rPr lang="ko-KR" altLang="en-US" sz="500" dirty="0"/>
              <a:t>오늘 이 자리를 통해 우리 모두가 전문가로서의 자부심을 지키며</a:t>
            </a:r>
            <a:r>
              <a:rPr lang="en-US" altLang="ko-KR" sz="500" dirty="0"/>
              <a:t>, </a:t>
            </a:r>
            <a:r>
              <a:rPr lang="ko-KR" altLang="en-US" sz="500" dirty="0"/>
              <a:t>더 기분 좋게 일할 수 있는 협업 기반의 간호 현장을 함께 설계해보고자 합니다</a:t>
            </a:r>
            <a:r>
              <a:rPr lang="en-US" altLang="ko-KR" sz="500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91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900" dirty="0"/>
              <a:t>"</a:t>
            </a:r>
            <a:r>
              <a:rPr lang="ko-KR" altLang="en-US" sz="900" dirty="0"/>
              <a:t>오늘 간담회는 우리가 모인 취지를 공유하고</a:t>
            </a:r>
            <a:r>
              <a:rPr lang="en-US" altLang="ko-KR" sz="900" dirty="0"/>
              <a:t>, </a:t>
            </a:r>
            <a:r>
              <a:rPr lang="ko-KR" altLang="en-US" sz="900" dirty="0"/>
              <a:t>현장의 숙제들을 함께 살펴본 뒤 선생님들의 생생한 의견을 듣는 순서로 채워보고자 합니다</a:t>
            </a:r>
            <a:r>
              <a:rPr lang="en-US" altLang="ko-KR" sz="900" dirty="0"/>
              <a:t>."</a:t>
            </a:r>
            <a:endParaRPr lang="ko-KR" altLang="en-US" sz="9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285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800" dirty="0"/>
              <a:t>"</a:t>
            </a:r>
            <a:r>
              <a:rPr lang="ko-KR" altLang="en-US" sz="800" dirty="0"/>
              <a:t>우리는 환자의 회복이라는 같은 목표를 가진 든든한 파트너입니다</a:t>
            </a:r>
            <a:r>
              <a:rPr lang="en-US" altLang="ko-KR" sz="800" dirty="0"/>
              <a:t>. </a:t>
            </a:r>
            <a:r>
              <a:rPr lang="ko-KR" altLang="en-US" sz="800" dirty="0"/>
              <a:t>하지만 현장의 바쁜 흐름 속에서 소통의 빈틈이 생길 때마다 마음이 </a:t>
            </a:r>
            <a:r>
              <a:rPr lang="ko-KR" altLang="en-US" sz="800" dirty="0" err="1"/>
              <a:t>무거우셨으리라</a:t>
            </a:r>
            <a:r>
              <a:rPr lang="ko-KR" altLang="en-US" sz="800" dirty="0"/>
              <a:t> 생각합니다</a:t>
            </a:r>
            <a:r>
              <a:rPr lang="en-US" altLang="ko-KR" sz="800" dirty="0"/>
              <a:t>. </a:t>
            </a:r>
            <a:r>
              <a:rPr lang="ko-KR" altLang="en-US" sz="800" dirty="0"/>
              <a:t>오늘 이 자리는</a:t>
            </a:r>
            <a:r>
              <a:rPr lang="en-US" altLang="ko-KR" sz="800" dirty="0"/>
              <a:t>, </a:t>
            </a:r>
            <a:r>
              <a:rPr lang="ko-KR" altLang="en-US" sz="800" dirty="0"/>
              <a:t>전문가로서의 자부심을 지키며 일할 수 있는 **‘우리만의 건강한 기준’**을 함께 고민해보기 위해 마련하였습니다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."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본론으로 들어가기 전 가벼운 질문 하나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드릴게요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업무하시면서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 혹은 병동 선생님과 소통할 때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말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혹은 이 행동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덕분에 한결 수월했다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싶었던 순간이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초라도 있으셨나요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팀명이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우리가치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만큼 여쭤보고 싶습니다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선생님들이 생각하시기에 **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정말 기분 좋은 협업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'**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한 문장이나 단어로 표현한다면 무엇일까요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일주일 동안 협업하면서 서로에게 가장 많이 했던 말이 무엇인가요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혹시 그 말이 서로를 힘들게 하는 말은 아니었는지 오늘 함께 돌아보고자 합니다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492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바쁘신 와중에도 우리 모두의 더 나은 내일을 위해 </a:t>
            </a:r>
            <a:r>
              <a:rPr lang="ko-KR" altLang="en-US" dirty="0" err="1"/>
              <a:t>함께해주셔서</a:t>
            </a:r>
            <a:r>
              <a:rPr lang="ko-KR" altLang="en-US" dirty="0"/>
              <a:t> 진심으로 감사합니다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783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63B2B-AF03-07AD-EE0A-B42A3C6B7980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A0A0659D-0D17-3ECD-5DAD-5C88B84A5B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72" y="408424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23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667" kern="1200" baseline="0" dirty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73A9FFC-5E32-F50E-16FF-71E12955C696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_x189390376" descr="EMB000038242a1a">
            <a:extLst>
              <a:ext uri="{FF2B5EF4-FFF2-40B4-BE49-F238E27FC236}">
                <a16:creationId xmlns:a16="http://schemas.microsoft.com/office/drawing/2014/main" id="{3B75B0BB-08A8-4824-8F99-4276338C56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C1B334-1EF5-DB6E-79C6-F0904302352B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68252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67" baseline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518D108-BBB9-0418-457E-A2BC08201BD7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162BFC0-2B93-4ACD-6516-DF91A308E5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6B1A33-C984-3543-525C-D33AE1A27553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412037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5239836" y="2955379"/>
            <a:ext cx="2004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Q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4400" b="0" dirty="0">
                <a:solidFill>
                  <a:srgbClr val="24549C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&amp;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A77E5-BC2C-5174-FE30-64288EF652B5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57695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388D911-2050-41D3-35D1-D680581078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204" y="2856850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6165299" y="2955379"/>
            <a:ext cx="28087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감사합니다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2F4C66-AEE7-4773-FBFC-D3B3A41A27E7}"/>
              </a:ext>
            </a:extLst>
          </p:cNvPr>
          <p:cNvSpPr txBox="1"/>
          <p:nvPr userDrawn="1"/>
        </p:nvSpPr>
        <p:spPr>
          <a:xfrm flipH="1">
            <a:off x="6568807" y="372482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9EEB4C2-158E-04B1-36F8-7F9B0E2539F0}"/>
              </a:ext>
            </a:extLst>
          </p:cNvPr>
          <p:cNvCxnSpPr>
            <a:cxnSpLocks/>
          </p:cNvCxnSpPr>
          <p:nvPr userDrawn="1"/>
        </p:nvCxnSpPr>
        <p:spPr>
          <a:xfrm>
            <a:off x="6210300" y="3724820"/>
            <a:ext cx="261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5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778000" y="365126"/>
            <a:ext cx="9575800" cy="782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55E2E-83CD-4389-B2E3-FB6950584B2A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1AF2F3-873C-4833-A021-6053E3D69AA7}"/>
              </a:ext>
            </a:extLst>
          </p:cNvPr>
          <p:cNvSpPr/>
          <p:nvPr userDrawn="1"/>
        </p:nvSpPr>
        <p:spPr>
          <a:xfrm>
            <a:off x="0" y="-25400"/>
            <a:ext cx="12192000" cy="211667"/>
          </a:xfrm>
          <a:prstGeom prst="rect">
            <a:avLst/>
          </a:prstGeom>
          <a:solidFill>
            <a:srgbClr val="245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6029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8" r:id="rId4"/>
    <p:sldLayoutId id="2147483667" r:id="rId5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D07D6-7EED-E5FD-9A0C-A37F9EB36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0" y="1122363"/>
            <a:ext cx="10180320" cy="2387600"/>
          </a:xfrm>
        </p:spPr>
        <p:txBody>
          <a:bodyPr/>
          <a:lstStyle/>
          <a:p>
            <a:r>
              <a:rPr lang="en-US" altLang="ko-KR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[2026 QI] </a:t>
            </a:r>
            <a:r>
              <a:rPr lang="en-US" altLang="ko-KR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WeValue</a:t>
            </a:r>
            <a:r>
              <a:rPr lang="ko-KR" altLang="en-US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우리가치</a:t>
            </a:r>
            <a:endParaRPr lang="ko-KR" altLang="en-US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DA704A-5687-F92C-E2BA-36DBE2787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9973" y="3602038"/>
            <a:ext cx="7972054" cy="2139881"/>
          </a:xfrm>
        </p:spPr>
        <p:txBody>
          <a:bodyPr wrap="none">
            <a:spAutoFit/>
          </a:bodyPr>
          <a:lstStyle/>
          <a:p>
            <a:r>
              <a:rPr lang="ko-KR" altLang="en-US" sz="36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이보다 더 좋을 순 없다</a:t>
            </a:r>
            <a:r>
              <a:rPr lang="en-US" altLang="ko-KR" sz="36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! </a:t>
            </a:r>
            <a:r>
              <a:rPr lang="ko-KR" altLang="en-US" sz="36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협업기반 간호 현장</a:t>
            </a:r>
            <a:endParaRPr lang="en-US" altLang="ko-KR" sz="3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endParaRPr lang="en-US" altLang="ko-KR" sz="3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endParaRPr lang="en-US" altLang="ko-KR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발표자 </a:t>
            </a: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endParaRPr lang="ko-KR" altLang="en-US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7553C289-4693-A1E1-ACA9-3EFD52D20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F98D6-0ABC-F63F-EE74-930F57BEDD2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78000" y="1406131"/>
            <a:ext cx="8470900" cy="4981966"/>
          </a:xfrm>
        </p:spPr>
        <p:txBody>
          <a:bodyPr wrap="none">
            <a:normAutofit/>
          </a:bodyPr>
          <a:lstStyle/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endParaRPr lang="ko-KR" altLang="en-US" sz="20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6926918-9A45-1CC6-3FE4-C26ABF297F02}"/>
              </a:ext>
            </a:extLst>
          </p:cNvPr>
          <p:cNvCxnSpPr/>
          <p:nvPr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116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51D1B-0DB5-A282-D99E-57AC7CC3D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3013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8889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896</TotalTime>
  <Words>293</Words>
  <Application>Microsoft Office PowerPoint</Application>
  <PresentationFormat>와이드스크린</PresentationFormat>
  <Paragraphs>20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KoPub돋움체 Bold</vt:lpstr>
      <vt:lpstr>KoPub돋움체 Light</vt:lpstr>
      <vt:lpstr>맑은 고딕</vt:lpstr>
      <vt:lpstr>Arial</vt:lpstr>
      <vt:lpstr>1_Office 테마</vt:lpstr>
      <vt:lpstr>[2026 QI] WeValue 우리가치</vt:lpstr>
      <vt:lpstr>목차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[2026 QI] WeValue 우리가치</dc:title>
  <dc:creator>성민 임</dc:creator>
  <cp:lastModifiedBy>rahee</cp:lastModifiedBy>
  <cp:revision>882</cp:revision>
  <dcterms:created xsi:type="dcterms:W3CDTF">2026-03-04T12:11:45Z</dcterms:created>
  <dcterms:modified xsi:type="dcterms:W3CDTF">2026-05-03T07:29:06Z</dcterms:modified>
</cp:coreProperties>
</file>