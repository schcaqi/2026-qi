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9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85092-6553-50D5-A7D1-BA79F3E0A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5E0956-078C-D575-7FD1-F75CB069C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433577-D3BA-8B2A-C051-06CDD0FC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D6075-765F-520B-2F38-546248DDC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27E29-08B0-4D5D-6634-E9DABB7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34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78BC1-9E5D-FADC-4D7D-4050157D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F4A44-D29E-88D5-C46E-0A23D3AF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3805A-51F0-DC6C-EDFB-33FD0EFC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9D9A1-CC8A-CC68-39B4-A418010B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28A60-928C-8DB6-E70F-90F57BD1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4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DD51D-092B-D217-8B00-6534701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13315-5F0E-C02D-7146-56C4F832C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65C0D-01C4-1EFE-689E-A3BAE84F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4F913-46AB-79CF-EAB4-B642D39A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94C4A-35C7-7F18-DE88-D28CC527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5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4397F-D24B-F21A-5F74-B38A3CD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C55DB-22A5-E26F-159D-27F4E7056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2E531-9FED-1F40-157D-8E2F38575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8BF3C-8130-FE80-4ED2-3E388C8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084539-470D-8284-BCE6-B9AACA75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C22CDC-0B36-0BDF-8CE6-EA70FE48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1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97EED-A249-D09F-151E-FA696988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DE38A2-B7F8-6E1C-3198-4121F78C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A86551-E743-AD28-6047-77A90EFE4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D4567-0678-7A8B-3D76-0CDC96283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09B5F-C598-EBE4-E9D8-90E867294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9FA69-CF6C-1C5B-2592-485E188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D89532-004A-8080-8B98-3E82011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F95951-ECBB-C719-B503-89A01CC3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26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EE36-1DAC-8EF3-5F02-CA0DDB6D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085917-C9D2-4FA6-C28E-143EBD05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5F10-C89C-698C-DCE1-7ABDEBEF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7F4B83-18CB-372C-624A-32C1E8A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7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D57476-76F2-CB85-08B4-FCA41510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1A8B1C-84A1-D4BC-9E56-964EAC5B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7BAC4-985B-C4F7-D76C-8B03D0A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6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BB3D9-FB65-E663-A309-DE27841F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2F9FC-D258-71DE-220D-B71D50A4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EE103-FAB2-4370-D695-9ADD14385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3F9C8-D7A9-9FF7-1ED5-7D2CD25C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1F98CE-66D7-2695-B4B2-A9F1DFD3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512E3E-1E79-A008-194A-E90CEEA3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19C9-F0DF-B761-AC92-4F63C00A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E88BC2-9605-4FF2-FCCC-A6EDED97A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80C5F-8D6F-869C-59E4-A0DCCF895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7087B8-9E2D-57E4-8C5B-501EDDFE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0266B0-549C-7601-E3E2-849D872A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94F64-F3D3-F535-E7CE-04E5FC89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31041-9AD6-DD70-DC29-3983F76E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0E254-6ED7-5794-828B-2205E3A4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8CE77-48C3-132F-4D02-2D0A6E51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1228-4FB5-873C-0490-D84C559E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51955C-31FD-E59C-B185-3709EAC3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21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85B37C-CC8B-3521-D9DB-3916D8617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22D40B-33B8-4A0F-D8BC-707702703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04BB9-201E-A511-09FB-18E1A0D4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AF6F9-29BA-3019-C9BD-F44D36F0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3EBA7-5FEE-3995-1851-06A82481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45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96B51D-4892-A99F-2C34-DFFEF864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820D1-6730-3A1B-84D2-B5E8763EB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356FA-2D1F-13F8-298C-7C416B06E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FEF37-A916-4689-81C8-A08F7ED42DA8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FDC45-4627-9098-6BDB-53BF50768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C09AE-7C13-4C96-90A4-CDD5403EE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22424-A361-4855-B29A-D61BD8890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7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273" y="1122363"/>
            <a:ext cx="10529454" cy="2387600"/>
          </a:xfrm>
        </p:spPr>
        <p:txBody>
          <a:bodyPr/>
          <a:lstStyle/>
          <a:p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[2026 QI] </a:t>
            </a:r>
            <a:r>
              <a:rPr lang="en-US" altLang="ko-KR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WeValue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우리가치</a:t>
            </a:r>
            <a:endParaRPr lang="ko-KR" altLang="en-US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/>
              <a:t>이보다 더 좋을 순 없다</a:t>
            </a:r>
            <a:r>
              <a:rPr lang="en-US" altLang="ko-KR" b="1" dirty="0"/>
              <a:t>! </a:t>
            </a:r>
            <a:r>
              <a:rPr lang="ko-KR" altLang="en-US" b="1" dirty="0"/>
              <a:t>협업기반 간호 현장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0156E-75C3-19E9-E63B-BEA957A1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프로젝트의 목표와 방향</a:t>
            </a:r>
            <a:endParaRPr lang="en-US" altLang="ko-KR" dirty="0"/>
          </a:p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시스템 지원</a:t>
            </a:r>
            <a:endParaRPr lang="en-US" altLang="ko-KR" dirty="0"/>
          </a:p>
          <a:p>
            <a:r>
              <a:rPr lang="ko-KR" altLang="en-US" dirty="0"/>
              <a:t>시스템 제작은 어떻게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KPI </a:t>
            </a:r>
            <a:r>
              <a:rPr lang="ko-KR" altLang="en-US" dirty="0"/>
              <a:t>측정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9DD5-B508-BE04-109F-E61BDD21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F353E4D-8F8F-F946-5067-0D0FB5B40E74}"/>
              </a:ext>
            </a:extLst>
          </p:cNvPr>
          <p:cNvSpPr/>
          <p:nvPr/>
        </p:nvSpPr>
        <p:spPr>
          <a:xfrm>
            <a:off x="44831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CB7BBFE-87A7-84E2-3CD6-39C417552FC6}"/>
              </a:ext>
            </a:extLst>
          </p:cNvPr>
          <p:cNvSpPr/>
          <p:nvPr/>
        </p:nvSpPr>
        <p:spPr>
          <a:xfrm>
            <a:off x="81280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D826FFB-C572-A1CD-8429-B06F22746B1B}"/>
              </a:ext>
            </a:extLst>
          </p:cNvPr>
          <p:cNvSpPr/>
          <p:nvPr/>
        </p:nvSpPr>
        <p:spPr>
          <a:xfrm>
            <a:off x="838200" y="1924050"/>
            <a:ext cx="3225800" cy="39964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0EEF2F-5AAD-5A89-C5BD-F73CC758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프로젝트의 목표와 방향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192515-A345-9434-873E-BA4E26EFFD66}"/>
              </a:ext>
            </a:extLst>
          </p:cNvPr>
          <p:cNvSpPr/>
          <p:nvPr/>
        </p:nvSpPr>
        <p:spPr>
          <a:xfrm>
            <a:off x="969818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PA(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진료지원간호사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)–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간호사 협업 체계를 통합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1BF699-1991-BFE8-77BE-2C973BBB691E}"/>
              </a:ext>
            </a:extLst>
          </p:cNvPr>
          <p:cNvSpPr/>
          <p:nvPr/>
        </p:nvSpPr>
        <p:spPr>
          <a:xfrm>
            <a:off x="4548909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소통 방식 개선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을 통해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업무흐름을 더욱 원활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하게 하고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소요시간을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예측 가능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하게 하여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환자 안전 및 업무 환경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을 개선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보다 명확한 업무환경을 조성하여 일하기 좋은 환경을 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D122FB-DA77-43DB-3AD5-CB6A5B3B1E9D}"/>
              </a:ext>
            </a:extLst>
          </p:cNvPr>
          <p:cNvSpPr/>
          <p:nvPr/>
        </p:nvSpPr>
        <p:spPr>
          <a:xfrm>
            <a:off x="8128000" y="2096655"/>
            <a:ext cx="3094182" cy="3823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 환경에 대한 내부 설문조사 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내부 고객 만족도</a:t>
            </a:r>
            <a:endParaRPr lang="en-US" altLang="ko-KR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</a:t>
            </a:r>
            <a:r>
              <a:rPr lang="ko-KR" altLang="en-US" b="1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 이상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</a:t>
            </a:r>
            <a:r>
              <a:rPr lang="en-US" altLang="ko-KR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/PA)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달성 목표</a:t>
            </a:r>
          </a:p>
          <a:p>
            <a:pPr algn="ctr"/>
            <a:endParaRPr lang="ko-KR" altLang="en-US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D838D48-5BF9-7C3E-CA11-726B7534AC7E}"/>
              </a:ext>
            </a:extLst>
          </p:cNvPr>
          <p:cNvSpPr/>
          <p:nvPr/>
        </p:nvSpPr>
        <p:spPr>
          <a:xfrm>
            <a:off x="4202545" y="3429000"/>
            <a:ext cx="267855" cy="98598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E85DB5A7-B907-C677-CB48-BB0D8980F729}"/>
              </a:ext>
            </a:extLst>
          </p:cNvPr>
          <p:cNvSpPr/>
          <p:nvPr/>
        </p:nvSpPr>
        <p:spPr>
          <a:xfrm>
            <a:off x="7751618" y="3429000"/>
            <a:ext cx="267855" cy="98598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84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D3166C6-0F6E-F981-B48A-DF316348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C21C65-9860-DA0B-69CD-9E4E54D9F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과별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사내메신저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협업 대화방 상시 운영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7A6904F-9D10-5BFE-111F-FB66E6DA4F54}"/>
              </a:ext>
            </a:extLst>
          </p:cNvPr>
          <p:cNvSpPr/>
          <p:nvPr/>
        </p:nvSpPr>
        <p:spPr>
          <a:xfrm>
            <a:off x="82296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DB25B06-9962-6FC2-ADAF-2BD96C1C08B4}"/>
              </a:ext>
            </a:extLst>
          </p:cNvPr>
          <p:cNvSpPr/>
          <p:nvPr/>
        </p:nvSpPr>
        <p:spPr>
          <a:xfrm>
            <a:off x="105156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92W–MC</a:t>
            </a:r>
            <a:endParaRPr lang="en-US" sz="20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736D943-EDD3-7766-6AF6-F17408964EA3}"/>
              </a:ext>
            </a:extLst>
          </p:cNvPr>
          <p:cNvSpPr/>
          <p:nvPr/>
        </p:nvSpPr>
        <p:spPr>
          <a:xfrm>
            <a:off x="105156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07503583-4F52-55C5-61E9-A2D18DCA86BB}"/>
              </a:ext>
            </a:extLst>
          </p:cNvPr>
          <p:cNvSpPr/>
          <p:nvPr/>
        </p:nvSpPr>
        <p:spPr>
          <a:xfrm>
            <a:off x="441960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A9A4C21-E371-B091-FF0F-92B1FCCA23F0}"/>
              </a:ext>
            </a:extLst>
          </p:cNvPr>
          <p:cNvSpPr/>
          <p:nvPr/>
        </p:nvSpPr>
        <p:spPr>
          <a:xfrm>
            <a:off x="464820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92W–CS</a:t>
            </a:r>
            <a:endParaRPr lang="en-US" sz="2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DBE1A0AC-D3A7-75F3-B60A-A5870686C553}"/>
              </a:ext>
            </a:extLst>
          </p:cNvPr>
          <p:cNvSpPr/>
          <p:nvPr/>
        </p:nvSpPr>
        <p:spPr>
          <a:xfrm>
            <a:off x="464820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9EB1256-973F-40CF-6A72-059B7CF0274A}"/>
              </a:ext>
            </a:extLst>
          </p:cNvPr>
          <p:cNvSpPr/>
          <p:nvPr/>
        </p:nvSpPr>
        <p:spPr>
          <a:xfrm>
            <a:off x="8016240" y="274891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6B5A2BD-5EDC-EF70-D204-809C53DC8EB7}"/>
              </a:ext>
            </a:extLst>
          </p:cNvPr>
          <p:cNvSpPr/>
          <p:nvPr/>
        </p:nvSpPr>
        <p:spPr>
          <a:xfrm>
            <a:off x="8244840" y="297751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131W–URO</a:t>
            </a:r>
            <a:endParaRPr lang="en-US" sz="20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FBD4E5D-990E-596E-FFAC-1EBEB7565762}"/>
              </a:ext>
            </a:extLst>
          </p:cNvPr>
          <p:cNvSpPr/>
          <p:nvPr/>
        </p:nvSpPr>
        <p:spPr>
          <a:xfrm>
            <a:off x="8244840" y="34804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FC418D37-0873-3A9C-39CB-99B593B9A42C}"/>
              </a:ext>
            </a:extLst>
          </p:cNvPr>
          <p:cNvSpPr/>
          <p:nvPr/>
        </p:nvSpPr>
        <p:spPr>
          <a:xfrm>
            <a:off x="82296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72608E9-44F0-1BF6-A390-4F5C094DA024}"/>
              </a:ext>
            </a:extLst>
          </p:cNvPr>
          <p:cNvSpPr/>
          <p:nvPr/>
        </p:nvSpPr>
        <p:spPr>
          <a:xfrm>
            <a:off x="105156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131W–ENT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C1EF115-B55B-F212-EA68-9E22EA93001D}"/>
              </a:ext>
            </a:extLst>
          </p:cNvPr>
          <p:cNvSpPr/>
          <p:nvPr/>
        </p:nvSpPr>
        <p:spPr>
          <a:xfrm>
            <a:off x="105156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F2B66D9E-F471-8012-2F01-D1AB86C7C9CE}"/>
              </a:ext>
            </a:extLst>
          </p:cNvPr>
          <p:cNvSpPr/>
          <p:nvPr/>
        </p:nvSpPr>
        <p:spPr>
          <a:xfrm>
            <a:off x="441960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7FDD6C41-B19B-F969-CC74-5F5B8C8DFE78}"/>
              </a:ext>
            </a:extLst>
          </p:cNvPr>
          <p:cNvSpPr/>
          <p:nvPr/>
        </p:nvSpPr>
        <p:spPr>
          <a:xfrm>
            <a:off x="464820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141W–MH</a:t>
            </a:r>
            <a:endParaRPr lang="en-US" sz="20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75B93685-02BE-5A09-92DF-42168A5025AD}"/>
              </a:ext>
            </a:extLst>
          </p:cNvPr>
          <p:cNvSpPr/>
          <p:nvPr/>
        </p:nvSpPr>
        <p:spPr>
          <a:xfrm>
            <a:off x="464820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2EFF6CF0-EB5B-9DD5-F9C5-014371123380}"/>
              </a:ext>
            </a:extLst>
          </p:cNvPr>
          <p:cNvSpPr/>
          <p:nvPr/>
        </p:nvSpPr>
        <p:spPr>
          <a:xfrm>
            <a:off x="8016240" y="4486275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608DA4B2-6D6F-7E32-0511-4576C505A2EE}"/>
              </a:ext>
            </a:extLst>
          </p:cNvPr>
          <p:cNvSpPr/>
          <p:nvPr/>
        </p:nvSpPr>
        <p:spPr>
          <a:xfrm>
            <a:off x="8244840" y="4714875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142W–MH</a:t>
            </a:r>
            <a:endParaRPr lang="en-US" sz="20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7B603323-1557-3182-B567-A9B7EBB1AE67}"/>
              </a:ext>
            </a:extLst>
          </p:cNvPr>
          <p:cNvSpPr/>
          <p:nvPr/>
        </p:nvSpPr>
        <p:spPr>
          <a:xfrm>
            <a:off x="8244840" y="52177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872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541C-8101-5601-74F0-D99C7C0D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6937B-AC92-4D59-0F1F-BFBE0C3F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F939EC2-AEED-FBB3-218C-AC93D34C3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10·4·12 (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골든타임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 체계 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63A883C7-751F-91AA-FA79-96749367629B}"/>
              </a:ext>
            </a:extLst>
          </p:cNvPr>
          <p:cNvSpPr/>
          <p:nvPr/>
        </p:nvSpPr>
        <p:spPr>
          <a:xfrm>
            <a:off x="822960" y="2288540"/>
            <a:ext cx="10607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EF8734-7900-4357-C1A6-E7DC20EBA67C}"/>
              </a:ext>
            </a:extLst>
          </p:cNvPr>
          <p:cNvSpPr/>
          <p:nvPr/>
        </p:nvSpPr>
        <p:spPr>
          <a:xfrm>
            <a:off x="1097280" y="24257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7553EB6-CDCC-71F7-75AB-E056080711B5}"/>
              </a:ext>
            </a:extLst>
          </p:cNvPr>
          <p:cNvSpPr/>
          <p:nvPr/>
        </p:nvSpPr>
        <p:spPr>
          <a:xfrm>
            <a:off x="2103120" y="24714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6D11A6B-FE44-36DC-E6D8-EB2D3B78169D}"/>
              </a:ext>
            </a:extLst>
          </p:cNvPr>
          <p:cNvSpPr/>
          <p:nvPr/>
        </p:nvSpPr>
        <p:spPr>
          <a:xfrm>
            <a:off x="3108960" y="23799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안전/상태 급변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유선 우선 + 사후 1줄 기록</a:t>
            </a:r>
            <a:endParaRPr lang="en-US"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C96376-453D-3338-D9A4-BE854308E96E}"/>
              </a:ext>
            </a:extLst>
          </p:cNvPr>
          <p:cNvSpPr/>
          <p:nvPr/>
        </p:nvSpPr>
        <p:spPr>
          <a:xfrm>
            <a:off x="1005840" y="324866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1453A00-3BD1-4B76-8C63-D811D274AE9A}"/>
              </a:ext>
            </a:extLst>
          </p:cNvPr>
          <p:cNvSpPr/>
          <p:nvPr/>
        </p:nvSpPr>
        <p:spPr>
          <a:xfrm>
            <a:off x="1097280" y="33401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6FAC7FA-DFF4-B5B4-3BE6-9B5398EE6722}"/>
              </a:ext>
            </a:extLst>
          </p:cNvPr>
          <p:cNvSpPr/>
          <p:nvPr/>
        </p:nvSpPr>
        <p:spPr>
          <a:xfrm>
            <a:off x="2103120" y="33858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E722C07-FDAA-1341-D4BA-ABC2C23374C6}"/>
              </a:ext>
            </a:extLst>
          </p:cNvPr>
          <p:cNvSpPr/>
          <p:nvPr/>
        </p:nvSpPr>
        <p:spPr>
          <a:xfrm>
            <a:off x="3108960" y="32943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내 방향/처리 필요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4시간 내 진행이 보이게</a:t>
            </a: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B4BD2BF-0CD7-9E7A-7189-8CB7C681748B}"/>
              </a:ext>
            </a:extLst>
          </p:cNvPr>
          <p:cNvSpPr/>
          <p:nvPr/>
        </p:nvSpPr>
        <p:spPr>
          <a:xfrm>
            <a:off x="1005840" y="416306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0336342-D705-D0FD-1EC5-4EA4123F2B09}"/>
              </a:ext>
            </a:extLst>
          </p:cNvPr>
          <p:cNvSpPr/>
          <p:nvPr/>
        </p:nvSpPr>
        <p:spPr>
          <a:xfrm>
            <a:off x="1097280" y="42545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8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52C0A4C-E976-F7CA-068E-64C53BE6EDF9}"/>
              </a:ext>
            </a:extLst>
          </p:cNvPr>
          <p:cNvSpPr/>
          <p:nvPr/>
        </p:nvSpPr>
        <p:spPr>
          <a:xfrm>
            <a:off x="2103120" y="43002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루틴</a:t>
            </a:r>
            <a:endParaRPr lang="en-US" sz="18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C70BB5A9-9E53-E184-E6A4-F47E230A52C5}"/>
              </a:ext>
            </a:extLst>
          </p:cNvPr>
          <p:cNvSpPr/>
          <p:nvPr/>
        </p:nvSpPr>
        <p:spPr>
          <a:xfrm>
            <a:off x="3108960" y="42087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근무시간 내 순차 처리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12시간 내 완료</a:t>
            </a:r>
            <a:endParaRPr lang="en-US" sz="16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C59BFA38-1831-8022-5CBF-F0E16589FB00}"/>
              </a:ext>
            </a:extLst>
          </p:cNvPr>
          <p:cNvSpPr/>
          <p:nvPr/>
        </p:nvSpPr>
        <p:spPr>
          <a:xfrm>
            <a:off x="822960" y="5397500"/>
            <a:ext cx="106070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4294A5C-8FAB-B6CA-67BF-D0759827BB2F}"/>
              </a:ext>
            </a:extLst>
          </p:cNvPr>
          <p:cNvSpPr/>
          <p:nvPr/>
        </p:nvSpPr>
        <p:spPr>
          <a:xfrm>
            <a:off x="1051560" y="55346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10은 “전화 먼저” (현행 프로토콜 유지)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후에도 협업방에 A 또는 D로 1줄 남깁니다.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44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79D7-10A9-9A1A-2D08-1F0BF603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AF096DF-F973-CA80-8289-02F9C449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5196B5B-0F35-EF6A-757E-2DE5353DE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현장 표준 템플릿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(A–C–D)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102B9AA-D7FA-DDC1-7A8F-4A5E87DBB9DC}"/>
              </a:ext>
            </a:extLst>
          </p:cNvPr>
          <p:cNvSpPr/>
          <p:nvPr/>
        </p:nvSpPr>
        <p:spPr>
          <a:xfrm>
            <a:off x="822960" y="2486025"/>
            <a:ext cx="1060704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9D2C56C-0ACF-97AA-31BB-9A8C06D08867}"/>
              </a:ext>
            </a:extLst>
          </p:cNvPr>
          <p:cNvSpPr/>
          <p:nvPr/>
        </p:nvSpPr>
        <p:spPr>
          <a:xfrm>
            <a:off x="1097280" y="248602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A(보고)  병동→PA</a:t>
            </a:r>
            <a:endParaRPr lang="en-US" sz="18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1019BB7D-3424-C1C1-2FC6-A5FAF5FB5F30}"/>
              </a:ext>
            </a:extLst>
          </p:cNvPr>
          <p:cNvSpPr/>
          <p:nvPr/>
        </p:nvSpPr>
        <p:spPr>
          <a:xfrm>
            <a:off x="1097280" y="2851785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지금:__ / 근거:__ / 요청:__ / 10·4·12</a:t>
            </a:r>
            <a:endParaRPr lang="en-US" sz="18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1B09B3C-7B6C-A97F-205C-B8515598DBBE}"/>
              </a:ext>
            </a:extLst>
          </p:cNvPr>
          <p:cNvSpPr/>
          <p:nvPr/>
        </p:nvSpPr>
        <p:spPr>
          <a:xfrm>
            <a:off x="822960" y="3626802"/>
            <a:ext cx="10607040" cy="1005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DE764DA-7A73-98DB-BFC5-A9DB6687FDD8}"/>
              </a:ext>
            </a:extLst>
          </p:cNvPr>
          <p:cNvSpPr/>
          <p:nvPr/>
        </p:nvSpPr>
        <p:spPr>
          <a:xfrm>
            <a:off x="1097280" y="362680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C(보호기록)  기준 초과 시</a:t>
            </a:r>
            <a:endParaRPr lang="en-US" sz="18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D4A55783-2D19-30A3-7D42-A7582708374E}"/>
              </a:ext>
            </a:extLst>
          </p:cNvPr>
          <p:cNvSpPr/>
          <p:nvPr/>
        </p:nvSpPr>
        <p:spPr>
          <a:xfrm>
            <a:off x="1097280" y="399256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[C] {CaseID} / {사유코드} / 다음확인 HH:MM  (전화 1회 후)</a:t>
            </a:r>
            <a:endParaRPr lang="en-US" sz="18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8020DFD5-6A17-FCC7-DEEB-5879C3079AB7}"/>
              </a:ext>
            </a:extLst>
          </p:cNvPr>
          <p:cNvSpPr/>
          <p:nvPr/>
        </p:nvSpPr>
        <p:spPr>
          <a:xfrm>
            <a:off x="822960" y="4767579"/>
            <a:ext cx="1060704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181FA76-D6FD-CCBE-646F-572D2CFF3CE6}"/>
              </a:ext>
            </a:extLst>
          </p:cNvPr>
          <p:cNvSpPr/>
          <p:nvPr/>
        </p:nvSpPr>
        <p:spPr>
          <a:xfrm>
            <a:off x="1097280" y="4767579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D(완료)  PA→병동</a:t>
            </a:r>
            <a:endParaRPr lang="en-US" sz="18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F4DAB53-E76E-0683-AD1D-9209ED2F50FF}"/>
              </a:ext>
            </a:extLst>
          </p:cNvPr>
          <p:cNvSpPr/>
          <p:nvPr/>
        </p:nvSpPr>
        <p:spPr>
          <a:xfrm>
            <a:off x="1097280" y="5133339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결과:__ / 현재:__ / F/U:__  (필수)</a:t>
            </a:r>
            <a:endParaRPr lang="en-US" sz="18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15AEE0DF-42BD-9998-5037-753D9DE6035B}"/>
              </a:ext>
            </a:extLst>
          </p:cNvPr>
          <p:cNvSpPr/>
          <p:nvPr/>
        </p:nvSpPr>
        <p:spPr>
          <a:xfrm>
            <a:off x="822960" y="5856923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D에는 반드시 F/U(재보고 기준)를 넣어 “인계 가능한 완료”로 만듭니다.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652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3F77-0E18-4C42-4FD4-C248EBF7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D7C7CA-C652-4655-A1A9-FCAFC341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494B4D-483A-583A-248D-34D54E7AE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4.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정보성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입원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검사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자가약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—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라이트루프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E46D667-A5B9-A9CF-B950-5D8DFE88330B}"/>
              </a:ext>
            </a:extLst>
          </p:cNvPr>
          <p:cNvSpPr/>
          <p:nvPr/>
        </p:nvSpPr>
        <p:spPr>
          <a:xfrm>
            <a:off x="1003935" y="2237105"/>
            <a:ext cx="101517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왕복을 줄이되 “확인 완료”는 기록으로 남깁니다.</a:t>
            </a: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798951A-44BA-142F-9C24-E6D93F473DA6}"/>
              </a:ext>
            </a:extLst>
          </p:cNvPr>
          <p:cNvSpPr/>
          <p:nvPr/>
        </p:nvSpPr>
        <p:spPr>
          <a:xfrm>
            <a:off x="822960" y="2696210"/>
            <a:ext cx="10607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F6C8D1-CC7E-0039-A795-39F0D169E0D2}"/>
              </a:ext>
            </a:extLst>
          </p:cNvPr>
          <p:cNvSpPr/>
          <p:nvPr/>
        </p:nvSpPr>
        <p:spPr>
          <a:xfrm>
            <a:off x="1097280" y="294767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[A](보고){CaseID}/12  →  [D]{CaseID}/{이름}/확인완료</a:t>
            </a:r>
            <a:endParaRPr lang="en-US" sz="2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C6462C5-F451-1D6C-FB40-E5C3216A964F}"/>
              </a:ext>
            </a:extLst>
          </p:cNvPr>
          <p:cNvSpPr/>
          <p:nvPr/>
        </p:nvSpPr>
        <p:spPr>
          <a:xfrm>
            <a:off x="822960" y="4069715"/>
            <a:ext cx="106070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BD89280-55A4-4B3E-321A-EFB183F27115}"/>
              </a:ext>
            </a:extLst>
          </p:cNvPr>
          <p:cNvSpPr/>
          <p:nvPr/>
        </p:nvSpPr>
        <p:spPr>
          <a:xfrm>
            <a:off x="1097280" y="406781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예시(복붙)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732D17-0DA5-BE07-8E24-8C1BAE224D90}"/>
              </a:ext>
            </a:extLst>
          </p:cNvPr>
          <p:cNvSpPr/>
          <p:nvPr/>
        </p:nvSpPr>
        <p:spPr>
          <a:xfrm>
            <a:off x="1097280" y="443357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입원 / 신규 입원 완료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검사 / MRI 준비 완료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{CaseID} / 자가약 / 사진 첨부 / 12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[D] {CaseID} / {이름} / 확인완료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3323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E929-1E9D-8053-01E5-7E2867D6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C3E50A-B484-587D-A4C3-E5180AF3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업무소통 환경 통합은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797458A-585B-5C3F-2AD9-D061F680D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0" indent="0">
              <a:spcAft>
                <a:spcPts val="680"/>
              </a:spcAft>
              <a:buSzPct val="10000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5. C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권장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&amp;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중립 표현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D8DA504-7C39-E034-2D74-9EF9532CFE3A}"/>
              </a:ext>
            </a:extLst>
          </p:cNvPr>
          <p:cNvSpPr/>
          <p:nvPr/>
        </p:nvSpPr>
        <p:spPr>
          <a:xfrm>
            <a:off x="822960" y="2450783"/>
            <a:ext cx="10607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7ED13C8-0AAB-6736-5D4E-100474B014C9}"/>
              </a:ext>
            </a:extLst>
          </p:cNvPr>
          <p:cNvSpPr/>
          <p:nvPr/>
        </p:nvSpPr>
        <p:spPr>
          <a:xfrm>
            <a:off x="1097280" y="2587943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사유코드(권장)</a:t>
            </a:r>
            <a:endParaRPr lang="en-US" sz="18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5C60830-EEC8-7170-372F-E192E185D3A9}"/>
              </a:ext>
            </a:extLst>
          </p:cNvPr>
          <p:cNvSpPr/>
          <p:nvPr/>
        </p:nvSpPr>
        <p:spPr>
          <a:xfrm>
            <a:off x="1097280" y="2999423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수술중 · 시술중 · 회진 · 인계 · 응급상황 · 담당부재 · 정보부족 · 인력부족 · 기타</a:t>
            </a:r>
            <a:endParaRPr lang="en-US" sz="1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12B8FD9-AAC9-E36B-956F-D2F8789949AC}"/>
              </a:ext>
            </a:extLst>
          </p:cNvPr>
          <p:cNvSpPr/>
          <p:nvPr/>
        </p:nvSpPr>
        <p:spPr>
          <a:xfrm>
            <a:off x="822960" y="3890963"/>
            <a:ext cx="10607040" cy="15716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C28AEDD-2308-3E78-E95F-284FD6E3F395}"/>
              </a:ext>
            </a:extLst>
          </p:cNvPr>
          <p:cNvSpPr/>
          <p:nvPr/>
        </p:nvSpPr>
        <p:spPr>
          <a:xfrm>
            <a:off x="1097280" y="418909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퇴근/전환은 중립 표현 사용(권장)</a:t>
            </a:r>
            <a:endParaRPr lang="en-US" sz="18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356417E-631A-A34F-8F3A-96CDDCF241D0}"/>
              </a:ext>
            </a:extLst>
          </p:cNvPr>
          <p:cNvSpPr/>
          <p:nvPr/>
        </p:nvSpPr>
        <p:spPr>
          <a:xfrm>
            <a:off x="1097280" y="4485323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[근무종료]  [업무종료]  [익일인계]  [야간전환]</a:t>
            </a:r>
            <a:endParaRPr lang="en-US" sz="20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844A6D4-CBEE-2E8C-E95C-86945272FEF8}"/>
              </a:ext>
            </a:extLst>
          </p:cNvPr>
          <p:cNvSpPr/>
          <p:nvPr/>
        </p:nvSpPr>
        <p:spPr>
          <a:xfrm>
            <a:off x="822960" y="558784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이번 단계에서는 ‘경로변경(타과 안내)’는 운영하지 않습니다(추후 단계).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8424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F7ED2-AB91-F75B-35D4-99710A7D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지원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39C2C33-A128-92C5-F930-70DB259B3E72}"/>
              </a:ext>
            </a:extLst>
          </p:cNvPr>
          <p:cNvSpPr/>
          <p:nvPr/>
        </p:nvSpPr>
        <p:spPr>
          <a:xfrm>
            <a:off x="82296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ABA702-ACBA-A44C-BFB1-5C0705A4837B}"/>
              </a:ext>
            </a:extLst>
          </p:cNvPr>
          <p:cNvSpPr/>
          <p:nvPr/>
        </p:nvSpPr>
        <p:spPr>
          <a:xfrm>
            <a:off x="10972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WeValue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–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b="1" dirty="0" err="1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우리가치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Hub 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페이지 제공</a:t>
            </a:r>
            <a:endParaRPr 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556971-B3D0-16F4-E3C7-686576F7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28" y="2416175"/>
            <a:ext cx="3703904" cy="40767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26C0188F-9459-4DC3-1494-6548D2F24D78}"/>
              </a:ext>
            </a:extLst>
          </p:cNvPr>
          <p:cNvSpPr/>
          <p:nvPr/>
        </p:nvSpPr>
        <p:spPr>
          <a:xfrm>
            <a:off x="606552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DA715DD-FEF4-6B7F-F218-4A943906D5AF}"/>
              </a:ext>
            </a:extLst>
          </p:cNvPr>
          <p:cNvSpPr/>
          <p:nvPr/>
        </p:nvSpPr>
        <p:spPr>
          <a:xfrm>
            <a:off x="6339840" y="16906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메신저 업무 요청 표준양식 작성 도구 지원</a:t>
            </a:r>
            <a:endParaRPr lang="en-US" sz="18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AC5E84D-A0BA-9478-F8FE-769577E39BB8}"/>
              </a:ext>
            </a:extLst>
          </p:cNvPr>
          <p:cNvSpPr/>
          <p:nvPr/>
        </p:nvSpPr>
        <p:spPr>
          <a:xfrm>
            <a:off x="10972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https://schcaqi.github.io/2026-QI/</a:t>
            </a:r>
            <a:endParaRPr lang="en-US" sz="18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41BE7E7-1B91-FDD9-1FFD-AE6DFAAD1E2D}"/>
              </a:ext>
            </a:extLst>
          </p:cNvPr>
          <p:cNvSpPr/>
          <p:nvPr/>
        </p:nvSpPr>
        <p:spPr>
          <a:xfrm>
            <a:off x="6339840" y="2098359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1. Excel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문서파일 다운로드</a:t>
            </a:r>
            <a:endParaRPr lang="en-US" sz="1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454407-81B5-5304-0C14-F09E6B40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5" y="2551885"/>
            <a:ext cx="4229102" cy="1215728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F5AE09AE-61C4-3562-AF5B-BBA828F73B8E}"/>
              </a:ext>
            </a:extLst>
          </p:cNvPr>
          <p:cNvSpPr/>
          <p:nvPr/>
        </p:nvSpPr>
        <p:spPr>
          <a:xfrm>
            <a:off x="6339840" y="3901099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2. Html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페이지 </a:t>
            </a: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 PC, </a:t>
            </a:r>
            <a:r>
              <a:rPr lang="ko-KR" altLang="en-US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모바일 버전 </a:t>
            </a:r>
            <a:r>
              <a:rPr lang="en-US" altLang="ko-KR" sz="18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5189689-97E7-1BD3-DAF9-8B5F99095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4230528"/>
            <a:ext cx="3993172" cy="225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41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3539-9791-32DE-7DEC-8600EAFB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141CA-1247-CBD6-EB8A-768CEED3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지원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909C5E1-A19E-8953-6DAC-257B94E8D68D}"/>
              </a:ext>
            </a:extLst>
          </p:cNvPr>
          <p:cNvSpPr/>
          <p:nvPr/>
        </p:nvSpPr>
        <p:spPr>
          <a:xfrm>
            <a:off x="82296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7ADA1A0-7DD5-214D-9D86-F10D30E506CD}"/>
              </a:ext>
            </a:extLst>
          </p:cNvPr>
          <p:cNvSpPr/>
          <p:nvPr/>
        </p:nvSpPr>
        <p:spPr>
          <a:xfrm>
            <a:off x="10972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카카오톡 오픈 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익명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대화방</a:t>
            </a:r>
            <a:endParaRPr lang="en-US" sz="18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F7E12FB-E563-3CC6-32F7-99D3CAC45386}"/>
              </a:ext>
            </a:extLst>
          </p:cNvPr>
          <p:cNvSpPr/>
          <p:nvPr/>
        </p:nvSpPr>
        <p:spPr>
          <a:xfrm>
            <a:off x="6065520" y="1514474"/>
            <a:ext cx="49682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09BEF2A-6919-8031-DA1D-A0C1F54AD17B}"/>
              </a:ext>
            </a:extLst>
          </p:cNvPr>
          <p:cNvSpPr/>
          <p:nvPr/>
        </p:nvSpPr>
        <p:spPr>
          <a:xfrm>
            <a:off x="10972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https://open.kakao.com/o/grvxNzii</a:t>
            </a: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EA9544-DC8A-767C-66CE-1362CE65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2563213"/>
            <a:ext cx="1798320" cy="392966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61B3E81-0218-776A-AFA1-4A1B902626AD}"/>
              </a:ext>
            </a:extLst>
          </p:cNvPr>
          <p:cNvSpPr/>
          <p:nvPr/>
        </p:nvSpPr>
        <p:spPr>
          <a:xfrm>
            <a:off x="6583680" y="1690688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칭찬 게시판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제작 중</a:t>
            </a:r>
            <a:r>
              <a:rPr lang="en-US" altLang="ko-KR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8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BFA196F-0E81-2D0F-7056-69DC820D4F37}"/>
              </a:ext>
            </a:extLst>
          </p:cNvPr>
          <p:cNvSpPr/>
          <p:nvPr/>
        </p:nvSpPr>
        <p:spPr>
          <a:xfrm>
            <a:off x="6583680" y="2002474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https://open.kakao.com/o/grvxNzii</a:t>
            </a:r>
            <a:endParaRPr lang="en-US" sz="18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3F570F3-8C02-D5D4-4369-05678D355178}"/>
              </a:ext>
            </a:extLst>
          </p:cNvPr>
          <p:cNvSpPr/>
          <p:nvPr/>
        </p:nvSpPr>
        <p:spPr>
          <a:xfrm>
            <a:off x="6583680" y="2537461"/>
            <a:ext cx="4198620" cy="622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dirty="0"/>
              <a:t>게시판에 등록된 정보는 </a:t>
            </a:r>
            <a:r>
              <a:rPr lang="en-US" altLang="ko-KR" dirty="0"/>
              <a:t>Google Sheet</a:t>
            </a:r>
            <a:r>
              <a:rPr lang="ko-KR" altLang="en-US" dirty="0"/>
              <a:t>에 모두 기록하여 저장합니다</a:t>
            </a:r>
            <a:r>
              <a:rPr lang="en-US" altLang="ko-KR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425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E7D5C-2913-C773-3F8F-F78C2D13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제작은 어떻게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8A36DF8-5E87-4FCB-E28C-E41600B861FC}"/>
              </a:ext>
            </a:extLst>
          </p:cNvPr>
          <p:cNvSpPr/>
          <p:nvPr/>
        </p:nvSpPr>
        <p:spPr>
          <a:xfrm>
            <a:off x="822960" y="1514474"/>
            <a:ext cx="10530840" cy="5057775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B4DAD2C-965F-7B39-267C-3D089ED6E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16722"/>
              </p:ext>
            </p:extLst>
          </p:nvPr>
        </p:nvGraphicFramePr>
        <p:xfrm>
          <a:off x="1428750" y="2021680"/>
          <a:ext cx="9182100" cy="42195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15023">
                  <a:extLst>
                    <a:ext uri="{9D8B030D-6E8A-4147-A177-3AD203B41FA5}">
                      <a16:colId xmlns:a16="http://schemas.microsoft.com/office/drawing/2014/main" val="827503736"/>
                    </a:ext>
                  </a:extLst>
                </a:gridCol>
                <a:gridCol w="5667077">
                  <a:extLst>
                    <a:ext uri="{9D8B030D-6E8A-4147-A177-3AD203B41FA5}">
                      <a16:colId xmlns:a16="http://schemas.microsoft.com/office/drawing/2014/main" val="3043097844"/>
                    </a:ext>
                  </a:extLst>
                </a:gridCol>
              </a:tblGrid>
              <a:tr h="1635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 저장소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Github.com</a:t>
                      </a:r>
                    </a:p>
                    <a:p>
                      <a:pPr latinLnBrk="1"/>
                      <a:r>
                        <a:rPr lang="ko-KR" altLang="en-US" dirty="0"/>
                        <a:t>문서 및 파일 업로드 하여 변경이력까지 관리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971102"/>
                  </a:ext>
                </a:extLst>
              </a:tr>
              <a:tr h="9477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Html </a:t>
                      </a:r>
                      <a:r>
                        <a:rPr lang="ko-KR" altLang="en-US" dirty="0"/>
                        <a:t>페이지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Google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Gemini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506114"/>
                  </a:ext>
                </a:extLst>
              </a:tr>
              <a:tr h="1635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메신저 입력양식 생성프로그램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엑셀 서식 제작 후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를 통하여 </a:t>
                      </a:r>
                      <a:r>
                        <a:rPr lang="en-US" altLang="ko-KR" dirty="0"/>
                        <a:t>Html </a:t>
                      </a:r>
                      <a:r>
                        <a:rPr lang="ko-KR" altLang="en-US" dirty="0"/>
                        <a:t>페이지로 전환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71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35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D89DD-F7DD-CAC3-3A56-7ECD462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KPI </a:t>
            </a:r>
            <a:r>
              <a:rPr lang="ko-KR" altLang="en-US" dirty="0"/>
              <a:t>측정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20362B-69DA-7092-A30F-F3862E827A37}"/>
              </a:ext>
            </a:extLst>
          </p:cNvPr>
          <p:cNvSpPr/>
          <p:nvPr/>
        </p:nvSpPr>
        <p:spPr>
          <a:xfrm>
            <a:off x="822960" y="1920240"/>
            <a:ext cx="10607040" cy="3429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C33A18B-526B-8E4A-B5F0-1440A3159F16}"/>
              </a:ext>
            </a:extLst>
          </p:cNvPr>
          <p:cNvSpPr/>
          <p:nvPr/>
        </p:nvSpPr>
        <p:spPr>
          <a:xfrm>
            <a:off x="1097280" y="263461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만족도(병동/PA): 사전–사후 설문, 목표 80점 이상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B9B58F-7010-F3EE-6F0C-561680D14709}"/>
              </a:ext>
            </a:extLst>
          </p:cNvPr>
          <p:cNvSpPr/>
          <p:nvPr/>
        </p:nvSpPr>
        <p:spPr>
          <a:xfrm>
            <a:off x="1097280" y="327469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완료 기록률: (D 건수 / A 총 건수) × 100  (권장 95% 이상)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B7FB662-7D20-4E6B-2D0C-37AE7FF9EFC8}"/>
              </a:ext>
            </a:extLst>
          </p:cNvPr>
          <p:cNvSpPr/>
          <p:nvPr/>
        </p:nvSpPr>
        <p:spPr>
          <a:xfrm>
            <a:off x="1097280" y="3914775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시간 준수율: 10·4·12 기준 내 완료 비율  (권장 90% 이상)</a:t>
            </a:r>
            <a:endParaRPr lang="en-US" sz="18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999332E-FC5C-4395-0FC0-793469641F52}"/>
              </a:ext>
            </a:extLst>
          </p:cNvPr>
          <p:cNvSpPr/>
          <p:nvPr/>
        </p:nvSpPr>
        <p:spPr>
          <a:xfrm>
            <a:off x="822960" y="5486400"/>
            <a:ext cx="10607040" cy="822960"/>
          </a:xfrm>
          <a:prstGeom prst="roundRect">
            <a:avLst>
              <a:gd name="adj" fmla="val 2824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F7F42CB-26F8-2466-AC93-1389C2FE32B2}"/>
              </a:ext>
            </a:extLst>
          </p:cNvPr>
          <p:cNvSpPr/>
          <p:nvPr/>
        </p:nvSpPr>
        <p:spPr>
          <a:xfrm>
            <a:off x="1051560" y="5623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3가지만 먼저 봐도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“기록이 남는 협업”이 돌아가는지 확인할 수 있습니다.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959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80320D6-300F-C684-9896-C0C410AA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635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71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766</Words>
  <Application>Microsoft Office PowerPoint</Application>
  <PresentationFormat>와이드스크린</PresentationFormat>
  <Paragraphs>108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KoPub돋움체 Light</vt:lpstr>
      <vt:lpstr>맑은 고딕</vt:lpstr>
      <vt:lpstr>맑은 고딕</vt:lpstr>
      <vt:lpstr>Arial</vt:lpstr>
      <vt:lpstr>Office 테마</vt:lpstr>
      <vt:lpstr>[2026 QI] WeValue 우리가치</vt:lpstr>
      <vt:lpstr>목차</vt:lpstr>
      <vt:lpstr>프로젝트의 목표와 방향</vt:lpstr>
      <vt:lpstr>업무소통 환경 통합은 어떻게?</vt:lpstr>
      <vt:lpstr>업무소통 환경 통합은 어떻게?</vt:lpstr>
      <vt:lpstr>업무소통 환경 통합은 어떻게?</vt:lpstr>
      <vt:lpstr>업무소통 환경 통합은 어떻게?</vt:lpstr>
      <vt:lpstr>업무소통 환경 통합은 어떻게?</vt:lpstr>
      <vt:lpstr>시스템 지원</vt:lpstr>
      <vt:lpstr>시스템 지원</vt:lpstr>
      <vt:lpstr>시스템 제작은 어떻게?</vt:lpstr>
      <vt:lpstr>KPI 측정</vt:lpstr>
      <vt:lpstr>감사합니다.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라희 임</cp:lastModifiedBy>
  <cp:revision>95</cp:revision>
  <dcterms:created xsi:type="dcterms:W3CDTF">2026-03-04T12:11:45Z</dcterms:created>
  <dcterms:modified xsi:type="dcterms:W3CDTF">2026-03-04T16:57:07Z</dcterms:modified>
</cp:coreProperties>
</file>