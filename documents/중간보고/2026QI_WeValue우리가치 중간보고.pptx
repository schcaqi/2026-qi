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9" r:id="rId3"/>
    <p:sldId id="310" r:id="rId4"/>
    <p:sldId id="311" r:id="rId5"/>
    <p:sldId id="315" r:id="rId6"/>
    <p:sldId id="312" r:id="rId7"/>
    <p:sldId id="313" r:id="rId8"/>
    <p:sldId id="314" r:id="rId9"/>
    <p:sldId id="29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63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  <p15:guide id="13" orient="horz" pos="12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3487" autoAdjust="0"/>
  </p:normalViewPr>
  <p:slideViewPr>
    <p:cSldViewPr snapToGrid="0">
      <p:cViewPr varScale="1">
        <p:scale>
          <a:sx n="148" d="100"/>
          <a:sy n="148" d="100"/>
        </p:scale>
        <p:origin x="552" y="132"/>
      </p:cViewPr>
      <p:guideLst>
        <p:guide pos="234"/>
        <p:guide pos="7446"/>
        <p:guide pos="529"/>
        <p:guide pos="3863"/>
        <p:guide pos="7151"/>
        <p:guide orient="horz" pos="2160"/>
        <p:guide orient="horz" pos="3952"/>
        <p:guide orient="horz" pos="867"/>
        <p:guide orient="horz" pos="12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500" dirty="0"/>
              <a:t>안녕하십니까</a:t>
            </a:r>
            <a:r>
              <a:rPr lang="en-US" altLang="ko-KR" sz="500" dirty="0"/>
              <a:t>. 2026</a:t>
            </a:r>
            <a:r>
              <a:rPr lang="ko-KR" altLang="en-US" sz="500" dirty="0"/>
              <a:t>년 진료지원간호팀의 </a:t>
            </a:r>
            <a:r>
              <a:rPr lang="en-US" altLang="ko-KR" sz="500" dirty="0"/>
              <a:t>QI </a:t>
            </a:r>
            <a:r>
              <a:rPr lang="ko-KR" altLang="en-US" sz="500" dirty="0"/>
              <a:t>활동</a:t>
            </a:r>
            <a:r>
              <a:rPr lang="en-US" altLang="ko-KR" sz="500" dirty="0"/>
              <a:t>, **‘</a:t>
            </a:r>
            <a:r>
              <a:rPr lang="ko-KR" altLang="en-US" sz="500" dirty="0"/>
              <a:t>이보다 더 좋을 순 없다</a:t>
            </a:r>
            <a:r>
              <a:rPr lang="en-US" altLang="ko-KR" sz="500" dirty="0"/>
              <a:t>! </a:t>
            </a:r>
            <a:r>
              <a:rPr lang="ko-KR" altLang="en-US" sz="500" dirty="0"/>
              <a:t>협업 기반 간호 현장’**의 발표를 맡은 이비인후과 전담간호사 이미자입니다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저희 프로젝트 </a:t>
            </a:r>
            <a:r>
              <a:rPr lang="ko-KR" altLang="en-US" sz="500" dirty="0" err="1"/>
              <a:t>팀명인</a:t>
            </a:r>
            <a:r>
              <a:rPr lang="ko-KR" altLang="en-US" sz="500" dirty="0"/>
              <a:t> **‘</a:t>
            </a:r>
            <a:r>
              <a:rPr lang="en-US" altLang="ko-KR" sz="500" dirty="0" err="1"/>
              <a:t>WeValue</a:t>
            </a:r>
            <a:r>
              <a:rPr lang="en-US" altLang="ko-KR" sz="500" dirty="0"/>
              <a:t>(</a:t>
            </a:r>
            <a:r>
              <a:rPr lang="ko-KR" altLang="en-US" sz="500" dirty="0" err="1"/>
              <a:t>우리가치</a:t>
            </a:r>
            <a:r>
              <a:rPr lang="en-US" altLang="ko-KR" sz="500" dirty="0"/>
              <a:t>)’**</a:t>
            </a:r>
            <a:r>
              <a:rPr lang="ko-KR" altLang="en-US" sz="500" dirty="0"/>
              <a:t>에는 두 가지 큰 의미가 담겨 있습니다</a:t>
            </a:r>
            <a:r>
              <a:rPr lang="en-US" altLang="ko-KR" sz="500" dirty="0"/>
              <a:t>. </a:t>
            </a:r>
            <a:r>
              <a:rPr lang="ko-KR" altLang="en-US" sz="500" dirty="0"/>
              <a:t>첫 번째는 진료지원간호사</a:t>
            </a:r>
            <a:r>
              <a:rPr lang="en-US" altLang="ko-KR" sz="500" dirty="0"/>
              <a:t>(PA)</a:t>
            </a:r>
            <a:r>
              <a:rPr lang="ko-KR" altLang="en-US" sz="500" dirty="0"/>
              <a:t>와 병동 간호사가 환자의 회복이라는 하나의 목표를 위해 </a:t>
            </a:r>
            <a:r>
              <a:rPr lang="ko-KR" altLang="en-US" sz="500" b="1" dirty="0"/>
              <a:t>‘우리 같이’</a:t>
            </a:r>
            <a:r>
              <a:rPr lang="ko-KR" altLang="en-US" sz="500" dirty="0"/>
              <a:t> 움직이는 든든한 파트너라는 뜻이며</a:t>
            </a:r>
            <a:r>
              <a:rPr lang="en-US" altLang="ko-KR" sz="500" dirty="0"/>
              <a:t>, </a:t>
            </a:r>
            <a:r>
              <a:rPr lang="ko-KR" altLang="en-US" sz="500" dirty="0"/>
              <a:t>두 번째는 우리 모두가 전문가로서 </a:t>
            </a:r>
            <a:r>
              <a:rPr lang="ko-KR" altLang="en-US" sz="500" dirty="0" err="1"/>
              <a:t>존중받는</a:t>
            </a:r>
            <a:r>
              <a:rPr lang="ko-KR" altLang="en-US" sz="500" dirty="0"/>
              <a:t> **‘우리의 가치’**를 함께 높여보자는 약속입니다</a:t>
            </a:r>
            <a:r>
              <a:rPr lang="en-US" altLang="ko-KR" sz="500" dirty="0"/>
              <a:t>.</a:t>
            </a:r>
          </a:p>
          <a:p>
            <a:r>
              <a:rPr lang="ko-KR" altLang="en-US" sz="500" dirty="0"/>
              <a:t>오늘 이 자리를 통해 우리 모두가 전문가로서의 자부심을 지키며</a:t>
            </a:r>
            <a:r>
              <a:rPr lang="en-US" altLang="ko-KR" sz="500" dirty="0"/>
              <a:t>, </a:t>
            </a:r>
            <a:r>
              <a:rPr lang="ko-KR" altLang="en-US" sz="500" dirty="0"/>
              <a:t>더 기분 좋게 일할 수 있는 협업 기반의 간호 현장을 함께 설계해보고자 합니다</a:t>
            </a:r>
            <a:r>
              <a:rPr lang="en-US" altLang="ko-KR" sz="500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900" dirty="0"/>
              <a:t>"</a:t>
            </a:r>
            <a:r>
              <a:rPr lang="ko-KR" altLang="en-US" sz="900" dirty="0"/>
              <a:t>오늘 간담회는 우리가 모인 취지를 공유하고</a:t>
            </a:r>
            <a:r>
              <a:rPr lang="en-US" altLang="ko-KR" sz="900" dirty="0"/>
              <a:t>, </a:t>
            </a:r>
            <a:r>
              <a:rPr lang="ko-KR" altLang="en-US" sz="900" dirty="0"/>
              <a:t>현장의 숙제들을 함께 살펴본 뒤 선생님들의 생생한 의견을 듣는 순서로 채워보고자 합니다</a:t>
            </a:r>
            <a:r>
              <a:rPr lang="en-US" altLang="ko-KR" sz="900" dirty="0"/>
              <a:t>."</a:t>
            </a:r>
            <a:endParaRPr lang="ko-KR" altLang="en-US" sz="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8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9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738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340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040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557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800" dirty="0"/>
              <a:t>"</a:t>
            </a:r>
            <a:r>
              <a:rPr lang="ko-KR" altLang="en-US" sz="800" dirty="0"/>
              <a:t>우리는 환자의 회복이라는 같은 목표를 가진 든든한 파트너입니다</a:t>
            </a:r>
            <a:r>
              <a:rPr lang="en-US" altLang="ko-KR" sz="800" dirty="0"/>
              <a:t>. </a:t>
            </a:r>
            <a:r>
              <a:rPr lang="ko-KR" altLang="en-US" sz="800" dirty="0"/>
              <a:t>하지만 현장의 바쁜 흐름 속에서 소통의 빈틈이 생길 때마다 마음이 </a:t>
            </a:r>
            <a:r>
              <a:rPr lang="ko-KR" altLang="en-US" sz="800" dirty="0" err="1"/>
              <a:t>무거우셨으리라</a:t>
            </a:r>
            <a:r>
              <a:rPr lang="ko-KR" altLang="en-US" sz="800" dirty="0"/>
              <a:t> 생각합니다</a:t>
            </a:r>
            <a:r>
              <a:rPr lang="en-US" altLang="ko-KR" sz="800" dirty="0"/>
              <a:t>. </a:t>
            </a:r>
            <a:r>
              <a:rPr lang="ko-KR" altLang="en-US" sz="800" dirty="0"/>
              <a:t>오늘 이 자리는</a:t>
            </a:r>
            <a:r>
              <a:rPr lang="en-US" altLang="ko-KR" sz="800" dirty="0"/>
              <a:t>, </a:t>
            </a:r>
            <a:r>
              <a:rPr lang="ko-KR" altLang="en-US" sz="800" dirty="0"/>
              <a:t>전문가로서의 자부심을 지키며 일할 수 있는 **‘우리만의 건강한 기준’**을 함께 고민해보기 위해 마련하였습니다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."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본론으로 들어가기 전 가벼운 질문 하나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업무하시면서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 혹은 병동 선생님과 소통할 때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이 행동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덕분에 한결 수월했다</a:t>
            </a:r>
            <a:r>
              <a:rPr lang="en-US" altLang="ko-KR" sz="5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싶었던 순간이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초라도 있으셨나요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팀명이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우리가치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만큼 여쭤보고 싶습니다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선생님들이 생각하시기에 **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기분 좋은 협업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'**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한 문장이나 단어로 표현한다면 무엇일까요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일주일 동안 협업하면서 서로에게 가장 많이 했던 말이 무엇인가요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그 말이 서로를 힘들게 하는 말은 아니었는지 오늘 함께 돌아보고자 합니다</a:t>
            </a:r>
            <a:r>
              <a:rPr lang="en-US" altLang="ko-KR" sz="5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ko-KR" altLang="en-US" sz="5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199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바쁘신 와중에도 우리 모두의 더 나은 내일을 위해 </a:t>
            </a:r>
            <a:r>
              <a:rPr lang="ko-KR" altLang="en-US" dirty="0" err="1"/>
              <a:t>함께해주셔서</a:t>
            </a:r>
            <a:r>
              <a:rPr lang="ko-KR" altLang="en-US" dirty="0"/>
              <a:t> 진심으로 감사합니다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78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9973" y="3602038"/>
            <a:ext cx="7972054" cy="2139881"/>
          </a:xfrm>
        </p:spPr>
        <p:txBody>
          <a:bodyPr wrap="none">
            <a:spAutoFit/>
          </a:bodyPr>
          <a:lstStyle/>
          <a:p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이보다 더 좋을 순 없다</a:t>
            </a:r>
            <a:r>
              <a:rPr lang="en-US" altLang="ko-KR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! </a:t>
            </a:r>
            <a:r>
              <a:rPr lang="ko-KR" altLang="en-US" sz="36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협업기반 간호 현장</a:t>
            </a:r>
            <a:endParaRPr lang="en-US" altLang="ko-KR" sz="3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sz="3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발표자 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endParaRPr lang="ko-KR" altLang="en-US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553C289-4693-A1E1-ACA9-3EFD52D2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78000" y="1406131"/>
            <a:ext cx="8470900" cy="4981966"/>
          </a:xfrm>
        </p:spPr>
        <p:txBody>
          <a:bodyPr wrap="none"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팀 구성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활동의 필요성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문제분석 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목표 및 핵심지표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개선활동 계획 및 활동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6926918-9A45-1CC6-3FE4-C26ABF297F02}"/>
              </a:ext>
            </a:extLst>
          </p:cNvPr>
          <p:cNvCxnSpPr/>
          <p:nvPr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팀 구성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786CA1-B1B9-4CAE-8373-4F71EAFA25F9}"/>
              </a:ext>
            </a:extLst>
          </p:cNvPr>
          <p:cNvSpPr/>
          <p:nvPr/>
        </p:nvSpPr>
        <p:spPr>
          <a:xfrm>
            <a:off x="1869583" y="254560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팀명</a:t>
            </a:r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 가치 팀 </a:t>
            </a:r>
            <a:r>
              <a:rPr lang="en-US" altLang="ko-KR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b="1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WeValue</a:t>
            </a:r>
            <a:r>
              <a:rPr lang="en-US" altLang="ko-KR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Team)</a:t>
            </a:r>
            <a:endParaRPr lang="ko-KR" altLang="en-US" b="1" i="0" dirty="0">
              <a:solidFill>
                <a:srgbClr val="1E293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0FCF46-0CD6-4DAA-8F72-7C40CED398A0}"/>
              </a:ext>
            </a:extLst>
          </p:cNvPr>
          <p:cNvSpPr/>
          <p:nvPr/>
        </p:nvSpPr>
        <p:spPr>
          <a:xfrm>
            <a:off x="1869583" y="305432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책임 교수 </a:t>
            </a:r>
            <a:r>
              <a:rPr lang="en-US" altLang="ko-KR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박재홍 교수</a:t>
            </a:r>
            <a:endParaRPr lang="ko-KR" altLang="en-US" b="1" i="0" dirty="0">
              <a:solidFill>
                <a:srgbClr val="1E293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6F5C60-EEE1-4D88-B34B-86D7C3AEF537}"/>
              </a:ext>
            </a:extLst>
          </p:cNvPr>
          <p:cNvSpPr/>
          <p:nvPr/>
        </p:nvSpPr>
        <p:spPr>
          <a:xfrm>
            <a:off x="1869583" y="351795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팀장 </a:t>
            </a:r>
            <a:r>
              <a:rPr lang="en-US" altLang="ko-KR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박은영</a:t>
            </a:r>
            <a:endParaRPr lang="ko-KR" altLang="en-US" b="1" i="0" dirty="0">
              <a:solidFill>
                <a:srgbClr val="1E293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21745E-3023-4B05-AD2D-92039DFF0D3D}"/>
              </a:ext>
            </a:extLst>
          </p:cNvPr>
          <p:cNvSpPr/>
          <p:nvPr/>
        </p:nvSpPr>
        <p:spPr>
          <a:xfrm>
            <a:off x="1869583" y="400091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간사 </a:t>
            </a:r>
            <a:r>
              <a:rPr lang="en-US" altLang="ko-KR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1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이미자</a:t>
            </a:r>
            <a:r>
              <a:rPr lang="en-US" altLang="ko-KR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b="1" i="0" baseline="30000" dirty="0">
              <a:solidFill>
                <a:srgbClr val="1E293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1FE5A9-780D-4BC9-AB0C-5971BA02E140}"/>
              </a:ext>
            </a:extLst>
          </p:cNvPr>
          <p:cNvSpPr/>
          <p:nvPr/>
        </p:nvSpPr>
        <p:spPr>
          <a:xfrm>
            <a:off x="1869582" y="4586905"/>
            <a:ext cx="8575184" cy="379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 원 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이미자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¹, </a:t>
            </a:r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박준호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김동주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정수미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김미령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박지현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김은경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손선미</a:t>
            </a:r>
            <a:r>
              <a:rPr lang="en-US" altLang="ko-KR" sz="2800" b="1" baseline="30000" dirty="0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800" b="1" baseline="30000" dirty="0" err="1">
                <a:solidFill>
                  <a:srgbClr val="1E293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김하늬</a:t>
            </a:r>
            <a:endParaRPr lang="ko-KR" altLang="en-US" sz="2800" b="1" i="0" baseline="30000" dirty="0">
              <a:solidFill>
                <a:srgbClr val="1E293B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01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활동의 필요성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DA73313-446B-4E4F-9DCC-D03B975596D8}"/>
              </a:ext>
            </a:extLst>
          </p:cNvPr>
          <p:cNvSpPr/>
          <p:nvPr/>
        </p:nvSpPr>
        <p:spPr>
          <a:xfrm>
            <a:off x="1049909" y="1995176"/>
            <a:ext cx="3212998" cy="2415838"/>
          </a:xfrm>
          <a:prstGeom prst="roundRect">
            <a:avLst>
              <a:gd name="adj" fmla="val 442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422C8E-2DCE-4B6A-9A5A-71EC81E54013}"/>
              </a:ext>
            </a:extLst>
          </p:cNvPr>
          <p:cNvSpPr txBox="1"/>
          <p:nvPr/>
        </p:nvSpPr>
        <p:spPr>
          <a:xfrm>
            <a:off x="5265929" y="154678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배경 및 필요성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F2E35D-B748-49EC-BF87-AE82DE3B0856}"/>
              </a:ext>
            </a:extLst>
          </p:cNvPr>
          <p:cNvSpPr/>
          <p:nvPr/>
        </p:nvSpPr>
        <p:spPr>
          <a:xfrm>
            <a:off x="4526014" y="1995176"/>
            <a:ext cx="3212998" cy="2415838"/>
          </a:xfrm>
          <a:prstGeom prst="roundRect">
            <a:avLst>
              <a:gd name="adj" fmla="val 442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4C2EC33-39C0-4222-B895-A5FDA3D807FD}"/>
              </a:ext>
            </a:extLst>
          </p:cNvPr>
          <p:cNvSpPr/>
          <p:nvPr/>
        </p:nvSpPr>
        <p:spPr>
          <a:xfrm>
            <a:off x="8081775" y="1995176"/>
            <a:ext cx="3212998" cy="2415838"/>
          </a:xfrm>
          <a:prstGeom prst="roundRect">
            <a:avLst>
              <a:gd name="adj" fmla="val 442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0EDD75-3FB8-4150-A875-B2749336825F}"/>
              </a:ext>
            </a:extLst>
          </p:cNvPr>
          <p:cNvSpPr txBox="1"/>
          <p:nvPr/>
        </p:nvSpPr>
        <p:spPr>
          <a:xfrm>
            <a:off x="1590540" y="264338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의료 환경의 변화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A7094E-DC07-4F64-A2AD-10063D01699A}"/>
              </a:ext>
            </a:extLst>
          </p:cNvPr>
          <p:cNvSpPr txBox="1"/>
          <p:nvPr/>
        </p:nvSpPr>
        <p:spPr>
          <a:xfrm>
            <a:off x="1590540" y="3429000"/>
            <a:ext cx="283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</a:t>
            </a:r>
            <a:r>
              <a:rPr lang="ko-KR" altLang="en-US" dirty="0"/>
              <a:t>간호사와 병동간호사의</a:t>
            </a:r>
            <a:endParaRPr lang="en-US" altLang="ko-KR" dirty="0"/>
          </a:p>
          <a:p>
            <a:r>
              <a:rPr lang="ko-KR" altLang="en-US" dirty="0"/>
              <a:t>협업 중요성 증대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FFA8C4-2B29-4A72-B9CC-D44454342213}"/>
              </a:ext>
            </a:extLst>
          </p:cNvPr>
          <p:cNvSpPr txBox="1"/>
          <p:nvPr/>
        </p:nvSpPr>
        <p:spPr>
          <a:xfrm>
            <a:off x="4784501" y="2643389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분산된 상호 소통 체계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5FC1CC-6E3A-46BD-9EF8-196469E47DC1}"/>
              </a:ext>
            </a:extLst>
          </p:cNvPr>
          <p:cNvSpPr txBox="1"/>
          <p:nvPr/>
        </p:nvSpPr>
        <p:spPr>
          <a:xfrm>
            <a:off x="4784501" y="3429000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전화</a:t>
            </a:r>
            <a:r>
              <a:rPr lang="en-US" altLang="ko-KR" dirty="0"/>
              <a:t>, </a:t>
            </a:r>
            <a:r>
              <a:rPr lang="ko-KR" altLang="en-US" dirty="0" err="1"/>
              <a:t>메시지등의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비정형적 소통 의존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F517DC-434A-4954-BC8E-4D72E4CF6315}"/>
              </a:ext>
            </a:extLst>
          </p:cNvPr>
          <p:cNvSpPr txBox="1"/>
          <p:nvPr/>
        </p:nvSpPr>
        <p:spPr>
          <a:xfrm>
            <a:off x="8371268" y="2643389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 효율 저하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89F8A-14AF-4377-8033-C42622327447}"/>
              </a:ext>
            </a:extLst>
          </p:cNvPr>
          <p:cNvSpPr txBox="1"/>
          <p:nvPr/>
        </p:nvSpPr>
        <p:spPr>
          <a:xfrm>
            <a:off x="8467859" y="3152105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맥락 단절 및 반복 호출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CBA17C-4B93-4D6B-BED6-86B9CF6550B5}"/>
              </a:ext>
            </a:extLst>
          </p:cNvPr>
          <p:cNvSpPr txBox="1"/>
          <p:nvPr/>
        </p:nvSpPr>
        <p:spPr>
          <a:xfrm>
            <a:off x="8467859" y="364794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업무 피로도 가중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16CFAF4-76D0-49A6-85DD-9D10B0EC5B70}"/>
              </a:ext>
            </a:extLst>
          </p:cNvPr>
          <p:cNvSpPr/>
          <p:nvPr/>
        </p:nvSpPr>
        <p:spPr>
          <a:xfrm>
            <a:off x="1049908" y="4662151"/>
            <a:ext cx="10199787" cy="1689267"/>
          </a:xfrm>
          <a:prstGeom prst="roundRect">
            <a:avLst>
              <a:gd name="adj" fmla="val 442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48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활동의 필요성</a:t>
            </a:r>
          </a:p>
        </p:txBody>
      </p:sp>
    </p:spTree>
    <p:extLst>
      <p:ext uri="{BB962C8B-B14F-4D97-AF65-F5344CB8AC3E}">
        <p14:creationId xmlns:p14="http://schemas.microsoft.com/office/powerpoint/2010/main" val="33719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문제분석</a:t>
            </a:r>
          </a:p>
        </p:txBody>
      </p:sp>
    </p:spTree>
    <p:extLst>
      <p:ext uri="{BB962C8B-B14F-4D97-AF65-F5344CB8AC3E}">
        <p14:creationId xmlns:p14="http://schemas.microsoft.com/office/powerpoint/2010/main" val="296477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목표 및 핵심지표</a:t>
            </a:r>
          </a:p>
        </p:txBody>
      </p:sp>
    </p:spTree>
    <p:extLst>
      <p:ext uri="{BB962C8B-B14F-4D97-AF65-F5344CB8AC3E}">
        <p14:creationId xmlns:p14="http://schemas.microsoft.com/office/powerpoint/2010/main" val="420306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개선활동 계획 및 활동</a:t>
            </a:r>
          </a:p>
        </p:txBody>
      </p:sp>
    </p:spTree>
    <p:extLst>
      <p:ext uri="{BB962C8B-B14F-4D97-AF65-F5344CB8AC3E}">
        <p14:creationId xmlns:p14="http://schemas.microsoft.com/office/powerpoint/2010/main" val="2742420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</TotalTime>
  <Words>1076</Words>
  <Application>Microsoft Office PowerPoint</Application>
  <PresentationFormat>와이드스크린</PresentationFormat>
  <Paragraphs>76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KoPub돋움체 Bold</vt:lpstr>
      <vt:lpstr>KoPub돋움체 Light</vt:lpstr>
      <vt:lpstr>Noto Sans KR</vt:lpstr>
      <vt:lpstr>맑은 고딕</vt:lpstr>
      <vt:lpstr>Arial</vt:lpstr>
      <vt:lpstr>1_Office 테마</vt:lpstr>
      <vt:lpstr>[2026 QI] WeValue 우리가치</vt:lpstr>
      <vt:lpstr>목차</vt:lpstr>
      <vt:lpstr>1. 팀 구성</vt:lpstr>
      <vt:lpstr>2. 활동의 필요성</vt:lpstr>
      <vt:lpstr>2. 활동의 필요성</vt:lpstr>
      <vt:lpstr>3. 문제분석</vt:lpstr>
      <vt:lpstr>4. 목표 및 핵심지표</vt:lpstr>
      <vt:lpstr>5. 개선활동 계획 및 활동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894</cp:revision>
  <dcterms:created xsi:type="dcterms:W3CDTF">2026-03-04T12:11:45Z</dcterms:created>
  <dcterms:modified xsi:type="dcterms:W3CDTF">2026-05-03T08:27:44Z</dcterms:modified>
</cp:coreProperties>
</file>