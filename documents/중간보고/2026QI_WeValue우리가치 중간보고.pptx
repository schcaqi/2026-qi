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269" r:id="rId3"/>
    <p:sldId id="310" r:id="rId4"/>
    <p:sldId id="311" r:id="rId5"/>
    <p:sldId id="312" r:id="rId6"/>
    <p:sldId id="313" r:id="rId7"/>
    <p:sldId id="314" r:id="rId8"/>
    <p:sldId id="294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234" userDrawn="1">
          <p15:clr>
            <a:srgbClr val="A4A3A4"/>
          </p15:clr>
        </p15:guide>
        <p15:guide id="3" pos="7446" userDrawn="1">
          <p15:clr>
            <a:srgbClr val="A4A3A4"/>
          </p15:clr>
        </p15:guide>
        <p15:guide id="4" pos="529" userDrawn="1">
          <p15:clr>
            <a:srgbClr val="A4A3A4"/>
          </p15:clr>
        </p15:guide>
        <p15:guide id="7" pos="3863" userDrawn="1">
          <p15:clr>
            <a:srgbClr val="A4A3A4"/>
          </p15:clr>
        </p15:guide>
        <p15:guide id="9" pos="7151" userDrawn="1">
          <p15:clr>
            <a:srgbClr val="A4A3A4"/>
          </p15:clr>
        </p15:guide>
        <p15:guide id="10" orient="horz" pos="2160" userDrawn="1">
          <p15:clr>
            <a:srgbClr val="A4A3A4"/>
          </p15:clr>
        </p15:guide>
        <p15:guide id="11" orient="horz" pos="3952" userDrawn="1">
          <p15:clr>
            <a:srgbClr val="A4A3A4"/>
          </p15:clr>
        </p15:guide>
        <p15:guide id="12" orient="horz" pos="867" userDrawn="1">
          <p15:clr>
            <a:srgbClr val="A4A3A4"/>
          </p15:clr>
        </p15:guide>
        <p15:guide id="13" orient="horz" pos="120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454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3487" autoAdjust="0"/>
  </p:normalViewPr>
  <p:slideViewPr>
    <p:cSldViewPr snapToGrid="0">
      <p:cViewPr varScale="1">
        <p:scale>
          <a:sx n="148" d="100"/>
          <a:sy n="148" d="100"/>
        </p:scale>
        <p:origin x="552" y="132"/>
      </p:cViewPr>
      <p:guideLst>
        <p:guide pos="234"/>
        <p:guide pos="7446"/>
        <p:guide pos="529"/>
        <p:guide pos="3863"/>
        <p:guide pos="7151"/>
        <p:guide orient="horz" pos="2160"/>
        <p:guide orient="horz" pos="3952"/>
        <p:guide orient="horz" pos="867"/>
        <p:guide orient="horz" pos="120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E2001C-857C-44DF-8FE3-7E7EA72EA642}" type="datetimeFigureOut">
              <a:rPr lang="ko-KR" altLang="en-US" smtClean="0"/>
              <a:t>2026-05-03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A9A12-E110-4E26-8834-B65FA9FF0C5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23821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5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9913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9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528563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54928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27388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50402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85579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z="6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51990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바쁘신 와중에도 우리 모두의 더 나은 내일을 위해 함께해 주셔서 진심으로 감사합니다</a:t>
            </a:r>
            <a:r>
              <a:rPr lang="en-US" altLang="ko-KR" dirty="0"/>
              <a:t>."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44A9A12-E110-4E26-8834-B65FA9FF0C55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3783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23" indent="0" algn="ctr">
              <a:buNone/>
              <a:defRPr sz="2000"/>
            </a:lvl2pPr>
            <a:lvl3pPr marL="914446" indent="0" algn="ctr">
              <a:buNone/>
              <a:defRPr sz="1800"/>
            </a:lvl3pPr>
            <a:lvl4pPr marL="1371669" indent="0" algn="ctr">
              <a:buNone/>
              <a:defRPr sz="1600"/>
            </a:lvl4pPr>
            <a:lvl5pPr marL="1828891" indent="0" algn="ctr">
              <a:buNone/>
              <a:defRPr sz="1600"/>
            </a:lvl5pPr>
            <a:lvl6pPr marL="2286114" indent="0" algn="ctr">
              <a:buNone/>
              <a:defRPr sz="1600"/>
            </a:lvl6pPr>
            <a:lvl7pPr marL="2743337" indent="0" algn="ctr">
              <a:buNone/>
              <a:defRPr sz="1600"/>
            </a:lvl7pPr>
            <a:lvl8pPr marL="3200560" indent="0" algn="ctr">
              <a:buNone/>
              <a:defRPr sz="1600"/>
            </a:lvl8pPr>
            <a:lvl9pPr marL="3657783" indent="0" algn="ctr">
              <a:buNone/>
              <a:defRPr sz="1600"/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2026-05-03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763B2B-AF03-07AD-EE0A-B42A3C6B7980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A0A0659D-0D17-3ECD-5DAD-5C88B84A5B5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772" y="408424"/>
            <a:ext cx="1912990" cy="114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92395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 defTabSz="914446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lang="ko-KR" altLang="en-US" sz="3667" kern="1200" baseline="0" dirty="0">
                <a:solidFill>
                  <a:srgbClr val="091C78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  <a:cs typeface="+mj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2026-05-03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373A9FFC-5E32-F50E-16FF-71E12955C696}"/>
              </a:ext>
            </a:extLst>
          </p:cNvPr>
          <p:cNvCxnSpPr/>
          <p:nvPr userDrawn="1"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_x189390376" descr="EMB000038242a1a">
            <a:extLst>
              <a:ext uri="{FF2B5EF4-FFF2-40B4-BE49-F238E27FC236}">
                <a16:creationId xmlns:a16="http://schemas.microsoft.com/office/drawing/2014/main" id="{3B75B0BB-08A8-4824-8F99-4276338C564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1" y="292069"/>
            <a:ext cx="1252699" cy="7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5C1B334-1EF5-DB6E-79C6-F0904302352B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16825233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67" baseline="0">
                <a:solidFill>
                  <a:srgbClr val="091C78"/>
                </a:solidFill>
                <a:latin typeface="KoPub돋움체 Bold" panose="00000800000000000000" pitchFamily="2" charset="-127"/>
                <a:ea typeface="KoPub돋움체 Bold" panose="00000800000000000000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E55E2E-83CD-4389-B2E3-FB6950584B2A}" type="datetimeFigureOut">
              <a:rPr lang="ko-KR" altLang="en-US" smtClean="0"/>
              <a:t>2026-05-03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F518D108-BBB9-0418-457E-A2BC08201BD7}"/>
              </a:ext>
            </a:extLst>
          </p:cNvPr>
          <p:cNvCxnSpPr/>
          <p:nvPr userDrawn="1"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2162BFC0-2B93-4ACD-6516-DF91A308E59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601" y="292069"/>
            <a:ext cx="1252699" cy="749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6B1A33-C984-3543-525C-D33AE1A27553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41203790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6B0AADCA-E65D-9A8A-E9E6-C0B34E39F5C3}"/>
              </a:ext>
            </a:extLst>
          </p:cNvPr>
          <p:cNvSpPr txBox="1"/>
          <p:nvPr userDrawn="1"/>
        </p:nvSpPr>
        <p:spPr>
          <a:xfrm>
            <a:off x="5239836" y="2955379"/>
            <a:ext cx="200407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60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Q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4400" b="0" dirty="0">
                <a:solidFill>
                  <a:srgbClr val="24549C"/>
                </a:solidFill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&amp;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en-US" altLang="ko-KR" sz="60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A</a:t>
            </a:r>
            <a:endParaRPr lang="ko-KR" altLang="en-US" sz="4400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31A77E5-BC2C-5174-FE30-64288EF652B5}"/>
              </a:ext>
            </a:extLst>
          </p:cNvPr>
          <p:cNvSpPr txBox="1"/>
          <p:nvPr userDrawn="1"/>
        </p:nvSpPr>
        <p:spPr>
          <a:xfrm flipH="1">
            <a:off x="10010507" y="630820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</p:spTree>
    <p:extLst>
      <p:ext uri="{BB962C8B-B14F-4D97-AF65-F5344CB8AC3E}">
        <p14:creationId xmlns:p14="http://schemas.microsoft.com/office/powerpoint/2010/main" val="157695157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_x189390376" descr="EMB000038242a1a">
            <a:extLst>
              <a:ext uri="{FF2B5EF4-FFF2-40B4-BE49-F238E27FC236}">
                <a16:creationId xmlns:a16="http://schemas.microsoft.com/office/drawing/2014/main" id="{2388D911-2050-41D3-35D1-D6805810782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10204" y="2856850"/>
            <a:ext cx="1912990" cy="114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B0AADCA-E65D-9A8A-E9E6-C0B34E39F5C3}"/>
              </a:ext>
            </a:extLst>
          </p:cNvPr>
          <p:cNvSpPr txBox="1"/>
          <p:nvPr userDrawn="1"/>
        </p:nvSpPr>
        <p:spPr>
          <a:xfrm>
            <a:off x="6165299" y="2955379"/>
            <a:ext cx="2808782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감사합니다</a:t>
            </a:r>
            <a:r>
              <a:rPr lang="en-US" altLang="ko-KR" sz="4400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endParaRPr lang="ko-KR" altLang="en-US" sz="4400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2F4C66-AEE7-4773-FBFC-D3B3A41A27E7}"/>
              </a:ext>
            </a:extLst>
          </p:cNvPr>
          <p:cNvSpPr txBox="1"/>
          <p:nvPr userDrawn="1"/>
        </p:nvSpPr>
        <p:spPr>
          <a:xfrm flipH="1">
            <a:off x="6568807" y="3724820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b="1" dirty="0">
                <a:solidFill>
                  <a:srgbClr val="24549C"/>
                </a:solidFill>
              </a:rPr>
              <a:t>진료지원간호팀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B9EEB4C2-158E-04B1-36F8-7F9B0E2539F0}"/>
              </a:ext>
            </a:extLst>
          </p:cNvPr>
          <p:cNvCxnSpPr>
            <a:cxnSpLocks/>
          </p:cNvCxnSpPr>
          <p:nvPr userDrawn="1"/>
        </p:nvCxnSpPr>
        <p:spPr>
          <a:xfrm>
            <a:off x="6210300" y="3724820"/>
            <a:ext cx="26162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57586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1778000" y="365126"/>
            <a:ext cx="9575800" cy="7820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6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E55E2E-83CD-4389-B2E3-FB6950584B2A}" type="datetimeFigureOut">
              <a:rPr lang="ko-KR" altLang="en-US" smtClean="0"/>
              <a:t>2026-05-03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223E0D-8027-4312-A40C-E315FC59675E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51AF2F3-873C-4833-A021-6053E3D69AA7}"/>
              </a:ext>
            </a:extLst>
          </p:cNvPr>
          <p:cNvSpPr/>
          <p:nvPr userDrawn="1"/>
        </p:nvSpPr>
        <p:spPr>
          <a:xfrm>
            <a:off x="0" y="-25400"/>
            <a:ext cx="12192000" cy="211667"/>
          </a:xfrm>
          <a:prstGeom prst="rect">
            <a:avLst/>
          </a:prstGeom>
          <a:solidFill>
            <a:srgbClr val="24549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/>
          </a:p>
        </p:txBody>
      </p:sp>
    </p:spTree>
    <p:extLst>
      <p:ext uri="{BB962C8B-B14F-4D97-AF65-F5344CB8AC3E}">
        <p14:creationId xmlns:p14="http://schemas.microsoft.com/office/powerpoint/2010/main" val="14602994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6" r:id="rId3"/>
    <p:sldLayoutId id="2147483668" r:id="rId4"/>
    <p:sldLayoutId id="2147483667" r:id="rId5"/>
  </p:sldLayoutIdLst>
  <p:txStyles>
    <p:titleStyle>
      <a:lvl1pPr algn="l" defTabSz="914446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1" indent="-228611" algn="l" defTabSz="914446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3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57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80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503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726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949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171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394" indent="-228611" algn="l" defTabSz="914446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2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46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69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91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114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337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560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783" algn="l" defTabSz="914446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240">
          <p15:clr>
            <a:srgbClr val="F26B43"/>
          </p15:clr>
        </p15:guide>
        <p15:guide id="2" pos="576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0AD07D6-7EED-E5FD-9A0C-A37F9EB366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5840" y="1122363"/>
            <a:ext cx="10180320" cy="2387600"/>
          </a:xfrm>
        </p:spPr>
        <p:txBody>
          <a:bodyPr/>
          <a:lstStyle/>
          <a:p>
            <a:r>
              <a:rPr lang="en-US" altLang="ko-KR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[2026 QI] </a:t>
            </a:r>
            <a:r>
              <a:rPr lang="en-US" altLang="ko-KR" b="1" dirty="0" err="1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WeValue</a:t>
            </a:r>
            <a:r>
              <a:rPr lang="ko-KR" altLang="en-US" b="1" dirty="0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 </a:t>
            </a:r>
            <a:r>
              <a:rPr lang="ko-KR" altLang="en-US" b="1" dirty="0" err="1">
                <a:solidFill>
                  <a:srgbClr val="24549C"/>
                </a:solidFill>
                <a:latin typeface="KoPub돋움체 Bold" panose="02020603020101020101" pitchFamily="18" charset="-127"/>
                <a:ea typeface="KoPub돋움체 Bold" panose="02020603020101020101" pitchFamily="18" charset="-127"/>
              </a:rPr>
              <a:t>우리가치</a:t>
            </a:r>
            <a:endParaRPr lang="ko-KR" altLang="en-US" b="1" dirty="0">
              <a:solidFill>
                <a:srgbClr val="24549C"/>
              </a:solidFill>
              <a:latin typeface="KoPub돋움체 Bold" panose="02020603020101020101" pitchFamily="18" charset="-127"/>
              <a:ea typeface="KoPub돋움체 Bold" panose="02020603020101020101" pitchFamily="18" charset="-127"/>
            </a:endParaRP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B9DA704A-5687-F92C-E2BA-36DBE27870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109973" y="3602038"/>
            <a:ext cx="7972054" cy="2139881"/>
          </a:xfrm>
        </p:spPr>
        <p:txBody>
          <a:bodyPr wrap="none">
            <a:spAutoFit/>
          </a:bodyPr>
          <a:lstStyle/>
          <a:p>
            <a:r>
              <a:rPr lang="ko-KR" altLang="en-US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이보다 더 좋을 순 없다</a:t>
            </a:r>
            <a:r>
              <a:rPr lang="en-US" altLang="ko-KR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! </a:t>
            </a:r>
            <a:r>
              <a:rPr lang="ko-KR" altLang="en-US" sz="36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협업기반 간호 현장</a:t>
            </a:r>
            <a:endParaRPr lang="en-US" altLang="ko-KR" sz="3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endParaRPr lang="en-US" altLang="ko-KR" sz="3600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endParaRPr lang="en-US" altLang="ko-KR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  <a:p>
            <a:r>
              <a:rPr lang="ko-KR" altLang="en-US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발표자 </a:t>
            </a:r>
            <a:r>
              <a:rPr lang="en-US" altLang="ko-KR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:</a:t>
            </a:r>
            <a:endParaRPr lang="ko-KR" altLang="en-US" b="1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45973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제목 5">
            <a:extLst>
              <a:ext uri="{FF2B5EF4-FFF2-40B4-BE49-F238E27FC236}">
                <a16:creationId xmlns:a16="http://schemas.microsoft.com/office/drawing/2014/main" id="{7553C289-4693-A1E1-ACA9-3EFD52D20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85F98D6-0ABC-F63F-EE74-930F57BEDD20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1778000" y="1406131"/>
            <a:ext cx="8470900" cy="4981966"/>
          </a:xfrm>
        </p:spPr>
        <p:txBody>
          <a:bodyPr wrap="none">
            <a:normAutofit/>
          </a:bodyPr>
          <a:lstStyle/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팀 구성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활동의 필요성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문제분석 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목표 및 핵심지표</a:t>
            </a:r>
          </a:p>
          <a:p>
            <a:pPr marL="514350" indent="-514350">
              <a:lnSpc>
                <a:spcPct val="200000"/>
              </a:lnSpc>
              <a:buFont typeface="+mj-lt"/>
              <a:buAutoNum type="arabicPeriod"/>
            </a:pPr>
            <a:r>
              <a:rPr lang="ko-KR" altLang="en-US" sz="2000" b="1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개선활동 계획 및 활동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6926918-9A45-1CC6-3FE4-C26ABF297F02}"/>
              </a:ext>
            </a:extLst>
          </p:cNvPr>
          <p:cNvCxnSpPr/>
          <p:nvPr/>
        </p:nvCxnSpPr>
        <p:spPr>
          <a:xfrm>
            <a:off x="1778000" y="1147203"/>
            <a:ext cx="991325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9116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1.</a:t>
            </a:r>
            <a:r>
              <a:rPr lang="ko-KR" altLang="en-US" dirty="0"/>
              <a:t> 팀 구성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2786CA1-B1B9-4CAE-8373-4F71EAFA25F9}"/>
              </a:ext>
            </a:extLst>
          </p:cNvPr>
          <p:cNvSpPr/>
          <p:nvPr/>
        </p:nvSpPr>
        <p:spPr>
          <a:xfrm>
            <a:off x="1869583" y="2545604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 err="1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팀명</a:t>
            </a:r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우리 가치 팀 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(</a:t>
            </a:r>
            <a:r>
              <a:rPr lang="en-US" altLang="ko-KR" b="1" dirty="0" err="1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WeValue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 Team)</a:t>
            </a:r>
            <a:endParaRPr lang="ko-KR" altLang="en-US" b="1" i="0" dirty="0">
              <a:solidFill>
                <a:srgbClr val="1E293B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70FCF46-0CD6-4DAA-8F72-7C40CED398A0}"/>
              </a:ext>
            </a:extLst>
          </p:cNvPr>
          <p:cNvSpPr/>
          <p:nvPr/>
        </p:nvSpPr>
        <p:spPr>
          <a:xfrm>
            <a:off x="1869583" y="3054320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책임 교수 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박재홍 교수</a:t>
            </a:r>
            <a:endParaRPr lang="ko-KR" altLang="en-US" b="1" i="0" dirty="0">
              <a:solidFill>
                <a:srgbClr val="1E293B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36F5C60-EEE1-4D88-B34B-86D7C3AEF537}"/>
              </a:ext>
            </a:extLst>
          </p:cNvPr>
          <p:cNvSpPr/>
          <p:nvPr/>
        </p:nvSpPr>
        <p:spPr>
          <a:xfrm>
            <a:off x="1869583" y="3517959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팀장 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박은영</a:t>
            </a:r>
            <a:endParaRPr lang="ko-KR" altLang="en-US" b="1" i="0" dirty="0">
              <a:solidFill>
                <a:srgbClr val="1E293B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21745E-3023-4B05-AD2D-92039DFF0D3D}"/>
              </a:ext>
            </a:extLst>
          </p:cNvPr>
          <p:cNvSpPr/>
          <p:nvPr/>
        </p:nvSpPr>
        <p:spPr>
          <a:xfrm>
            <a:off x="1869583" y="4000916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간사 </a:t>
            </a:r>
            <a:r>
              <a:rPr lang="en-US" altLang="ko-KR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b="1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이미자</a:t>
            </a:r>
            <a:r>
              <a:rPr lang="en-US" altLang="ko-KR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2</a:t>
            </a:r>
            <a:endParaRPr lang="ko-KR" altLang="en-US" b="1" i="0" baseline="30000" dirty="0">
              <a:solidFill>
                <a:srgbClr val="1E293B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41FE5A9-780D-4BC9-AB0C-5971BA02E140}"/>
              </a:ext>
            </a:extLst>
          </p:cNvPr>
          <p:cNvSpPr/>
          <p:nvPr/>
        </p:nvSpPr>
        <p:spPr>
          <a:xfrm>
            <a:off x="1869582" y="4586905"/>
            <a:ext cx="8575184" cy="3795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팀 원 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: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이미자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¹,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박준호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김동주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정수미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 err="1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김미령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박지현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김은경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 err="1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손선미</a:t>
            </a:r>
            <a:r>
              <a:rPr lang="en-US" altLang="ko-KR" sz="2800" b="1" baseline="30000" dirty="0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, </a:t>
            </a:r>
            <a:r>
              <a:rPr lang="ko-KR" altLang="en-US" sz="2800" b="1" baseline="30000" dirty="0" err="1">
                <a:solidFill>
                  <a:srgbClr val="1E293B"/>
                </a:solidFill>
                <a:latin typeface="Noto Sans KR" panose="020B0200000000000000" pitchFamily="50" charset="-127"/>
                <a:ea typeface="Noto Sans KR" panose="020B0200000000000000" pitchFamily="50" charset="-127"/>
              </a:rPr>
              <a:t>김하늬</a:t>
            </a:r>
            <a:endParaRPr lang="ko-KR" altLang="en-US" sz="2800" b="1" i="0" baseline="30000" dirty="0">
              <a:solidFill>
                <a:srgbClr val="1E293B"/>
              </a:solidFill>
              <a:effectLst/>
              <a:latin typeface="Noto Sans KR" panose="020B0200000000000000" pitchFamily="50" charset="-127"/>
              <a:ea typeface="Noto Sans KR" panose="020B0200000000000000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130139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6EE7A876-3856-48D2-8279-BA97EACA7252}"/>
              </a:ext>
            </a:extLst>
          </p:cNvPr>
          <p:cNvSpPr/>
          <p:nvPr/>
        </p:nvSpPr>
        <p:spPr>
          <a:xfrm>
            <a:off x="1049628" y="2086377"/>
            <a:ext cx="4932609" cy="11655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14C3D646-E1C7-43C6-87D1-5DCD68157112}"/>
              </a:ext>
            </a:extLst>
          </p:cNvPr>
          <p:cNvSpPr/>
          <p:nvPr/>
        </p:nvSpPr>
        <p:spPr>
          <a:xfrm>
            <a:off x="1049628" y="3322749"/>
            <a:ext cx="4932609" cy="11655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808EF35-B4EE-4EB8-82D9-87714203E7C8}"/>
              </a:ext>
            </a:extLst>
          </p:cNvPr>
          <p:cNvSpPr/>
          <p:nvPr/>
        </p:nvSpPr>
        <p:spPr>
          <a:xfrm>
            <a:off x="1049628" y="4559120"/>
            <a:ext cx="4932609" cy="1165538"/>
          </a:xfrm>
          <a:prstGeom prst="round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2. </a:t>
            </a:r>
            <a:r>
              <a:rPr lang="ko-KR" altLang="en-US" dirty="0"/>
              <a:t>활동의 필요성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A422C8E-2DCE-4B6A-9A5A-71EC81E54013}"/>
              </a:ext>
            </a:extLst>
          </p:cNvPr>
          <p:cNvSpPr txBox="1"/>
          <p:nvPr/>
        </p:nvSpPr>
        <p:spPr>
          <a:xfrm>
            <a:off x="4782972" y="1237688"/>
            <a:ext cx="17331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배경 및 필요성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0EDD75-3FB8-4150-A875-B2749336825F}"/>
              </a:ext>
            </a:extLst>
          </p:cNvPr>
          <p:cNvSpPr txBox="1"/>
          <p:nvPr/>
        </p:nvSpPr>
        <p:spPr>
          <a:xfrm>
            <a:off x="1204174" y="2499869"/>
            <a:ext cx="184858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ko-KR" altLang="en-US" sz="1600" b="1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의료 환경의 변화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4A7094E-DC07-4F64-A2AD-10063D01699A}"/>
              </a:ext>
            </a:extLst>
          </p:cNvPr>
          <p:cNvSpPr txBox="1"/>
          <p:nvPr/>
        </p:nvSpPr>
        <p:spPr>
          <a:xfrm>
            <a:off x="3387143" y="2376759"/>
            <a:ext cx="229242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PA</a:t>
            </a:r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간호사와 병동간호사의</a:t>
            </a:r>
            <a:endParaRPr lang="en-US" altLang="ko-KR" sz="1600" dirty="0">
              <a:latin typeface="KoPub돋움체 Light" panose="00000300000000000000" pitchFamily="2" charset="-127"/>
              <a:ea typeface="KoPub돋움체 Light" panose="00000300000000000000" pitchFamily="2" charset="-127"/>
            </a:endParaRPr>
          </a:p>
          <a:p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협업 중요성 증대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9FFA8C4-2B29-4A72-B9CC-D44454342213}"/>
              </a:ext>
            </a:extLst>
          </p:cNvPr>
          <p:cNvSpPr txBox="1"/>
          <p:nvPr/>
        </p:nvSpPr>
        <p:spPr>
          <a:xfrm>
            <a:off x="1204174" y="3736241"/>
            <a:ext cx="226696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ko-KR" altLang="en-US" sz="1600" b="1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분산된 상호 소통 채널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05FC1CC-6E3A-46BD-9EF8-196469E47DC1}"/>
              </a:ext>
            </a:extLst>
          </p:cNvPr>
          <p:cNvSpPr txBox="1"/>
          <p:nvPr/>
        </p:nvSpPr>
        <p:spPr>
          <a:xfrm>
            <a:off x="3387143" y="3613131"/>
            <a:ext cx="173957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전화</a:t>
            </a:r>
            <a:r>
              <a:rPr lang="en-US" altLang="ko-KR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, </a:t>
            </a:r>
            <a:r>
              <a:rPr lang="ko-KR" altLang="en-US" sz="1600" dirty="0" err="1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메시지등의</a:t>
            </a:r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 </a:t>
            </a:r>
            <a:endParaRPr lang="en-US" altLang="ko-KR" sz="1600" dirty="0">
              <a:latin typeface="KoPub돋움체 Light" panose="00000300000000000000" pitchFamily="2" charset="-127"/>
              <a:ea typeface="KoPub돋움체 Light" panose="00000300000000000000" pitchFamily="2" charset="-127"/>
            </a:endParaRPr>
          </a:p>
          <a:p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비정형적 소통 의존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9F517DC-434A-4954-BC8E-4D72E4CF6315}"/>
              </a:ext>
            </a:extLst>
          </p:cNvPr>
          <p:cNvSpPr txBox="1"/>
          <p:nvPr/>
        </p:nvSpPr>
        <p:spPr>
          <a:xfrm>
            <a:off x="1204174" y="4972612"/>
            <a:ext cx="166904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l"/>
            </a:pPr>
            <a:r>
              <a:rPr lang="ko-KR" altLang="en-US" sz="1600" b="1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업무 효율 저하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1E89F8A-14AF-4377-8033-C42622327447}"/>
              </a:ext>
            </a:extLst>
          </p:cNvPr>
          <p:cNvSpPr txBox="1"/>
          <p:nvPr/>
        </p:nvSpPr>
        <p:spPr>
          <a:xfrm>
            <a:off x="3387143" y="4849502"/>
            <a:ext cx="203773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맥락 단절 및 반복 호출</a:t>
            </a:r>
            <a:endParaRPr lang="en-US" altLang="ko-KR" sz="1600" dirty="0">
              <a:latin typeface="KoPub돋움체 Light" panose="00000300000000000000" pitchFamily="2" charset="-127"/>
              <a:ea typeface="KoPub돋움체 Light" panose="00000300000000000000" pitchFamily="2" charset="-127"/>
            </a:endParaRPr>
          </a:p>
          <a:p>
            <a:r>
              <a:rPr lang="ko-KR" altLang="en-US" sz="1600" dirty="0">
                <a:latin typeface="KoPub돋움체 Light" panose="00000300000000000000" pitchFamily="2" charset="-127"/>
                <a:ea typeface="KoPub돋움체 Light" panose="00000300000000000000" pitchFamily="2" charset="-127"/>
              </a:rPr>
              <a:t>업무 피로도 가중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AD2F5A0-6876-4FF4-80C0-2AC977AE19FA}"/>
              </a:ext>
            </a:extLst>
          </p:cNvPr>
          <p:cNvSpPr txBox="1"/>
          <p:nvPr/>
        </p:nvSpPr>
        <p:spPr>
          <a:xfrm>
            <a:off x="7373157" y="3245476"/>
            <a:ext cx="293638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fontAlgn="base"/>
            <a:r>
              <a:rPr lang="ko-KR" altLang="en-US" b="1" dirty="0"/>
              <a:t>스마트 소통 프로토콜</a:t>
            </a:r>
            <a:r>
              <a:rPr lang="ko-KR" altLang="en-US" dirty="0"/>
              <a:t>과 </a:t>
            </a:r>
            <a:r>
              <a:rPr lang="ko-KR" altLang="en-US" b="1" dirty="0"/>
              <a:t>임상 실무 시각 가이드</a:t>
            </a:r>
            <a:r>
              <a:rPr lang="ko-KR" altLang="en-US" dirty="0"/>
              <a:t>를 구축을 통하여 소통환경을 개선</a:t>
            </a:r>
          </a:p>
        </p:txBody>
      </p:sp>
      <p:sp>
        <p:nvSpPr>
          <p:cNvPr id="41" name="화살표: 오른쪽 40">
            <a:extLst>
              <a:ext uri="{FF2B5EF4-FFF2-40B4-BE49-F238E27FC236}">
                <a16:creationId xmlns:a16="http://schemas.microsoft.com/office/drawing/2014/main" id="{41CDE4D3-42F7-4FF4-A9A9-B000D25AECCF}"/>
              </a:ext>
            </a:extLst>
          </p:cNvPr>
          <p:cNvSpPr/>
          <p:nvPr/>
        </p:nvSpPr>
        <p:spPr>
          <a:xfrm>
            <a:off x="6381482" y="3657599"/>
            <a:ext cx="546017" cy="42500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84847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3. </a:t>
            </a:r>
            <a:r>
              <a:rPr lang="ko-KR" altLang="en-US" dirty="0"/>
              <a:t>문제분석</a:t>
            </a:r>
          </a:p>
        </p:txBody>
      </p:sp>
    </p:spTree>
    <p:extLst>
      <p:ext uri="{BB962C8B-B14F-4D97-AF65-F5344CB8AC3E}">
        <p14:creationId xmlns:p14="http://schemas.microsoft.com/office/powerpoint/2010/main" val="2964779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4. </a:t>
            </a:r>
            <a:r>
              <a:rPr lang="ko-KR" altLang="en-US" dirty="0"/>
              <a:t>목표 및 핵심지표</a:t>
            </a:r>
          </a:p>
        </p:txBody>
      </p:sp>
    </p:spTree>
    <p:extLst>
      <p:ext uri="{BB962C8B-B14F-4D97-AF65-F5344CB8AC3E}">
        <p14:creationId xmlns:p14="http://schemas.microsoft.com/office/powerpoint/2010/main" val="42030695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D51D1B-0DB5-A282-D99E-57AC7CC3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5. </a:t>
            </a:r>
            <a:r>
              <a:rPr lang="ko-KR" altLang="en-US" dirty="0"/>
              <a:t>개선활동 계획 및 활동</a:t>
            </a:r>
          </a:p>
        </p:txBody>
      </p:sp>
    </p:spTree>
    <p:extLst>
      <p:ext uri="{BB962C8B-B14F-4D97-AF65-F5344CB8AC3E}">
        <p14:creationId xmlns:p14="http://schemas.microsoft.com/office/powerpoint/2010/main" val="27424206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888948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1070</TotalTime>
  <Words>159</Words>
  <Application>Microsoft Office PowerPoint</Application>
  <PresentationFormat>와이드스크린</PresentationFormat>
  <Paragraphs>41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KoPub돋움체 Bold</vt:lpstr>
      <vt:lpstr>KoPub돋움체 Light</vt:lpstr>
      <vt:lpstr>Noto Sans KR</vt:lpstr>
      <vt:lpstr>맑은 고딕</vt:lpstr>
      <vt:lpstr>Arial</vt:lpstr>
      <vt:lpstr>Wingdings</vt:lpstr>
      <vt:lpstr>1_Office 테마</vt:lpstr>
      <vt:lpstr>[2026 QI] WeValue 우리가치</vt:lpstr>
      <vt:lpstr>목차</vt:lpstr>
      <vt:lpstr>1. 팀 구성</vt:lpstr>
      <vt:lpstr>2. 활동의 필요성</vt:lpstr>
      <vt:lpstr>3. 문제분석</vt:lpstr>
      <vt:lpstr>4. 목표 및 핵심지표</vt:lpstr>
      <vt:lpstr>5. 개선활동 계획 및 활동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[2026 QI] WeValue 우리가치</dc:title>
  <dc:creator>성민 임</dc:creator>
  <cp:lastModifiedBy>rahee</cp:lastModifiedBy>
  <cp:revision>910</cp:revision>
  <dcterms:created xsi:type="dcterms:W3CDTF">2026-03-04T12:11:45Z</dcterms:created>
  <dcterms:modified xsi:type="dcterms:W3CDTF">2026-05-03T10:35:44Z</dcterms:modified>
</cp:coreProperties>
</file>