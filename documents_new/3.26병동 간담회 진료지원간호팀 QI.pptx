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9" r:id="rId3"/>
    <p:sldId id="310" r:id="rId4"/>
    <p:sldId id="312" r:id="rId5"/>
    <p:sldId id="313" r:id="rId6"/>
    <p:sldId id="317" r:id="rId7"/>
    <p:sldId id="318" r:id="rId8"/>
    <p:sldId id="319" r:id="rId9"/>
    <p:sldId id="320" r:id="rId10"/>
    <p:sldId id="29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63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  <p15:guide id="13" orient="horz" pos="12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3487" autoAdjust="0"/>
  </p:normalViewPr>
  <p:slideViewPr>
    <p:cSldViewPr snapToGrid="0">
      <p:cViewPr varScale="1">
        <p:scale>
          <a:sx n="147" d="100"/>
          <a:sy n="147" d="100"/>
        </p:scale>
        <p:origin x="588" y="132"/>
      </p:cViewPr>
      <p:guideLst>
        <p:guide pos="234"/>
        <p:guide pos="7446"/>
        <p:guide pos="529"/>
        <p:guide pos="3863"/>
        <p:guide pos="7151"/>
        <p:guide orient="horz" pos="2160"/>
        <p:guide orient="horz" pos="3952"/>
        <p:guide orient="horz" pos="867"/>
        <p:guide orient="horz" pos="12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500" dirty="0"/>
              <a:t>안녕하십니까</a:t>
            </a:r>
            <a:r>
              <a:rPr lang="en-US" altLang="ko-KR" sz="500" dirty="0"/>
              <a:t>. 2026</a:t>
            </a:r>
            <a:r>
              <a:rPr lang="ko-KR" altLang="en-US" sz="500" dirty="0"/>
              <a:t>년 진료지원간호팀의 </a:t>
            </a:r>
            <a:r>
              <a:rPr lang="en-US" altLang="ko-KR" sz="500" dirty="0"/>
              <a:t>QI </a:t>
            </a:r>
            <a:r>
              <a:rPr lang="ko-KR" altLang="en-US" sz="500" dirty="0"/>
              <a:t>활동</a:t>
            </a:r>
            <a:r>
              <a:rPr lang="en-US" altLang="ko-KR" sz="500" dirty="0"/>
              <a:t>, **‘</a:t>
            </a:r>
            <a:r>
              <a:rPr lang="ko-KR" altLang="en-US" sz="500" dirty="0"/>
              <a:t>이보다 더 좋을 순 없다</a:t>
            </a:r>
            <a:r>
              <a:rPr lang="en-US" altLang="ko-KR" sz="500" dirty="0"/>
              <a:t>! </a:t>
            </a:r>
            <a:r>
              <a:rPr lang="ko-KR" altLang="en-US" sz="500" dirty="0"/>
              <a:t>협업 기반 간호 현장’**의 발표를 맡은 이비인후과 전담간호사 이미자입니다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저희 프로젝트 </a:t>
            </a:r>
            <a:r>
              <a:rPr lang="ko-KR" altLang="en-US" sz="500" dirty="0" err="1"/>
              <a:t>팀명인</a:t>
            </a:r>
            <a:r>
              <a:rPr lang="ko-KR" altLang="en-US" sz="500" dirty="0"/>
              <a:t> **‘</a:t>
            </a:r>
            <a:r>
              <a:rPr lang="en-US" altLang="ko-KR" sz="500" dirty="0" err="1"/>
              <a:t>WeValue</a:t>
            </a:r>
            <a:r>
              <a:rPr lang="en-US" altLang="ko-KR" sz="500" dirty="0"/>
              <a:t>(</a:t>
            </a:r>
            <a:r>
              <a:rPr lang="ko-KR" altLang="en-US" sz="500" dirty="0" err="1"/>
              <a:t>우리가치</a:t>
            </a:r>
            <a:r>
              <a:rPr lang="en-US" altLang="ko-KR" sz="500" dirty="0"/>
              <a:t>)’**</a:t>
            </a:r>
            <a:r>
              <a:rPr lang="ko-KR" altLang="en-US" sz="500" dirty="0"/>
              <a:t>에는 두 가지 큰 의미가 담겨 있습니다</a:t>
            </a:r>
            <a:r>
              <a:rPr lang="en-US" altLang="ko-KR" sz="500" dirty="0"/>
              <a:t>. </a:t>
            </a:r>
            <a:r>
              <a:rPr lang="ko-KR" altLang="en-US" sz="500" dirty="0"/>
              <a:t>첫 번째는 진료지원간호사</a:t>
            </a:r>
            <a:r>
              <a:rPr lang="en-US" altLang="ko-KR" sz="500" dirty="0"/>
              <a:t>(PA)</a:t>
            </a:r>
            <a:r>
              <a:rPr lang="ko-KR" altLang="en-US" sz="500" dirty="0"/>
              <a:t>와 병동 간호사가 환자의 회복이라는 하나의 목표를 위해 </a:t>
            </a:r>
            <a:r>
              <a:rPr lang="ko-KR" altLang="en-US" sz="500" b="1" dirty="0"/>
              <a:t>‘우리 같이’</a:t>
            </a:r>
            <a:r>
              <a:rPr lang="ko-KR" altLang="en-US" sz="500" dirty="0"/>
              <a:t> 움직이는 든든한 파트너라는 뜻이며</a:t>
            </a:r>
            <a:r>
              <a:rPr lang="en-US" altLang="ko-KR" sz="500" dirty="0"/>
              <a:t>, </a:t>
            </a:r>
            <a:r>
              <a:rPr lang="ko-KR" altLang="en-US" sz="500" dirty="0"/>
              <a:t>두 번째는 우리 모두가 전문가로서 </a:t>
            </a:r>
            <a:r>
              <a:rPr lang="ko-KR" altLang="en-US" sz="500" dirty="0" err="1"/>
              <a:t>존중받는</a:t>
            </a:r>
            <a:r>
              <a:rPr lang="ko-KR" altLang="en-US" sz="500" dirty="0"/>
              <a:t> **‘우리의 가치’**를 함께 높여보자는 약속입니다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오늘 이 자리를 통해 우리 모두가 전문가로서의 자부심을 지키며</a:t>
            </a:r>
            <a:r>
              <a:rPr lang="en-US" altLang="ko-KR" sz="500" dirty="0"/>
              <a:t>, </a:t>
            </a:r>
            <a:r>
              <a:rPr lang="ko-KR" altLang="en-US" sz="500" dirty="0"/>
              <a:t>더 기분 좋게 일할 수 있는 협업 기반의 간호 현장을 함께 설계해보고자 합니다</a:t>
            </a:r>
            <a:r>
              <a:rPr lang="en-US" altLang="ko-KR" sz="500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900" dirty="0"/>
              <a:t>"</a:t>
            </a:r>
            <a:r>
              <a:rPr lang="ko-KR" altLang="en-US" sz="900" dirty="0"/>
              <a:t>오늘 간담회는 우리가 모인 취지를 공유하고</a:t>
            </a:r>
            <a:r>
              <a:rPr lang="en-US" altLang="ko-KR" sz="900" dirty="0"/>
              <a:t>, </a:t>
            </a:r>
            <a:r>
              <a:rPr lang="ko-KR" altLang="en-US" sz="900" dirty="0"/>
              <a:t>현장의 숙제들을 함께 살펴본 뒤 선생님들의 생생한 의견을 듣는 순서로 채워보고자 합니다</a:t>
            </a:r>
            <a:r>
              <a:rPr lang="en-US" altLang="ko-KR" sz="900" dirty="0"/>
              <a:t>."</a:t>
            </a:r>
            <a:endParaRPr lang="ko-KR" altLang="en-US" sz="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8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9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/>
              <a:t>"</a:t>
            </a:r>
            <a:r>
              <a:rPr lang="ko-KR" altLang="en-US" sz="800" dirty="0"/>
              <a:t>지금 우리 현장에는 업무 범위에 대한 견해 차이나 소통의 어려움이 분명 존재하고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혹시 ‘지금도 잘하고 있는데 왜 협업일까</a:t>
            </a:r>
            <a:r>
              <a:rPr lang="en-US" altLang="ko-KR" sz="800" dirty="0"/>
              <a:t>?’</a:t>
            </a:r>
            <a:r>
              <a:rPr lang="ko-KR" altLang="en-US" sz="800" dirty="0"/>
              <a:t>라고 생각하실 수도 있지만</a:t>
            </a:r>
            <a:r>
              <a:rPr lang="en-US" altLang="ko-KR" sz="800" dirty="0"/>
              <a:t>, </a:t>
            </a:r>
            <a:r>
              <a:rPr lang="ko-KR" altLang="en-US" sz="800" dirty="0"/>
              <a:t>사실 지금의 평온함은 </a:t>
            </a:r>
            <a:r>
              <a:rPr lang="ko-KR" altLang="en-US" sz="800" b="1" dirty="0"/>
              <a:t>선생님들 개개인의 희생과 헌신으로 버티고 있는 결과</a:t>
            </a:r>
            <a:r>
              <a:rPr lang="ko-KR" altLang="en-US" sz="800" dirty="0"/>
              <a:t>일지 모릅니다</a:t>
            </a:r>
            <a:r>
              <a:rPr lang="en-US" altLang="ko-KR" sz="800" dirty="0"/>
              <a:t>. </a:t>
            </a:r>
            <a:r>
              <a:rPr lang="ko-KR" altLang="en-US" sz="800" dirty="0"/>
              <a:t>이제 그 ‘개인의 </a:t>
            </a:r>
            <a:r>
              <a:rPr lang="ko-KR" altLang="en-US" sz="800" dirty="0" err="1"/>
              <a:t>부담’을</a:t>
            </a:r>
            <a:r>
              <a:rPr lang="ko-KR" altLang="en-US" sz="800" dirty="0"/>
              <a:t> ‘안전한 </a:t>
            </a:r>
            <a:r>
              <a:rPr lang="ko-KR" altLang="en-US" sz="800" dirty="0" err="1"/>
              <a:t>시스템’으로</a:t>
            </a:r>
            <a:r>
              <a:rPr lang="ko-KR" altLang="en-US" sz="800" dirty="0"/>
              <a:t> 함께 바꾸어 가고 싶습니다</a:t>
            </a:r>
            <a:r>
              <a:rPr lang="en-US" altLang="ko-KR" sz="800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02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첫 번째로 제안 드리고 싶은 과제는 **‘표준화된 보고 체계’**입니다</a:t>
            </a:r>
            <a:r>
              <a:rPr lang="en-US" altLang="ko-KR" sz="800" dirty="0"/>
              <a:t>. </a:t>
            </a:r>
          </a:p>
          <a:p>
            <a:r>
              <a:rPr lang="ko-KR" altLang="en-US" sz="800" dirty="0"/>
              <a:t>사람마다 다른 보고 방식을 정돈하여</a:t>
            </a:r>
            <a:r>
              <a:rPr lang="en-US" altLang="ko-KR" sz="800" dirty="0"/>
              <a:t>, </a:t>
            </a:r>
            <a:r>
              <a:rPr lang="ko-KR" altLang="en-US" sz="800" dirty="0"/>
              <a:t>불필요한 재확인 시간과 중복 업무를 줄여보고자 합니다</a:t>
            </a:r>
            <a:r>
              <a:rPr lang="en-US" altLang="ko-KR" sz="800" dirty="0"/>
              <a:t>. </a:t>
            </a:r>
          </a:p>
          <a:p>
            <a:r>
              <a:rPr lang="ko-KR" altLang="en-US" sz="800" b="1" dirty="0"/>
              <a:t>실제로 이 방식이 현장에서 선생님들의 손발을 가볍게 해줄 수 있을지</a:t>
            </a:r>
            <a:r>
              <a:rPr lang="en-US" altLang="ko-KR" sz="800" b="1" dirty="0"/>
              <a:t>, </a:t>
            </a:r>
            <a:r>
              <a:rPr lang="ko-KR" altLang="en-US" sz="800" b="1" dirty="0"/>
              <a:t>잠시 후 의견을 꼭 여쭙고 싶습니다</a:t>
            </a:r>
            <a:r>
              <a:rPr lang="en-US" altLang="ko-KR" sz="800" b="1" dirty="0"/>
              <a:t>.</a:t>
            </a:r>
            <a:r>
              <a:rPr lang="en-US" altLang="ko-KR" sz="800" dirty="0"/>
              <a:t>"</a:t>
            </a:r>
            <a:endParaRPr lang="ko-KR" altLang="en-US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297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두 번째는 실시간으로 소통 가능 여부를 확인하고</a:t>
            </a:r>
            <a:r>
              <a:rPr lang="en-US" altLang="ko-KR" sz="800" dirty="0"/>
              <a:t>, </a:t>
            </a:r>
            <a:r>
              <a:rPr lang="ko-KR" altLang="en-US" sz="800" b="1" dirty="0"/>
              <a:t>안심하고 서로를 지원할 수 있는 공식 채널</a:t>
            </a:r>
            <a:r>
              <a:rPr lang="ko-KR" altLang="en-US" sz="800" dirty="0"/>
              <a:t>을 구축하는 일입니다</a:t>
            </a:r>
            <a:r>
              <a:rPr lang="en-US" altLang="ko-KR" sz="800" dirty="0"/>
              <a:t>. </a:t>
            </a:r>
            <a:r>
              <a:rPr lang="ko-KR" altLang="en-US" sz="800" dirty="0"/>
              <a:t>누가 무엇을 하는지 투명하게 공유될 때</a:t>
            </a:r>
            <a:r>
              <a:rPr lang="en-US" altLang="ko-KR" sz="800" dirty="0"/>
              <a:t>, </a:t>
            </a:r>
            <a:r>
              <a:rPr lang="ko-KR" altLang="en-US" sz="800" dirty="0"/>
              <a:t>우리는 주저함 없이 소통할 수 있습니다</a:t>
            </a:r>
            <a:r>
              <a:rPr lang="en-US" altLang="ko-KR" sz="800" dirty="0"/>
              <a:t>. </a:t>
            </a:r>
            <a:r>
              <a:rPr lang="ko-KR" altLang="en-US" sz="800" b="1" dirty="0"/>
              <a:t>현실적으로 우리에게 가장 편리한 채널은 무엇일지 함께 답을 찾아가고 싶습니다</a:t>
            </a:r>
            <a:r>
              <a:rPr lang="en-US" altLang="ko-KR" sz="800" b="1" dirty="0"/>
              <a:t>.</a:t>
            </a:r>
            <a:r>
              <a:rPr lang="en-US" altLang="ko-KR" sz="800" dirty="0"/>
              <a:t>"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045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마지막으로 서로의 역할을 깊이 이해하고 응원하는 문화를 설계해보고자 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우리는 각자의 전문성을 발휘하는 최고의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심리적 거리감을 좁히고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 서로를 인정해주는 따뜻한 문화를 만드는 데 지혜를 </a:t>
            </a:r>
            <a:r>
              <a:rPr lang="ko-KR" altLang="en-US" sz="800" dirty="0" err="1"/>
              <a:t>보태주시면</a:t>
            </a:r>
            <a:r>
              <a:rPr lang="ko-KR" altLang="en-US" sz="800" dirty="0"/>
              <a:t> 감사하겠습니다</a:t>
            </a:r>
            <a:r>
              <a:rPr lang="en-US" altLang="ko-KR" sz="800" dirty="0"/>
              <a:t>."</a:t>
            </a:r>
            <a:endParaRPr lang="ko-KR" altLang="en-US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215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/>
              <a:t>"</a:t>
            </a:r>
            <a:r>
              <a:rPr lang="ko-KR" altLang="en-US" sz="800" dirty="0"/>
              <a:t>이제 제가 준비한 이야기보다 훨씬 더 소중한 선생님들의 목소리를 경청하고자 합니다</a:t>
            </a:r>
            <a:r>
              <a:rPr lang="en-US" altLang="ko-KR" sz="800" dirty="0"/>
              <a:t>. </a:t>
            </a:r>
            <a:r>
              <a:rPr lang="ko-KR" altLang="en-US" sz="800" dirty="0"/>
              <a:t>배포해 드린 **</a:t>
            </a:r>
            <a:r>
              <a:rPr lang="en-US" altLang="ko-KR" sz="800" dirty="0"/>
              <a:t>[</a:t>
            </a:r>
            <a:r>
              <a:rPr lang="ko-KR" altLang="en-US" sz="800" dirty="0"/>
              <a:t>현장 고충 기록지</a:t>
            </a:r>
            <a:r>
              <a:rPr lang="en-US" altLang="ko-KR" sz="800" dirty="0"/>
              <a:t>]**</a:t>
            </a:r>
            <a:r>
              <a:rPr lang="ko-KR" altLang="en-US" sz="800" dirty="0"/>
              <a:t>에 평소 느끼셨던 어려움이나 보완 사항을 적어 </a:t>
            </a:r>
            <a:r>
              <a:rPr lang="ko-KR" altLang="en-US" sz="800" dirty="0" err="1"/>
              <a:t>오셨을텐데요</a:t>
            </a:r>
            <a:r>
              <a:rPr lang="en-US" altLang="ko-KR" sz="800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/>
              <a:t> </a:t>
            </a:r>
            <a:r>
              <a:rPr lang="ko-KR" altLang="en-US" sz="800" b="1" dirty="0"/>
              <a:t>선생님들이 들려주시는 이야기가 곧 우리가 만들어갈 새로운 표준의 정답이 될 것입니다</a:t>
            </a:r>
            <a:r>
              <a:rPr lang="en-US" altLang="ko-KR" sz="800" b="1" dirty="0"/>
              <a:t>.</a:t>
            </a:r>
            <a:r>
              <a:rPr lang="en-US" altLang="ko-KR" sz="800" dirty="0"/>
              <a:t>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79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800" dirty="0"/>
              <a:t>오늘 주신 귀한 의견들은 하나도 빠짐없이 검토하여</a:t>
            </a:r>
            <a:r>
              <a:rPr lang="en-US" altLang="ko-KR" sz="800" dirty="0"/>
              <a:t>, </a:t>
            </a:r>
            <a:r>
              <a:rPr lang="ko-KR" altLang="en-US" sz="800" dirty="0"/>
              <a:t>다음 모임 때 더 실질적인 ‘도구 </a:t>
            </a:r>
            <a:r>
              <a:rPr lang="ko-KR" altLang="en-US" sz="800" dirty="0" err="1"/>
              <a:t>상자’로</a:t>
            </a:r>
            <a:r>
              <a:rPr lang="ko-KR" altLang="en-US" sz="800" dirty="0"/>
              <a:t> 보완하여 다시 </a:t>
            </a:r>
            <a:r>
              <a:rPr lang="ko-KR" altLang="en-US" sz="800" dirty="0" err="1"/>
              <a:t>찾아뵙겠습니다</a:t>
            </a:r>
            <a:r>
              <a:rPr lang="en-US" altLang="ko-KR" sz="800" dirty="0"/>
              <a:t>. </a:t>
            </a:r>
            <a:r>
              <a:rPr lang="ko-KR" altLang="en-US" sz="800" b="1" dirty="0"/>
              <a:t>선생님들이 ‘이 정도면 </a:t>
            </a:r>
            <a:r>
              <a:rPr lang="ko-KR" altLang="en-US" sz="800" b="1" dirty="0" err="1"/>
              <a:t>괜찮겠다’고</a:t>
            </a:r>
            <a:r>
              <a:rPr lang="ko-KR" altLang="en-US" sz="800" b="1" dirty="0"/>
              <a:t> 승인해 주시는 만큼만 우리는 앞으로 나아가려 합니다</a:t>
            </a:r>
            <a:r>
              <a:rPr lang="en-US" altLang="ko-KR" sz="800" b="1" dirty="0"/>
              <a:t>.</a:t>
            </a:r>
            <a:r>
              <a:rPr lang="ko-KR" altLang="en-US" sz="800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08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바쁘신 와중에도 우리 모두의 더 나은 내일을 위해 </a:t>
            </a:r>
            <a:r>
              <a:rPr lang="ko-KR" altLang="en-US" dirty="0" err="1"/>
              <a:t>함께해주셔서</a:t>
            </a:r>
            <a:r>
              <a:rPr lang="ko-KR" altLang="en-US" dirty="0"/>
              <a:t> 진심으로 감사합니다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78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9973" y="3602038"/>
            <a:ext cx="7972054" cy="2139881"/>
          </a:xfrm>
        </p:spPr>
        <p:txBody>
          <a:bodyPr wrap="none">
            <a:spAutoFit/>
          </a:bodyPr>
          <a:lstStyle/>
          <a:p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이보다 더 좋을 순 없다</a:t>
            </a:r>
            <a:r>
              <a:rPr lang="en-US" altLang="ko-KR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! </a:t>
            </a:r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협업기반 간호 현장</a:t>
            </a:r>
            <a:endParaRPr lang="en-US" altLang="ko-KR" sz="3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시스템 간담회</a:t>
            </a:r>
            <a:endParaRPr lang="en-US" altLang="ko-KR" sz="3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발표자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이비인후과 이미자</a:t>
            </a: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553C289-4693-A1E1-ACA9-3EFD52D2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78000" y="1406131"/>
            <a:ext cx="8470900" cy="4981966"/>
          </a:xfrm>
        </p:spPr>
        <p:txBody>
          <a:bodyPr wrap="none"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우리가  모인 이유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우리가 마주한 현장의 모습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시스템</a:t>
            </a: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표준화된 보고 체계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환경</a:t>
            </a: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공식 소통 채널 구축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문화</a:t>
            </a: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파트너십과 상호 존중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[Listening] 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선생님들의 목소리</a:t>
            </a: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ko-KR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[Bridge] </a:t>
            </a:r>
            <a:r>
              <a:rPr lang="ko-KR" altLang="en-US" sz="33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함께 만드는 새로운 표준 </a:t>
            </a:r>
            <a:endParaRPr lang="ko-KR" altLang="en-US" sz="20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6926918-9A45-1CC6-3FE4-C26ABF297F02}"/>
              </a:ext>
            </a:extLst>
          </p:cNvPr>
          <p:cNvCxnSpPr/>
          <p:nvPr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우리가 오늘 모인 이유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4747B-0715-334D-0F5E-269400C8CA05}"/>
              </a:ext>
            </a:extLst>
          </p:cNvPr>
          <p:cNvSpPr txBox="1"/>
          <p:nvPr/>
        </p:nvSpPr>
        <p:spPr>
          <a:xfrm>
            <a:off x="839787" y="1394124"/>
            <a:ext cx="10512426" cy="3892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fontAlgn="base" latinLnBrk="1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우리는 같은 목표를 가진 협업 파트너입니다</a:t>
            </a:r>
            <a:br>
              <a:rPr lang="en-US" altLang="ko-KR" sz="32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sz="32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</a:t>
            </a:r>
            <a:r>
              <a:rPr lang="ko-KR" altLang="en-US" sz="32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우리는 서로의 노력이 맞물릴 때 가장 안전한 진료 환경을 완성합니다</a:t>
            </a:r>
            <a:r>
              <a:rPr lang="en-US" altLang="ko-KR" sz="32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.”</a:t>
            </a:r>
            <a:endParaRPr lang="ko-KR" altLang="en-US" sz="32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lvl="0" indent="-342900" fontAlgn="base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전문가로서의 자부심을 지키는 </a:t>
            </a: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</a:t>
            </a: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우리만의 기준</a:t>
            </a: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 </a:t>
            </a: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필요 </a:t>
            </a:r>
            <a:endParaRPr lang="en-US" altLang="ko-KR" sz="3200" kern="0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01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BD699-8AA1-EC47-6DC6-879B432C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우리가 마주한  현장의 모습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C8F6F-003A-38D0-FA39-42332175C953}"/>
              </a:ext>
            </a:extLst>
          </p:cNvPr>
          <p:cNvSpPr txBox="1"/>
          <p:nvPr/>
        </p:nvSpPr>
        <p:spPr>
          <a:xfrm>
            <a:off x="839787" y="1376363"/>
            <a:ext cx="10420091" cy="223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 범위에 대한 견해차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소통의 어려움 및 정보 전달의 단절 </a:t>
            </a:r>
          </a:p>
        </p:txBody>
      </p:sp>
    </p:spTree>
    <p:extLst>
      <p:ext uri="{BB962C8B-B14F-4D97-AF65-F5344CB8AC3E}">
        <p14:creationId xmlns:p14="http://schemas.microsoft.com/office/powerpoint/2010/main" val="401834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3DF9C-2068-64C9-2DC8-15CE2894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[</a:t>
            </a:r>
            <a:r>
              <a:rPr lang="ko-KR" altLang="en-US" dirty="0"/>
              <a:t>시스템</a:t>
            </a:r>
            <a:r>
              <a:rPr lang="en-US" altLang="ko-KR" dirty="0"/>
              <a:t>] </a:t>
            </a:r>
            <a:r>
              <a:rPr lang="ko-KR" altLang="en-US" dirty="0"/>
              <a:t>표준화된 보고 체계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46976-A943-2919-7051-473CEFEFB6D0}"/>
              </a:ext>
            </a:extLst>
          </p:cNvPr>
          <p:cNvSpPr txBox="1"/>
          <p:nvPr/>
        </p:nvSpPr>
        <p:spPr>
          <a:xfrm>
            <a:off x="839787" y="1376363"/>
            <a:ext cx="10420091" cy="223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</a:t>
            </a: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누구에게 </a:t>
            </a: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어떻게 말해야 할까</a:t>
            </a: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?”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endParaRPr lang="ko-KR" altLang="en-US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중복 업무 및 재확인 시간 단축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315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958F6-EA2A-F4AC-E29B-8C86A2F4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ADA4A-C413-933C-4F20-E3CCC139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환경</a:t>
            </a:r>
            <a:r>
              <a:rPr lang="en-US" altLang="ko-KR" dirty="0"/>
              <a:t>] </a:t>
            </a:r>
            <a:r>
              <a:rPr lang="ko-KR" altLang="en-US" dirty="0"/>
              <a:t>공식 소통 채널 구축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CE33B-1DF0-65CC-5474-7EE3A9686ED4}"/>
              </a:ext>
            </a:extLst>
          </p:cNvPr>
          <p:cNvSpPr txBox="1"/>
          <p:nvPr/>
        </p:nvSpPr>
        <p:spPr>
          <a:xfrm>
            <a:off x="839787" y="1376363"/>
            <a:ext cx="10420091" cy="223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연락 가능 여부의 실시간 확인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ko-KR" altLang="en-US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명확한 역할 분담과 지원 체계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39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FC32-362E-77AF-D8FA-F23C6558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4C715-A0EC-25A5-1310-11803C3D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문화</a:t>
            </a:r>
            <a:r>
              <a:rPr lang="en-US" altLang="ko-KR" dirty="0"/>
              <a:t>] </a:t>
            </a:r>
            <a:r>
              <a:rPr lang="ko-KR" altLang="en-US" dirty="0"/>
              <a:t>파트너십과 상호 존중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11D1F-EFF9-4640-F5ED-2D9EF72C51FC}"/>
              </a:ext>
            </a:extLst>
          </p:cNvPr>
          <p:cNvSpPr txBox="1"/>
          <p:nvPr/>
        </p:nvSpPr>
        <p:spPr>
          <a:xfrm>
            <a:off x="839787" y="1376363"/>
            <a:ext cx="10420091" cy="223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역할 이해를 통한 심리적 거리감 해소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ko-KR" altLang="en-US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전문가로서 서로를 응원하는 문화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609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6A3E-76B0-34DD-641A-19F37203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FD98D-6553-1CD3-C6C3-02161863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[Listening]</a:t>
            </a:r>
            <a:r>
              <a:rPr lang="ko-KR" altLang="en-US" dirty="0"/>
              <a:t> 선생님의 목소리를 듣습니다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4D550-C956-A905-1BA2-D77683775147}"/>
              </a:ext>
            </a:extLst>
          </p:cNvPr>
          <p:cNvSpPr txBox="1"/>
          <p:nvPr/>
        </p:nvSpPr>
        <p:spPr>
          <a:xfrm>
            <a:off x="839787" y="1376363"/>
            <a:ext cx="10420091" cy="223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현장 고충 및 개선 제안 기록지 </a:t>
            </a:r>
            <a:endParaRPr lang="en-US" altLang="ko-KR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ko-KR" altLang="en-US" sz="3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가장 시급히 개선되어야 할 점은</a:t>
            </a: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12130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7938-00B9-7485-C894-E7F945FE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5A7E7-93D1-01C5-776A-B5983FFC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[Bridge] </a:t>
            </a:r>
            <a:r>
              <a:rPr lang="ko-KR" altLang="en-US" dirty="0"/>
              <a:t>함께 만드는 새로운 표준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CDB88-08BF-7252-79C0-329C8F26D630}"/>
              </a:ext>
            </a:extLst>
          </p:cNvPr>
          <p:cNvSpPr txBox="1"/>
          <p:nvPr/>
        </p:nvSpPr>
        <p:spPr>
          <a:xfrm>
            <a:off x="839787" y="1376363"/>
            <a:ext cx="10420091" cy="758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"</a:t>
            </a:r>
            <a:r>
              <a:rPr lang="ko-KR" altLang="en-US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선생님의 의견이 정답이 됩니다</a:t>
            </a:r>
            <a:r>
              <a:rPr lang="en-US" altLang="ko-KR" sz="3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.“</a:t>
            </a:r>
          </a:p>
        </p:txBody>
      </p:sp>
    </p:spTree>
    <p:extLst>
      <p:ext uri="{BB962C8B-B14F-4D97-AF65-F5344CB8AC3E}">
        <p14:creationId xmlns:p14="http://schemas.microsoft.com/office/powerpoint/2010/main" val="8963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896</TotalTime>
  <Words>745</Words>
  <Application>Microsoft Office PowerPoint</Application>
  <PresentationFormat>와이드스크린</PresentationFormat>
  <Paragraphs>67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KoPub돋움체 Bold</vt:lpstr>
      <vt:lpstr>KoPub돋움체 Light</vt:lpstr>
      <vt:lpstr>맑은 고딕</vt:lpstr>
      <vt:lpstr>Arial</vt:lpstr>
      <vt:lpstr>Wingdings</vt:lpstr>
      <vt:lpstr>1_Office 테마</vt:lpstr>
      <vt:lpstr>[2026 QI] WeValue 우리가치</vt:lpstr>
      <vt:lpstr>목차</vt:lpstr>
      <vt:lpstr>1. 우리가 오늘 모인 이유</vt:lpstr>
      <vt:lpstr>2. 우리가 마주한  현장의 모습</vt:lpstr>
      <vt:lpstr>3. [시스템] 표준화된 보고 체계</vt:lpstr>
      <vt:lpstr>4. [환경] 공식 소통 채널 구축</vt:lpstr>
      <vt:lpstr>5. [문화] 파트너십과 상호 존중</vt:lpstr>
      <vt:lpstr>6. [Listening] 선생님의 목소리를 듣습니다</vt:lpstr>
      <vt:lpstr>7. [Bridge] 함께 만드는 새로운 표준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성민 임</cp:lastModifiedBy>
  <cp:revision>881</cp:revision>
  <dcterms:created xsi:type="dcterms:W3CDTF">2026-03-04T12:11:45Z</dcterms:created>
  <dcterms:modified xsi:type="dcterms:W3CDTF">2026-03-22T11:31:37Z</dcterms:modified>
</cp:coreProperties>
</file>