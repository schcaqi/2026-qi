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"/>
  </p:notesMasterIdLst>
  <p:sldIdLst>
    <p:sldId id="256" r:id="rId2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3120" userDrawn="1">
          <p15:clr>
            <a:srgbClr val="A4A3A4"/>
          </p15:clr>
        </p15:guide>
        <p15:guide id="6" orient="horz" pos="1102" userDrawn="1">
          <p15:clr>
            <a:srgbClr val="A4A3A4"/>
          </p15:clr>
        </p15:guide>
        <p15:guide id="7" orient="horz" pos="5728" userDrawn="1">
          <p15:clr>
            <a:srgbClr val="A4A3A4"/>
          </p15:clr>
        </p15:guide>
        <p15:guide id="8" pos="2160" userDrawn="1">
          <p15:clr>
            <a:srgbClr val="A4A3A4"/>
          </p15:clr>
        </p15:guide>
        <p15:guide id="9" pos="278" userDrawn="1">
          <p15:clr>
            <a:srgbClr val="A4A3A4"/>
          </p15:clr>
        </p15:guide>
        <p15:guide id="10" pos="40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99"/>
    <a:srgbClr val="009BD6"/>
    <a:srgbClr val="1E5691"/>
    <a:srgbClr val="DDF6FF"/>
    <a:srgbClr val="F58400"/>
    <a:srgbClr val="FF3300"/>
    <a:srgbClr val="FFFFFF"/>
    <a:srgbClr val="0084B8"/>
    <a:srgbClr val="004F71"/>
    <a:srgbClr val="84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9" autoAdjust="0"/>
    <p:restoredTop sz="97430" autoAdjust="0"/>
  </p:normalViewPr>
  <p:slideViewPr>
    <p:cSldViewPr snapToGrid="0">
      <p:cViewPr varScale="1">
        <p:scale>
          <a:sx n="107" d="100"/>
          <a:sy n="107" d="100"/>
        </p:scale>
        <p:origin x="4578" y="180"/>
      </p:cViewPr>
      <p:guideLst>
        <p:guide orient="horz" pos="3120"/>
        <p:guide orient="horz" pos="1102"/>
        <p:guide orient="horz" pos="5728"/>
        <p:guide pos="2160"/>
        <p:guide pos="278"/>
        <p:guide pos="404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9F65E-AEE7-45C5-814B-4468CAF1E537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3013"/>
            <a:ext cx="23241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3"/>
            <a:ext cx="5486400" cy="3916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67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3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6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96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71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63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09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07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48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59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391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2" y="0"/>
            <a:ext cx="6872289" cy="990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96254" y="96263"/>
            <a:ext cx="6676021" cy="9709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5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8941" y="160866"/>
            <a:ext cx="686815" cy="41605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5419635" y="9394208"/>
            <a:ext cx="1256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69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3538224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2" y="0"/>
            <a:ext cx="6872289" cy="990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96254" y="96263"/>
            <a:ext cx="6676021" cy="9709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5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8941" y="160866"/>
            <a:ext cx="686815" cy="41605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5419572" y="9282525"/>
            <a:ext cx="1256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69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369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369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2" y="0"/>
            <a:ext cx="6872289" cy="990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96254" y="96263"/>
            <a:ext cx="6676021" cy="9709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5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5606" y="160866"/>
            <a:ext cx="686815" cy="41605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5073151" y="9394208"/>
            <a:ext cx="1602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69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369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369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  <p15:guide id="3" orient="horz" pos="37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612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790" r:id="rId13"/>
    <p:sldLayoutId id="2147483789" r:id="rId14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E6747C-E10F-ED9B-FF3C-2442B0FCBA61}"/>
              </a:ext>
            </a:extLst>
          </p:cNvPr>
          <p:cNvSpPr txBox="1"/>
          <p:nvPr/>
        </p:nvSpPr>
        <p:spPr>
          <a:xfrm>
            <a:off x="360211" y="203130"/>
            <a:ext cx="5575944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76" spc="-147" dirty="0">
                <a:solidFill>
                  <a:srgbClr val="16385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076" spc="-147" dirty="0">
                <a:solidFill>
                  <a:srgbClr val="16385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076" spc="-147" dirty="0">
                <a:solidFill>
                  <a:srgbClr val="16385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D060E-6FB0-C0D4-3CB3-FD3651F4B656}"/>
              </a:ext>
            </a:extLst>
          </p:cNvPr>
          <p:cNvSpPr txBox="1"/>
          <p:nvPr/>
        </p:nvSpPr>
        <p:spPr>
          <a:xfrm>
            <a:off x="1506076" y="791292"/>
            <a:ext cx="36952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16385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요청 및 전달원칙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8F4B4-611C-A7A0-C2EC-33FBDCABE54F}"/>
              </a:ext>
            </a:extLst>
          </p:cNvPr>
          <p:cNvSpPr txBox="1"/>
          <p:nvPr/>
        </p:nvSpPr>
        <p:spPr>
          <a:xfrm>
            <a:off x="1623056" y="1365295"/>
            <a:ext cx="3611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긴급도 기준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보고 순서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 SBAR -</a:t>
            </a:r>
            <a:endParaRPr lang="ko-KR" altLang="en-US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ED93B9C-E493-E382-AAB3-E9253C48A33D}"/>
              </a:ext>
            </a:extLst>
          </p:cNvPr>
          <p:cNvGrpSpPr/>
          <p:nvPr/>
        </p:nvGrpSpPr>
        <p:grpSpPr>
          <a:xfrm>
            <a:off x="441323" y="1835290"/>
            <a:ext cx="6026397" cy="1275462"/>
            <a:chOff x="441323" y="1835290"/>
            <a:chExt cx="6026397" cy="1275462"/>
          </a:xfrm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4A7FA87F-3B67-C0C1-0F2D-E2C4460313DD}"/>
                </a:ext>
              </a:extLst>
            </p:cNvPr>
            <p:cNvSpPr/>
            <p:nvPr/>
          </p:nvSpPr>
          <p:spPr>
            <a:xfrm rot="10800000">
              <a:off x="441324" y="2166749"/>
              <a:ext cx="1907427" cy="944003"/>
            </a:xfrm>
            <a:prstGeom prst="round2SameRect">
              <a:avLst>
                <a:gd name="adj1" fmla="val 11080"/>
                <a:gd name="adj2" fmla="val 0"/>
              </a:avLst>
            </a:prstGeom>
            <a:solidFill>
              <a:srgbClr val="FAFAFA"/>
            </a:solidFill>
            <a:ln w="127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id="{F316A72B-EE01-591F-C315-C6AA6828F376}"/>
                </a:ext>
              </a:extLst>
            </p:cNvPr>
            <p:cNvSpPr/>
            <p:nvPr/>
          </p:nvSpPr>
          <p:spPr>
            <a:xfrm rot="10800000">
              <a:off x="4509249" y="2166749"/>
              <a:ext cx="1907427" cy="944003"/>
            </a:xfrm>
            <a:prstGeom prst="round2SameRect">
              <a:avLst>
                <a:gd name="adj1" fmla="val 11080"/>
                <a:gd name="adj2" fmla="val 0"/>
              </a:avLst>
            </a:prstGeom>
            <a:solidFill>
              <a:srgbClr val="FAFAFA"/>
            </a:solidFill>
            <a:ln w="127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E61A6FD5-9335-E783-3456-07DD486F952E}"/>
                </a:ext>
              </a:extLst>
            </p:cNvPr>
            <p:cNvSpPr/>
            <p:nvPr/>
          </p:nvSpPr>
          <p:spPr>
            <a:xfrm rot="10800000">
              <a:off x="2474840" y="2166749"/>
              <a:ext cx="1907427" cy="944003"/>
            </a:xfrm>
            <a:prstGeom prst="round2SameRect">
              <a:avLst>
                <a:gd name="adj1" fmla="val 11080"/>
                <a:gd name="adj2" fmla="val 0"/>
              </a:avLst>
            </a:prstGeom>
            <a:solidFill>
              <a:srgbClr val="FAFAFA"/>
            </a:solidFill>
            <a:ln w="127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C6F3D7-7E47-7CCE-16B5-D8B377E75FF1}"/>
                </a:ext>
              </a:extLst>
            </p:cNvPr>
            <p:cNvSpPr txBox="1"/>
            <p:nvPr/>
          </p:nvSpPr>
          <p:spPr>
            <a:xfrm>
              <a:off x="441323" y="2474096"/>
              <a:ext cx="17347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환자 안전 위험</a:t>
              </a:r>
              <a:r>
                <a:rPr lang="en-US" altLang="ko-KR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/</a:t>
              </a:r>
              <a:r>
                <a:rPr lang="ko-KR" altLang="en-US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상태 급변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5241CD-43A9-0B9A-15D1-529F0C589E3C}"/>
                </a:ext>
              </a:extLst>
            </p:cNvPr>
            <p:cNvSpPr txBox="1"/>
            <p:nvPr/>
          </p:nvSpPr>
          <p:spPr>
            <a:xfrm>
              <a:off x="2561615" y="2474096"/>
              <a:ext cx="17347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악화 가능</a:t>
              </a:r>
              <a:r>
                <a:rPr lang="en-US" altLang="ko-KR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/</a:t>
              </a:r>
              <a:r>
                <a:rPr lang="ko-KR" altLang="en-US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치료 지연 우려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644460-0292-2843-8470-1EA1CBF4B71A}"/>
                </a:ext>
              </a:extLst>
            </p:cNvPr>
            <p:cNvSpPr txBox="1"/>
            <p:nvPr/>
          </p:nvSpPr>
          <p:spPr>
            <a:xfrm>
              <a:off x="4529369" y="2474096"/>
              <a:ext cx="19383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계획 </a:t>
              </a:r>
              <a:r>
                <a:rPr lang="en-US" altLang="ko-KR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· </a:t>
              </a:r>
              <a:r>
                <a:rPr lang="ko-KR" altLang="en-US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정리 업무 </a:t>
              </a:r>
              <a:r>
                <a:rPr lang="en-US" altLang="ko-KR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/ </a:t>
              </a:r>
              <a:r>
                <a:rPr lang="ko-KR" altLang="en-US" sz="12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위험 낮음</a:t>
              </a:r>
            </a:p>
          </p:txBody>
        </p:sp>
        <p:sp>
          <p:nvSpPr>
            <p:cNvPr id="5" name="사각형: 둥근 위쪽 모서리 4">
              <a:extLst>
                <a:ext uri="{FF2B5EF4-FFF2-40B4-BE49-F238E27FC236}">
                  <a16:creationId xmlns:a16="http://schemas.microsoft.com/office/drawing/2014/main" id="{9948A73D-F084-14B7-638E-DA693D98608B}"/>
                </a:ext>
              </a:extLst>
            </p:cNvPr>
            <p:cNvSpPr/>
            <p:nvPr/>
          </p:nvSpPr>
          <p:spPr>
            <a:xfrm>
              <a:off x="441326" y="1835290"/>
              <a:ext cx="1907427" cy="384350"/>
            </a:xfrm>
            <a:prstGeom prst="round2SameRect">
              <a:avLst>
                <a:gd name="adj1" fmla="val 37328"/>
                <a:gd name="adj2" fmla="val 0"/>
              </a:avLst>
            </a:prstGeom>
            <a:solidFill>
              <a:srgbClr val="F58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10</a:t>
              </a:r>
              <a:r>
                <a:rPr lang="ko-KR" altLang="en-US" sz="1400" b="1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분 이내</a:t>
              </a:r>
            </a:p>
          </p:txBody>
        </p:sp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2E50BCAA-8FF1-DF12-13EE-CB10DE19D07E}"/>
                </a:ext>
              </a:extLst>
            </p:cNvPr>
            <p:cNvSpPr/>
            <p:nvPr/>
          </p:nvSpPr>
          <p:spPr>
            <a:xfrm>
              <a:off x="2474842" y="1835290"/>
              <a:ext cx="1907427" cy="384350"/>
            </a:xfrm>
            <a:prstGeom prst="round2SameRect">
              <a:avLst>
                <a:gd name="adj1" fmla="val 37328"/>
                <a:gd name="adj2" fmla="val 0"/>
              </a:avLst>
            </a:prstGeom>
            <a:solidFill>
              <a:srgbClr val="008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4</a:t>
              </a:r>
              <a:r>
                <a:rPr lang="ko-KR" altLang="en-US" sz="1400" b="1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시간 이내</a:t>
              </a:r>
            </a:p>
          </p:txBody>
        </p:sp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id="{6EF2B288-3B0E-A797-9DFE-7FB523ACE526}"/>
                </a:ext>
              </a:extLst>
            </p:cNvPr>
            <p:cNvSpPr/>
            <p:nvPr/>
          </p:nvSpPr>
          <p:spPr>
            <a:xfrm>
              <a:off x="4509251" y="1835290"/>
              <a:ext cx="1907427" cy="384350"/>
            </a:xfrm>
            <a:prstGeom prst="round2SameRect">
              <a:avLst>
                <a:gd name="adj1" fmla="val 37328"/>
                <a:gd name="adj2" fmla="val 0"/>
              </a:avLst>
            </a:prstGeom>
            <a:solidFill>
              <a:srgbClr val="006E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24</a:t>
              </a:r>
              <a:r>
                <a:rPr lang="ko-KR" altLang="en-US" sz="1400" b="1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시간 이내</a:t>
              </a:r>
            </a:p>
          </p:txBody>
        </p:sp>
      </p:grp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C32C16F-7293-CF0D-1660-121F087E1FA0}"/>
              </a:ext>
            </a:extLst>
          </p:cNvPr>
          <p:cNvSpPr/>
          <p:nvPr/>
        </p:nvSpPr>
        <p:spPr>
          <a:xfrm>
            <a:off x="441325" y="7492521"/>
            <a:ext cx="5975350" cy="1896884"/>
          </a:xfrm>
          <a:prstGeom prst="roundRect">
            <a:avLst>
              <a:gd name="adj" fmla="val 11602"/>
            </a:avLst>
          </a:prstGeom>
          <a:solidFill>
            <a:srgbClr val="FAFAFA"/>
          </a:solidFill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68A3C-05D6-2A6C-E4FE-D7678703CFF5}"/>
              </a:ext>
            </a:extLst>
          </p:cNvPr>
          <p:cNvSpPr txBox="1"/>
          <p:nvPr/>
        </p:nvSpPr>
        <p:spPr>
          <a:xfrm>
            <a:off x="566985" y="8054588"/>
            <a:ext cx="2709396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009BD6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S(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상황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) :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지금 ○ ○ 문제로 연락 드립니다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009BD6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B(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배경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) :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환자 ○ ○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현재 치료는 ○ ○입니다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009BD6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A(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평가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) :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현재 ○ ○이며 악화 우려가 있습니다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009BD6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R(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요청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) :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○ ○확인 및 ○ ○지시 부탁드립니다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  <a:endParaRPr lang="ko-KR" altLang="en-US" sz="1200" spc="-15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056A81-68AE-589D-203A-C308DF6970A1}"/>
              </a:ext>
            </a:extLst>
          </p:cNvPr>
          <p:cNvSpPr txBox="1"/>
          <p:nvPr/>
        </p:nvSpPr>
        <p:spPr>
          <a:xfrm>
            <a:off x="566985" y="7800241"/>
            <a:ext cx="1399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① 템플릿</a:t>
            </a:r>
            <a:r>
              <a:rPr lang="en-US" altLang="ko-KR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 ( 4</a:t>
            </a:r>
            <a:r>
              <a:rPr lang="ko-KR" altLang="en-US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줄 </a:t>
            </a:r>
            <a:r>
              <a:rPr lang="en-US" altLang="ko-KR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)</a:t>
            </a:r>
            <a:endParaRPr lang="ko-KR" altLang="en-US" sz="140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35EE37-EAE4-89F1-0D9B-2DA6E55A64A4}"/>
              </a:ext>
            </a:extLst>
          </p:cNvPr>
          <p:cNvSpPr txBox="1"/>
          <p:nvPr/>
        </p:nvSpPr>
        <p:spPr>
          <a:xfrm>
            <a:off x="3286726" y="8054588"/>
            <a:ext cx="2945037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F58400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S : SpO, 88%,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호흡곤란으로 연락 드립니다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F58400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B :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폐렴 치료 중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, O, 5L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적용 중입니다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F58400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A :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적용에도 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88%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지속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호흡 수 증가합니다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F58400"/>
              </a:buClr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R :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즉시 확인 및 산소조정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/ABG </a:t>
            </a:r>
            <a:r>
              <a:rPr lang="ko-KR" altLang="en-US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지시 부탁드립니다</a:t>
            </a:r>
            <a:r>
              <a:rPr lang="en-US" altLang="ko-KR" sz="1200" spc="-15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  <a:endParaRPr lang="ko-KR" altLang="en-US" sz="1200" spc="-15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5E5284-90FC-1722-65D8-22F9B36293D9}"/>
              </a:ext>
            </a:extLst>
          </p:cNvPr>
          <p:cNvSpPr txBox="1"/>
          <p:nvPr/>
        </p:nvSpPr>
        <p:spPr>
          <a:xfrm>
            <a:off x="3286727" y="7800241"/>
            <a:ext cx="2077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F584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② 즉시 예시</a:t>
            </a:r>
            <a:r>
              <a:rPr lang="en-US" altLang="ko-KR" sz="1400" b="1" dirty="0">
                <a:solidFill>
                  <a:srgbClr val="F584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 ( 10</a:t>
            </a:r>
            <a:r>
              <a:rPr lang="ko-KR" altLang="en-US" sz="1400" b="1" dirty="0">
                <a:solidFill>
                  <a:srgbClr val="F584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분 이내 </a:t>
            </a:r>
            <a:r>
              <a:rPr lang="en-US" altLang="ko-KR" sz="1400" b="1" dirty="0">
                <a:solidFill>
                  <a:srgbClr val="F584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)</a:t>
            </a:r>
            <a:endParaRPr lang="ko-KR" altLang="en-US" sz="1400" dirty="0">
              <a:solidFill>
                <a:srgbClr val="F584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45DDF3A-5509-0E36-EE29-53710229E21C}"/>
              </a:ext>
            </a:extLst>
          </p:cNvPr>
          <p:cNvGrpSpPr/>
          <p:nvPr/>
        </p:nvGrpSpPr>
        <p:grpSpPr>
          <a:xfrm>
            <a:off x="441323" y="3257197"/>
            <a:ext cx="5970827" cy="1343582"/>
            <a:chOff x="441323" y="3257197"/>
            <a:chExt cx="5970827" cy="1343582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6514E11F-72EE-0E96-1865-073E49FF19CA}"/>
                </a:ext>
              </a:extLst>
            </p:cNvPr>
            <p:cNvSpPr/>
            <p:nvPr/>
          </p:nvSpPr>
          <p:spPr>
            <a:xfrm>
              <a:off x="441323" y="3412901"/>
              <a:ext cx="5970827" cy="1187878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1BA99D7-A0ED-8304-7A0C-1580FC303AF9}"/>
                </a:ext>
              </a:extLst>
            </p:cNvPr>
            <p:cNvSpPr/>
            <p:nvPr/>
          </p:nvSpPr>
          <p:spPr>
            <a:xfrm>
              <a:off x="589938" y="3799927"/>
              <a:ext cx="1300200" cy="591554"/>
            </a:xfrm>
            <a:prstGeom prst="roundRect">
              <a:avLst>
                <a:gd name="adj" fmla="val 36261"/>
              </a:avLst>
            </a:prstGeom>
            <a:solidFill>
              <a:srgbClr val="EBF5FF"/>
            </a:solidFill>
            <a:ln>
              <a:solidFill>
                <a:srgbClr val="E1EB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요청 </a:t>
              </a:r>
              <a:r>
                <a:rPr lang="en-US" altLang="ko-KR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( SBAR )</a:t>
              </a:r>
              <a:endParaRPr lang="ko-KR" altLang="en-US" sz="1400" b="1" dirty="0">
                <a:solidFill>
                  <a:srgbClr val="0F4A89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28EEA61-E90F-6A14-8315-74099AA44427}"/>
                </a:ext>
              </a:extLst>
            </p:cNvPr>
            <p:cNvSpPr/>
            <p:nvPr/>
          </p:nvSpPr>
          <p:spPr>
            <a:xfrm>
              <a:off x="2558656" y="3799927"/>
              <a:ext cx="1324118" cy="591554"/>
            </a:xfrm>
            <a:prstGeom prst="roundRect">
              <a:avLst>
                <a:gd name="adj" fmla="val 31907"/>
              </a:avLst>
            </a:prstGeom>
            <a:solidFill>
              <a:srgbClr val="EBF5FF"/>
            </a:solidFill>
            <a:ln>
              <a:solidFill>
                <a:srgbClr val="E1EB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수신확인 </a:t>
              </a:r>
              <a:r>
                <a:rPr lang="en-US" altLang="ko-KR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( 1</a:t>
              </a:r>
              <a:r>
                <a:rPr lang="ko-KR" altLang="en-US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회 </a:t>
              </a:r>
              <a:r>
                <a:rPr lang="en-US" altLang="ko-KR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)</a:t>
              </a:r>
              <a:endParaRPr lang="ko-KR" altLang="en-US" sz="1400" b="1" dirty="0">
                <a:solidFill>
                  <a:srgbClr val="0F4A89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757391F-9C3A-E05A-4246-7D1F1001A62A}"/>
                </a:ext>
              </a:extLst>
            </p:cNvPr>
            <p:cNvSpPr/>
            <p:nvPr/>
          </p:nvSpPr>
          <p:spPr>
            <a:xfrm>
              <a:off x="4551293" y="3799927"/>
              <a:ext cx="1720718" cy="591554"/>
            </a:xfrm>
            <a:prstGeom prst="roundRect">
              <a:avLst>
                <a:gd name="adj" fmla="val 31907"/>
              </a:avLst>
            </a:prstGeom>
            <a:solidFill>
              <a:srgbClr val="EBF5FF"/>
            </a:solidFill>
            <a:ln>
              <a:solidFill>
                <a:srgbClr val="E1EB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처리자 완료공유 </a:t>
              </a:r>
              <a:r>
                <a:rPr lang="en-US" altLang="ko-KR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( 1</a:t>
              </a:r>
              <a:r>
                <a:rPr lang="ko-KR" altLang="en-US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회 </a:t>
              </a:r>
              <a:r>
                <a:rPr lang="en-US" altLang="ko-KR" sz="1400" b="1" dirty="0">
                  <a:solidFill>
                    <a:srgbClr val="0F4A89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)</a:t>
              </a:r>
              <a:endParaRPr lang="ko-KR" altLang="en-US" sz="1400" b="1" dirty="0">
                <a:solidFill>
                  <a:srgbClr val="0F4A89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18" name="화살표: 오른쪽 17">
              <a:extLst>
                <a:ext uri="{FF2B5EF4-FFF2-40B4-BE49-F238E27FC236}">
                  <a16:creationId xmlns:a16="http://schemas.microsoft.com/office/drawing/2014/main" id="{0B162DCB-6CA1-969E-61E3-A0D58B37D50F}"/>
                </a:ext>
              </a:extLst>
            </p:cNvPr>
            <p:cNvSpPr/>
            <p:nvPr/>
          </p:nvSpPr>
          <p:spPr>
            <a:xfrm>
              <a:off x="2054732" y="3961418"/>
              <a:ext cx="339330" cy="270097"/>
            </a:xfrm>
            <a:prstGeom prst="rightArrow">
              <a:avLst/>
            </a:prstGeom>
            <a:solidFill>
              <a:srgbClr val="006E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18BBF52D-6F8E-94BE-8025-8A2E2B3DDA8A}"/>
                </a:ext>
              </a:extLst>
            </p:cNvPr>
            <p:cNvSpPr/>
            <p:nvPr/>
          </p:nvSpPr>
          <p:spPr>
            <a:xfrm>
              <a:off x="4047368" y="3961418"/>
              <a:ext cx="339330" cy="270097"/>
            </a:xfrm>
            <a:prstGeom prst="rightArrow">
              <a:avLst/>
            </a:prstGeom>
            <a:solidFill>
              <a:srgbClr val="006E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B10FA76-79F9-2447-ED53-738AFCD7741A}"/>
                </a:ext>
              </a:extLst>
            </p:cNvPr>
            <p:cNvSpPr/>
            <p:nvPr/>
          </p:nvSpPr>
          <p:spPr>
            <a:xfrm>
              <a:off x="566985" y="3257197"/>
              <a:ext cx="5724030" cy="352800"/>
            </a:xfrm>
            <a:prstGeom prst="roundRect">
              <a:avLst>
                <a:gd name="adj" fmla="val 42220"/>
              </a:avLst>
            </a:prstGeom>
            <a:solidFill>
              <a:srgbClr val="006E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rPr>
                <a:t>처리 절차</a:t>
              </a:r>
            </a:p>
          </p:txBody>
        </p:sp>
      </p:grp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4A7CBCD-DFCC-0448-F258-87FE628A279D}"/>
              </a:ext>
            </a:extLst>
          </p:cNvPr>
          <p:cNvSpPr/>
          <p:nvPr/>
        </p:nvSpPr>
        <p:spPr>
          <a:xfrm>
            <a:off x="418615" y="4901138"/>
            <a:ext cx="5998060" cy="2229106"/>
          </a:xfrm>
          <a:prstGeom prst="roundRect">
            <a:avLst>
              <a:gd name="adj" fmla="val 6612"/>
            </a:avLst>
          </a:prstGeom>
          <a:solidFill>
            <a:srgbClr val="FAFAFA"/>
          </a:solidFill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7835F-0E12-B198-33BE-5320E6670FC7}"/>
              </a:ext>
            </a:extLst>
          </p:cNvPr>
          <p:cNvSpPr txBox="1"/>
          <p:nvPr/>
        </p:nvSpPr>
        <p:spPr>
          <a:xfrm>
            <a:off x="594544" y="5268830"/>
            <a:ext cx="3036409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보고체계</a:t>
            </a:r>
            <a:r>
              <a:rPr lang="en-US" altLang="ko-KR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과별</a:t>
            </a:r>
            <a:r>
              <a:rPr lang="en-US" altLang="ko-KR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) &amp; </a:t>
            </a:r>
            <a:r>
              <a:rPr lang="ko-KR" altLang="en-US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표준 </a:t>
            </a:r>
            <a:r>
              <a:rPr lang="en-US" altLang="ko-KR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SBAR </a:t>
            </a:r>
            <a:r>
              <a:rPr lang="ko-KR" altLang="en-US" sz="1400" b="1" dirty="0">
                <a:solidFill>
                  <a:srgbClr val="1E569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문장 확인</a:t>
            </a:r>
            <a:endParaRPr lang="en-US" altLang="ko-KR" sz="1400" b="1" dirty="0">
              <a:solidFill>
                <a:srgbClr val="1E569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  <a:p>
            <a:endParaRPr lang="en-US" altLang="ko-KR" sz="140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  <a:p>
            <a:pPr marL="177800" indent="-177800">
              <a:buFont typeface="+mj-lt"/>
              <a:buAutoNum type="arabicPeriod"/>
            </a:pP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QR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스캔 또는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NFC 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태그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  <a:p>
            <a:pPr marL="177800" indent="-177800">
              <a:buFont typeface="+mj-lt"/>
              <a:buAutoNum type="arabicPeriod"/>
            </a:pPr>
            <a:r>
              <a:rPr lang="ko-KR" altLang="en-US" sz="1200" dirty="0" err="1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진료과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 선택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  <a:p>
            <a:pPr marL="177800" indent="-177800">
              <a:buFont typeface="+mj-lt"/>
              <a:buAutoNum type="arabicPeriod"/>
            </a:pP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보고 순서 확인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  <a:p>
            <a:pPr marL="177800" indent="-177800">
              <a:buFont typeface="+mj-lt"/>
              <a:buAutoNum type="arabicPeriod"/>
            </a:pP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SBAR 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문장으로 전달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FA4F22F-E7B7-5E70-2B43-5372654E9177}"/>
              </a:ext>
            </a:extLst>
          </p:cNvPr>
          <p:cNvGrpSpPr/>
          <p:nvPr/>
        </p:nvGrpSpPr>
        <p:grpSpPr>
          <a:xfrm>
            <a:off x="5200743" y="5713294"/>
            <a:ext cx="738664" cy="738664"/>
            <a:chOff x="1479895" y="5818190"/>
            <a:chExt cx="738664" cy="73866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820CE30-B86E-2214-A05F-D7FAEC3E46F9}"/>
                </a:ext>
              </a:extLst>
            </p:cNvPr>
            <p:cNvSpPr/>
            <p:nvPr/>
          </p:nvSpPr>
          <p:spPr>
            <a:xfrm>
              <a:off x="1479895" y="5818190"/>
              <a:ext cx="738664" cy="738664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9D0AE60-CBF8-1877-92BD-CF0AEE8D1C9D}"/>
                </a:ext>
              </a:extLst>
            </p:cNvPr>
            <p:cNvGrpSpPr/>
            <p:nvPr/>
          </p:nvGrpSpPr>
          <p:grpSpPr>
            <a:xfrm>
              <a:off x="1547502" y="5935043"/>
              <a:ext cx="652788" cy="621811"/>
              <a:chOff x="1572170" y="5995926"/>
              <a:chExt cx="652788" cy="621811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3B9ACBDF-6A43-51AD-145C-E215423DCA19}"/>
                  </a:ext>
                </a:extLst>
              </p:cNvPr>
              <p:cNvGrpSpPr/>
              <p:nvPr/>
            </p:nvGrpSpPr>
            <p:grpSpPr>
              <a:xfrm>
                <a:off x="1645941" y="5995926"/>
                <a:ext cx="455910" cy="376262"/>
                <a:chOff x="1395037" y="5812217"/>
                <a:chExt cx="1041402" cy="832316"/>
              </a:xfrm>
            </p:grpSpPr>
            <p:pic>
              <p:nvPicPr>
                <p:cNvPr id="28" name="그림 27">
                  <a:extLst>
                    <a:ext uri="{FF2B5EF4-FFF2-40B4-BE49-F238E27FC236}">
                      <a16:creationId xmlns:a16="http://schemas.microsoft.com/office/drawing/2014/main" id="{D1C3C7B0-ADF3-2313-D99F-8D3A6F2D19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harpenSoften amount="50000"/>
                          </a14:imgEffect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95037" y="5812217"/>
                  <a:ext cx="1041402" cy="832316"/>
                </a:xfrm>
                <a:prstGeom prst="rect">
                  <a:avLst/>
                </a:prstGeom>
              </p:spPr>
            </p:pic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EF874AE5-BF6B-6572-DE19-1925789EE248}"/>
                    </a:ext>
                  </a:extLst>
                </p:cNvPr>
                <p:cNvSpPr/>
                <p:nvPr/>
              </p:nvSpPr>
              <p:spPr>
                <a:xfrm>
                  <a:off x="1782388" y="6377833"/>
                  <a:ext cx="266700" cy="266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FCB238D-48A4-F6D4-4D1E-82B8E9F801FB}"/>
                  </a:ext>
                </a:extLst>
              </p:cNvPr>
              <p:cNvSpPr txBox="1"/>
              <p:nvPr/>
            </p:nvSpPr>
            <p:spPr>
              <a:xfrm>
                <a:off x="1572170" y="6248405"/>
                <a:ext cx="6527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009BD6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KoPubWorld돋움체 Light" panose="00000300000000000000" pitchFamily="2" charset="-127"/>
                  </a:rPr>
                  <a:t>NFC</a:t>
                </a:r>
                <a:endParaRPr lang="ko-KR" altLang="en-US" b="1" dirty="0">
                  <a:solidFill>
                    <a:srgbClr val="009BD6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ADA65E5-EFFD-DC14-13F0-17AEBA4C5AA7}"/>
              </a:ext>
            </a:extLst>
          </p:cNvPr>
          <p:cNvSpPr txBox="1"/>
          <p:nvPr/>
        </p:nvSpPr>
        <p:spPr>
          <a:xfrm>
            <a:off x="4806754" y="6504601"/>
            <a:ext cx="1643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9BD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휴대폰을 여기에 태그하세요</a:t>
            </a:r>
            <a:r>
              <a:rPr lang="en-US" altLang="ko-KR" sz="1000" b="1" dirty="0">
                <a:solidFill>
                  <a:srgbClr val="009BD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  <a:endParaRPr lang="ko-KR" altLang="en-US" sz="1000" b="1" dirty="0">
              <a:solidFill>
                <a:srgbClr val="009BD6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2FF9EF-389F-40BD-569B-5A1341EF4258}"/>
              </a:ext>
            </a:extLst>
          </p:cNvPr>
          <p:cNvSpPr txBox="1"/>
          <p:nvPr/>
        </p:nvSpPr>
        <p:spPr>
          <a:xfrm>
            <a:off x="1933673" y="6807190"/>
            <a:ext cx="2996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※ NFC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가 작동하지 않으면 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QR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로 참여하세요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.</a:t>
            </a:r>
            <a:endParaRPr lang="ko-KR" altLang="en-US" sz="1200" b="1" dirty="0"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Light" panose="000003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45AB19-8B6F-431E-B0D8-0A3BF0A9A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961" y="5693839"/>
            <a:ext cx="773420" cy="773420"/>
          </a:xfrm>
          <a:prstGeom prst="rect">
            <a:avLst/>
          </a:prstGeom>
        </p:spPr>
      </p:pic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27FB136-6DC5-532D-304A-80E44942A3FA}"/>
              </a:ext>
            </a:extLst>
          </p:cNvPr>
          <p:cNvSpPr/>
          <p:nvPr/>
        </p:nvSpPr>
        <p:spPr>
          <a:xfrm>
            <a:off x="566985" y="4712612"/>
            <a:ext cx="5724030" cy="352800"/>
          </a:xfrm>
          <a:prstGeom prst="roundRect">
            <a:avLst>
              <a:gd name="adj" fmla="val 42220"/>
            </a:avLst>
          </a:prstGeom>
          <a:solidFill>
            <a:srgbClr val="006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spc="3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매뉴얼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30CA1D-29E9-272A-E39F-2DB737F43A1B}"/>
              </a:ext>
            </a:extLst>
          </p:cNvPr>
          <p:cNvSpPr/>
          <p:nvPr/>
        </p:nvSpPr>
        <p:spPr>
          <a:xfrm>
            <a:off x="564721" y="7297606"/>
            <a:ext cx="5724030" cy="352800"/>
          </a:xfrm>
          <a:prstGeom prst="roundRect">
            <a:avLst>
              <a:gd name="adj" fmla="val 42220"/>
            </a:avLst>
          </a:prstGeom>
          <a:solidFill>
            <a:srgbClr val="006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표준 보고 문장 </a:t>
            </a:r>
            <a:r>
              <a:rPr lang="en-US" altLang="ko-KR" sz="1400" b="1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Light" panose="00000300000000000000" pitchFamily="2" charset="-127"/>
              </a:rPr>
              <a:t>( SBAR )</a:t>
            </a:r>
          </a:p>
        </p:txBody>
      </p:sp>
    </p:spTree>
    <p:extLst>
      <p:ext uri="{BB962C8B-B14F-4D97-AF65-F5344CB8AC3E}">
        <p14:creationId xmlns:p14="http://schemas.microsoft.com/office/powerpoint/2010/main" val="70200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2425</TotalTime>
  <Words>217</Words>
  <Application>Microsoft Office PowerPoint</Application>
  <PresentationFormat>A4 용지(210x297mm)</PresentationFormat>
  <Paragraphs>34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KoPub돋움체 Bold</vt:lpstr>
      <vt:lpstr>KoPub돋움체 Light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라희 임</dc:creator>
  <cp:lastModifiedBy>성민 임</cp:lastModifiedBy>
  <cp:revision>2060</cp:revision>
  <cp:lastPrinted>2026-01-24T08:03:18Z</cp:lastPrinted>
  <dcterms:created xsi:type="dcterms:W3CDTF">2025-05-04T13:56:03Z</dcterms:created>
  <dcterms:modified xsi:type="dcterms:W3CDTF">2026-01-24T08:08:14Z</dcterms:modified>
</cp:coreProperties>
</file>